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31d60896c04929" /><Relationship Type="http://schemas.openxmlformats.org/officeDocument/2006/relationships/extended-properties" Target="/docProps/app.xml" Id="Rab783f747c5e4508" /><Relationship Type="http://schemas.openxmlformats.org/officeDocument/2006/relationships/officeDocument" Target="/ppt/presentation.xml" Id="R6d5196c0298043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480683e504c78"/>
  </p:sldMasterIdLst>
  <p:notesMasterIdLst>
    <p:notesMasterId xmlns:r="http://schemas.openxmlformats.org/officeDocument/2006/relationships" r:id="R404c0167fbd54052"/>
  </p:notesMasterIdLst>
  <p:sldIdLst>
    <p:sldId xmlns:r="http://schemas.openxmlformats.org/officeDocument/2006/relationships" id="256" r:id="R140fde49dce14940"/>
    <p:sldId xmlns:r="http://schemas.openxmlformats.org/officeDocument/2006/relationships" id="257" r:id="Ra15e4462ff834269"/>
    <p:sldId xmlns:r="http://schemas.openxmlformats.org/officeDocument/2006/relationships" id="258" r:id="Ra04662811fa74115"/>
    <p:sldId xmlns:r="http://schemas.openxmlformats.org/officeDocument/2006/relationships" id="259" r:id="Re153069e723d4cc6"/>
    <p:sldId xmlns:r="http://schemas.openxmlformats.org/officeDocument/2006/relationships" id="260" r:id="Ra27adffc52664253"/>
    <p:sldId xmlns:r="http://schemas.openxmlformats.org/officeDocument/2006/relationships" id="261" r:id="R00ed3df306dd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f67739515e45b8" /><Relationship Type="http://schemas.openxmlformats.org/officeDocument/2006/relationships/slideMaster" Target="/ppt/slideMasters/slideMaster1.xml" Id="Ra7d480683e504c78" /><Relationship Type="http://schemas.openxmlformats.org/officeDocument/2006/relationships/notesMaster" Target="/ppt/notesMasters/notesMaster1.xml" Id="R404c0167fbd54052" /><Relationship Type="http://schemas.openxmlformats.org/officeDocument/2006/relationships/presProps" Target="/ppt/presProps.xml" Id="Rfbf08e971d9f40a6" /><Relationship Type="http://schemas.openxmlformats.org/officeDocument/2006/relationships/tableStyles" Target="/ppt/tableStyles.xml" Id="Re6bd0f69ef7a4b8b" /><Relationship Type="http://schemas.openxmlformats.org/officeDocument/2006/relationships/slide" Target="/ppt/slides/slide1.xml" Id="R140fde49dce14940" /><Relationship Type="http://schemas.openxmlformats.org/officeDocument/2006/relationships/slide" Target="/ppt/slides/slide2.xml" Id="Ra15e4462ff834269" /><Relationship Type="http://schemas.openxmlformats.org/officeDocument/2006/relationships/slide" Target="/ppt/slides/slide3.xml" Id="Ra04662811fa74115" /><Relationship Type="http://schemas.openxmlformats.org/officeDocument/2006/relationships/slide" Target="/ppt/slides/slide4.xml" Id="Re153069e723d4cc6" /><Relationship Type="http://schemas.openxmlformats.org/officeDocument/2006/relationships/slide" Target="/ppt/slides/slide5.xml" Id="Ra27adffc52664253" /><Relationship Type="http://schemas.openxmlformats.org/officeDocument/2006/relationships/slide" Target="/ppt/slides/slide6.xml" Id="R00ed3df306dd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a9e234acf49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0348183924a55" /><Relationship Type="http://schemas.openxmlformats.org/officeDocument/2006/relationships/notesMaster" Target="/ppt/notesMasters/notesMaster1.xml" Id="Ra4bd85a6e555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d52a7686b461d" /><Relationship Type="http://schemas.openxmlformats.org/officeDocument/2006/relationships/notesMaster" Target="/ppt/notesMasters/notesMaster1.xml" Id="Re7fe1bea43174d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d138c9bd2b4d9a" /><Relationship Type="http://schemas.openxmlformats.org/officeDocument/2006/relationships/notesMaster" Target="/ppt/notesMasters/notesMaster1.xml" Id="Rd8be5b67c4a64c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a157a4f8ab449e" /><Relationship Type="http://schemas.openxmlformats.org/officeDocument/2006/relationships/notesMaster" Target="/ppt/notesMasters/notesMaster1.xml" Id="R897d9bc2771d42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ec9477e0144819" /><Relationship Type="http://schemas.openxmlformats.org/officeDocument/2006/relationships/notesMaster" Target="/ppt/notesMasters/notesMaster1.xml" Id="R56f3f89e89c041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56c7f42936486b" /><Relationship Type="http://schemas.openxmlformats.org/officeDocument/2006/relationships/notesMaster" Target="/ppt/notesMasters/notesMaster1.xml" Id="R68af27ef65a543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a437bf372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7de9670ea477c" /><Relationship Type="http://schemas.openxmlformats.org/officeDocument/2006/relationships/slideLayout" Target="/ppt/slideLayouts/slideLayout1.xml" Id="Rd9ee26e1533543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e26e1533543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6b0d38c9c4547" /><Relationship Type="http://schemas.openxmlformats.org/officeDocument/2006/relationships/notesSlide" Target="/ppt/notesSlides/notesSlide1.xml" Id="Rba45abb449d54f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4644b34d448a" /><Relationship Type="http://schemas.openxmlformats.org/officeDocument/2006/relationships/notesSlide" Target="/ppt/notesSlides/notesSlide2.xml" Id="Reb576e2e83be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4b17a0d404381" /><Relationship Type="http://schemas.openxmlformats.org/officeDocument/2006/relationships/image" Target="/ppt/media/image.png" Id="Rabe01bb15d0f40e6" /><Relationship Type="http://schemas.openxmlformats.org/officeDocument/2006/relationships/notesSlide" Target="/ppt/notesSlides/notesSlide3.xml" Id="Rd793f3c6209c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aaaf99d84bcd" /><Relationship Type="http://schemas.openxmlformats.org/officeDocument/2006/relationships/image" Target="/ppt/media/image2.png" Id="Rf3141d80dce546a4" /><Relationship Type="http://schemas.openxmlformats.org/officeDocument/2006/relationships/notesSlide" Target="/ppt/notesSlides/notesSlide4.xml" Id="Rf9cb798d33de4b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11ebb8b1148a8" /><Relationship Type="http://schemas.openxmlformats.org/officeDocument/2006/relationships/image" Target="/ppt/media/image3.png" Id="Ra09faa83a1b149d9" /><Relationship Type="http://schemas.openxmlformats.org/officeDocument/2006/relationships/notesSlide" Target="/ppt/notesSlides/notesSlide5.xml" Id="Rb82e06f9ece4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5a384b3764bcf" /><Relationship Type="http://schemas.openxmlformats.org/officeDocument/2006/relationships/notesSlide" Target="/ppt/notesSlides/notesSlide6.xml" Id="Rb414cbb188fa44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3AD11-45B0-435C-9810-B55CD192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DQN / DQfD 对照结果整理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AF731-B524-4B61-880C-249E5C85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SYA lowIC 自由时序框架；只整理已有结果，不重新训练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00753-1CBF-4CB7-98B3-FCC30E96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纳入：普通 DQN 040_01、严格 MaskableDQN 040_02、Demo-DQN/DQfD 044_00–044_02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00069-C968-4FCB-8D59-8376560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结论：当前 DQN 系列没有形成可作为主线正向结果的稳定策略，适合作为 PPO 主线的对照证据。</a:t>
            </a:r>
          </a:p>
        </p:txBody>
      </p:sp>
    </p:spTree>
    <p:extLst>
      <p:ext uri="{BB962C8B-B14F-4D97-AF65-F5344CB8AC3E}">
        <p14:creationId xmlns:p14="http://schemas.microsoft.com/office/powerpoint/2010/main" val="1656726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109ED-E978-4958-B998-3E530F6E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最佳 checkpoint 汇总（按验证年平均产量）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428625" y="1047750"/>
          <a:ext xmlns:a="http://schemas.openxmlformats.org/drawingml/2006/main" cx="11334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16844"/>
                <a:gridCol w="1416844"/>
                <a:gridCol w="1416844"/>
                <a:gridCol w="1416844"/>
                <a:gridCol w="1416844"/>
                <a:gridCol w="1416844"/>
                <a:gridCol w="1416844"/>
                <a:gridCol w="1416844"/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checkpoint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平均产量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灌溉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施氮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PFP_N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水胁迫天数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氮胁迫天数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普通DQN_040_01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75000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7722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150.0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240.0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32.2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11.0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0.0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严格MaskableDQN_040_02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25000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6427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90.0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240.0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26.8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17.8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0.0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DemoDQN_DQfD_044_00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1515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NA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0DD01-44CC-4A97-9DEA-FAB62792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解读：普通 DQN 的平均产量最高但仍偏低；严格 MaskableDQN 训练加深后退化；Demo-DQN/DQfD 在 smoke 中退化到 no-op。</a:t>
            </a:r>
          </a:p>
        </p:txBody>
      </p:sp>
    </p:spTree>
    <p:extLst>
      <p:ext uri="{BB962C8B-B14F-4D97-AF65-F5344CB8AC3E}">
        <p14:creationId xmlns:p14="http://schemas.microsoft.com/office/powerpoint/2010/main" val="1584804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4179B-8C01-4F7B-843C-FA510F9A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训练 checkpoint 指标变化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01bb15d0f40e6"/>
          <a:stretch xmlns:a="http://schemas.openxmlformats.org/drawingml/2006/main"/>
        </p:blipFill>
        <p:spPr>
          <a:xfrm xmlns:a="http://schemas.openxmlformats.org/drawingml/2006/main">
            <a:off x="1881188" y="857250"/>
            <a:ext cx="8429625" cy="561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60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48C63-DB66-4F8F-A903-431527B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最佳 checkpoint 的逐年产量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41d80dce546a4"/>
          <a:stretch xmlns:a="http://schemas.openxmlformats.org/drawingml/2006/main"/>
        </p:blipFill>
        <p:spPr>
          <a:xfrm xmlns:a="http://schemas.openxmlformats.org/drawingml/2006/main">
            <a:off x="381000" y="1469048"/>
            <a:ext cx="11430000" cy="43961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4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28939-4953-4E21-ADB6-97E09293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Demo-DQN / DQfD 没有把非零 teacher 动作学成高 Q 值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faa83a1b149d9"/>
          <a:stretch xmlns:a="http://schemas.openxmlformats.org/drawingml/2006/main"/>
        </p:blipFill>
        <p:spPr>
          <a:xfrm xmlns:a="http://schemas.openxmlformats.org/drawingml/2006/main">
            <a:off x="381000" y="904875"/>
            <a:ext cx="11430000" cy="4286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/>
          <p:cNvGraphicFramePr/>
          <p:nvPr/>
        </p:nvGraphicFramePr>
        <p:xfrm>
          <a:off xmlns:a="http://schemas.openxmlformats.org/drawingml/2006/main" x="523875" y="5334000"/>
          <a:ext xmlns:a="http://schemas.openxmlformats.org/drawingml/2006/main" cx="11144250" cy="109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8850"/>
                <a:gridCol w="2228850"/>
                <a:gridCol w="2228850"/>
                <a:gridCol w="2228850"/>
                <a:gridCol w="2228850"/>
              </a:tblGrid>
              <a:tr h="156482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0000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0000"/>
                          </a:solidFill>
                        </a:rPr>
                        <a:t>step/epoch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0000"/>
                          </a:solidFill>
                        </a:rPr>
                        <a:t>非零样本数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0000"/>
                          </a:solidFill>
                        </a:rPr>
                        <a:t>非零teacher为argmax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0000"/>
                          </a:solidFill>
                        </a:rPr>
                        <a:t>Qteacher-Qnoop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56482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DemoDQN在线2K_044_01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1000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-0.012</a:t>
                      </a:r>
                    </a:p>
                  </a:txBody>
                  <a:tcPr marL="91440" marR="91440" marT="45720" marB="45720"/>
                </a:tc>
              </a:tr>
              <a:tr h="156482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DemoDQN在线2K_044_01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-0.042</a:t>
                      </a:r>
                    </a:p>
                  </a:txBody>
                  <a:tcPr marL="91440" marR="91440" marT="45720" marB="45720"/>
                </a:tc>
              </a:tr>
              <a:tr h="156482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DemoOnly预训练_044_02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0.567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0.001</a:t>
                      </a:r>
                    </a:p>
                  </a:txBody>
                  <a:tcPr marL="91440" marR="91440" marT="45720" marB="45720"/>
                </a:tc>
              </a:tr>
              <a:tr h="156482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DemoOnly预训练_044_02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-0.001</a:t>
                      </a:r>
                    </a:p>
                  </a:txBody>
                  <a:tcPr marL="91440" marR="91440" marT="45720" marB="45720"/>
                </a:tc>
              </a:tr>
              <a:tr h="156482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DemoOnly预训练_044_02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-0.012</a:t>
                      </a:r>
                    </a:p>
                  </a:txBody>
                  <a:tcPr marL="91440" marR="91440" marT="45720" marB="45720"/>
                </a:tc>
              </a:tr>
              <a:tr h="156482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DemoOnly预训练_044_02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000000"/>
                          </a:solidFill>
                        </a:rPr>
                        <a:t>-0.037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881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634F1-A605-4346-BECF-E76DAC0E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汇报口径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E02F3-EDE9-4A4A-BBB4-A6669BF3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1. 已按导师要求补充 DQN/DQfD 对照：普通 DQN、严格 MaskableDQN、Demo-DQN/DQfD。\n2. 三条 DQN 路线在当前 SYA lowIC 自由时序设置下均未优于当前 PPO 主线。\n3. Demo 经验确实进入了训练/诊断链，但非零 teacher 动作没有稳定成为 Q 值最高动作。\n4. 目前建议：DQN 作为对照和阴性证据保留；主线继续优化 PPO 的天气响应性、动作合理性和指标表现。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1F70E-C43C-4257-8174-49E287CA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注意：本 PPT 只整理已有 DQN 结果，不代表数学上证明 DQN 不可能成功。</a:t>
            </a:r>
          </a:p>
        </p:txBody>
      </p:sp>
    </p:spTree>
    <p:extLst>
      <p:ext uri="{BB962C8B-B14F-4D97-AF65-F5344CB8AC3E}">
        <p14:creationId xmlns:p14="http://schemas.microsoft.com/office/powerpoint/2010/main" val="1865204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2026-08-02T09:42:04.2530000Z</dcterms:created>
  <dcterms:modified xsi:type="dcterms:W3CDTF">2026-08-02T09:42:04.2530000Z</dcterms:modified>
</coreProperties>
</file>