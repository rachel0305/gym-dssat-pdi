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4E79"/>
                </a:solidFill>
              </a:defRPr>
            </a:pPr>
            <a:r>
              <a:t>?????? all 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3317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62626"/>
                </a:solidFill>
              </a:defRPr>
            </a:pPr>
            <a:r>
              <a:t>? reward ??????????????????????????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931920"/>
            <a:ext cx="539496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/>
          <a:lstStyle/>
          <a:p>
            <a:pPr algn="ctr">
              <a:defRPr b="1" sz="1300">
                <a:solidFill>
                  <a:srgbClr val="1F4E79"/>
                </a:solidFill>
              </a:defRPr>
            </a:pPr>
            <a:r>
              <a:t>????</a:t>
            </a:r>
          </a:p>
          <a:p>
            <a:pPr>
              <a:spcBef>
                <a:spcPts val="400"/>
              </a:spcBef>
              <a:defRPr sz="1100">
                <a:solidFill>
                  <a:srgbClr val="262626"/>
                </a:solidFill>
              </a:defRPr>
            </a:pPr>
            <a:r>
              <a:t>??? 2007 ????????????????????? 60% ?????????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931920"/>
            <a:ext cx="530352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/>
          <a:lstStyle/>
          <a:p>
            <a:pPr algn="ctr">
              <a:defRPr b="1" sz="1300">
                <a:solidFill>
                  <a:srgbClr val="1F4E79"/>
                </a:solidFill>
              </a:defRPr>
            </a:pPr>
            <a:r>
              <a:t>????</a:t>
            </a:r>
          </a:p>
          <a:p>
            <a:pPr>
              <a:spcBef>
                <a:spcPts val="400"/>
              </a:spcBef>
              <a:defRPr sz="1100">
                <a:solidFill>
                  <a:srgbClr val="262626"/>
                </a:solidFill>
              </a:defRPr>
            </a:pPr>
            <a:r>
              <a:t>?? reward ??????????????? + ????????????????????????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All-mode water-nitrogen RL experiment record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53035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62626"/>
                </a:solidFill>
              </a:defRPr>
            </a:pPr>
            <a:r>
              <a:t>?????????????????????/?????????????</a:t>
            </a:r>
          </a:p>
          <a:p>
            <a:pPr>
              <a:spcAft>
                <a:spcPts val="500"/>
              </a:spcAft>
              <a:defRPr sz="1600">
                <a:solidFill>
                  <a:srgbClr val="262626"/>
                </a:solidFill>
              </a:defRPr>
            </a:pPr>
            <a:r>
              <a:t>?????????????????????????????????????</a:t>
            </a:r>
          </a:p>
          <a:p>
            <a:pPr>
              <a:spcAft>
                <a:spcPts val="500"/>
              </a:spcAft>
              <a:defRPr sz="1600">
                <a:solidFill>
                  <a:srgbClr val="262626"/>
                </a:solidFill>
              </a:defRPr>
            </a:pPr>
            <a:r>
              <a:t>???????????????????????????? 0.6 ?????????</a:t>
            </a:r>
          </a:p>
          <a:p>
            <a:pPr>
              <a:spcAft>
                <a:spcPts val="500"/>
              </a:spcAft>
              <a:defRPr sz="1600">
                <a:solidFill>
                  <a:srgbClr val="262626"/>
                </a:solidFill>
              </a:defRPr>
            </a:pPr>
            <a:r>
              <a:t>???????reward ???? ? ??????? ? ????? wrapper?</a:t>
            </a:r>
          </a:p>
          <a:p>
            <a:pPr>
              <a:spcAft>
                <a:spcPts val="500"/>
              </a:spcAft>
              <a:defRPr sz="1600">
                <a:solidFill>
                  <a:srgbClr val="262626"/>
                </a:solidFill>
              </a:defRPr>
            </a:pPr>
            <a:r>
              <a:t>?????? Null / Expert / PPO ??????? yield?total_anfer?total_amir?swfac/nstres 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All-mode water-nitrogen RL experiment record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???????????????????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5760720" cy="53035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?? fertilization_reward ??????reward = trnu ? coef - penality ? anfer?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??????????? coef/penality????????????????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????????????????????????????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???????????????????????????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?? all mode ???????????????? PPO ??????????????/?????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234440"/>
            <a:ext cx="484632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/>
          <a:lstStyle/>
          <a:p>
            <a:pPr algn="ctr">
              <a:defRPr b="1" sz="1300">
                <a:solidFill>
                  <a:srgbClr val="1F4E79"/>
                </a:solidFill>
              </a:defRPr>
            </a:pPr>
            <a:r>
              <a:t>???? reward</a:t>
            </a:r>
          </a:p>
          <a:p>
            <a:pPr>
              <a:spcBef>
                <a:spcPts val="400"/>
              </a:spcBef>
              <a:defRPr sz="1100">
                <a:solidFill>
                  <a:srgbClr val="262626"/>
                </a:solidFill>
              </a:defRPr>
            </a:pPr>
            <a:r>
              <a:t>maize: coef=1.0, penality=0.5??????????????????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2514600"/>
            <a:ext cx="48463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/>
          <a:lstStyle/>
          <a:p>
            <a:pPr algn="ctr">
              <a:defRPr b="1" sz="1300">
                <a:solidFill>
                  <a:srgbClr val="1F4E79"/>
                </a:solidFill>
              </a:defRPr>
            </a:pPr>
            <a:r>
              <a:t>all ????</a:t>
            </a:r>
          </a:p>
          <a:p>
            <a:pPr>
              <a:spcBef>
                <a:spcPts val="400"/>
              </a:spcBef>
              <a:defRPr sz="1100">
                <a:solidFill>
                  <a:srgbClr val="262626"/>
                </a:solidFill>
              </a:defRPr>
            </a:pPr>
            <a:r>
              <a:t>??? + ?????/??? + ??? + ??????????????????????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3977639"/>
            <a:ext cx="484632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/>
          <a:lstStyle/>
          <a:p>
            <a:pPr algn="ctr">
              <a:defRPr b="1" sz="1300">
                <a:solidFill>
                  <a:srgbClr val="1F4E79"/>
                </a:solidFill>
              </a:defRPr>
            </a:pPr>
            <a:r>
              <a:t>????</a:t>
            </a:r>
          </a:p>
          <a:p>
            <a:pPr>
              <a:spcBef>
                <a:spcPts val="400"/>
              </a:spcBef>
              <a:defRPr sz="1100">
                <a:solidFill>
                  <a:srgbClr val="262626"/>
                </a:solidFill>
              </a:defRPr>
            </a:pPr>
            <a:r>
              <a:t>??????????PPO ???????????????????????????????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All-mode water-nitrogen RL experiment record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????????? PPO ?????????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8872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801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??</a:t>
                      </a:r>
                    </a:p>
                  </a:txBody>
                  <a:tcPr marL="36576" marR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??</a:t>
                      </a:r>
                    </a:p>
                  </a:txBody>
                  <a:tcPr marL="36576" marR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????</a:t>
                      </a:r>
                    </a:p>
                  </a:txBody>
                  <a:tcPr marL="36576" marR="36576">
                    <a:solidFill>
                      <a:srgbClr val="4472C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max_grnwt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??/?????? proxy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????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total_anfer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?????? kg/ha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????????????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total_amir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?????? mm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??????????????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swfac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???????gym ??? 1 - ??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?????0 ?????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nstres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??????gym ??? 1 - ??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?????0 ?????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reward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?? reward ???????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???????????????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77240" y="4663440"/>
            <a:ext cx="1069848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/>
          <a:lstStyle/>
          <a:p>
            <a:pPr algn="ctr">
              <a:defRPr b="1" sz="1300">
                <a:solidFill>
                  <a:srgbClr val="1F4E79"/>
                </a:solidFill>
              </a:defRPr>
            </a:pPr>
            <a:r>
              <a:t>??</a:t>
            </a:r>
          </a:p>
          <a:p>
            <a:pPr>
              <a:spcBef>
                <a:spcPts val="400"/>
              </a:spcBef>
              <a:defRPr sz="1100">
                <a:solidFill>
                  <a:srgbClr val="262626"/>
                </a:solidFill>
              </a:defRPr>
            </a:pPr>
            <a:r>
              <a:t>maize ? swfac/nstres ? gym ?????? 1 - ????????????????????????????????? note?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All-mode water-nitrogen RL experiment record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???????????? 0.6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6035040" cy="53035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?????????????????????????????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?????????????????? HL scale0.6??????? 60%?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??? PRCP = 207.3 mm?ETCP = 496.0 mm??????? -288.7 mm?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Null ?????????????????????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???????????????????????????????????????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720840" y="1417320"/>
          <a:ext cx="47548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480"/>
                <a:gridCol w="792480"/>
                <a:gridCol w="792480"/>
                <a:gridCol w="792480"/>
                <a:gridCol w="792480"/>
                <a:gridCol w="79248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 marL="36576" marR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Yield</a:t>
                      </a:r>
                    </a:p>
                  </a:txBody>
                  <a:tcPr marL="36576" marR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 kg/ha</a:t>
                      </a:r>
                    </a:p>
                  </a:txBody>
                  <a:tcPr marL="36576" marR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Irr. mm</a:t>
                      </a:r>
                    </a:p>
                  </a:txBody>
                  <a:tcPr marL="36576" marR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swfac days</a:t>
                      </a:r>
                    </a:p>
                  </a:txBody>
                  <a:tcPr marL="36576" marR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nstres days</a:t>
                      </a:r>
                    </a:p>
                  </a:txBody>
                  <a:tcPr marL="36576" marR="36576">
                    <a:solidFill>
                      <a:srgbClr val="4472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469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114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Expert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6276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165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720840" y="3154680"/>
            <a:ext cx="475488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/>
          <a:lstStyle/>
          <a:p>
            <a:pPr algn="ctr">
              <a:defRPr b="1" sz="1300">
                <a:solidFill>
                  <a:srgbClr val="1F4E79"/>
                </a:solidFill>
              </a:defRPr>
            </a:pPr>
            <a:r>
              <a:t>??</a:t>
            </a:r>
          </a:p>
          <a:p>
            <a:pPr>
              <a:spcBef>
                <a:spcPts val="400"/>
              </a:spcBef>
              <a:defRPr sz="1100">
                <a:solidFill>
                  <a:srgbClr val="262626"/>
                </a:solidFill>
              </a:defRPr>
            </a:pPr>
            <a:r>
              <a:t>Null ???????????? 469 kg/ha?Expert ??????????? 6276 kg/ha??????????? PPO ??????????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All-mode water-nitrogen RL experiment record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??????????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14300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??</a:t>
                      </a:r>
                    </a:p>
                  </a:txBody>
                  <a:tcPr marL="36576" marR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??</a:t>
                      </a:r>
                    </a:p>
                  </a:txBody>
                  <a:tcPr marL="36576" marR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??????</a:t>
                      </a:r>
                    </a:p>
                  </a:txBody>
                  <a:tcPr marL="36576" marR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??</a:t>
                      </a:r>
                    </a:p>
                  </a:txBody>
                  <a:tcPr marL="36576" marR="36576">
                    <a:solidFill>
                      <a:srgbClr val="4472C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?? reward ??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?? reward ??????? PPO ????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?????????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???????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? PPO ????????????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????????????????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?????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?????????? 0?? PPO ? timing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??????????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100k ??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????????????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????? 50k ??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4572000"/>
            <a:ext cx="1060704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/>
          <a:lstStyle/>
          <a:p>
            <a:pPr algn="ctr">
              <a:defRPr b="1" sz="1300">
                <a:solidFill>
                  <a:srgbClr val="1F4E79"/>
                </a:solidFill>
              </a:defRPr>
            </a:pPr>
            <a:r>
              <a:t>????</a:t>
            </a:r>
          </a:p>
          <a:p>
            <a:pPr>
              <a:spcBef>
                <a:spcPts val="400"/>
              </a:spcBef>
              <a:defRPr sz="1100">
                <a:solidFill>
                  <a:srgbClr val="262626"/>
                </a:solidFill>
              </a:defRPr>
            </a:pPr>
            <a:r>
              <a:t>PPO ????????????????????????????????????????reward 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All-mode water-nitrogen RL experiment record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?? 1???? reward 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53035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??????????? PPO ??????/?????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?????/???????????? limit ?? cost ???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?????????????? swfac ??????????????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????pen20_icost20_ns50_nlim220_nex15_ilim80_iex30?</a:t>
            </a:r>
          </a:p>
          <a:p>
            <a:pPr lvl="1">
              <a:spcAft>
                <a:spcPts val="500"/>
              </a:spcAft>
              <a:defRPr sz="1200">
                <a:solidFill>
                  <a:srgbClr val="262626"/>
                </a:solidFill>
              </a:defRPr>
            </a:pPr>
            <a:r>
              <a:t>pen20??????? 20?icost20??????? 20?ns50???????????? 50?</a:t>
            </a:r>
          </a:p>
          <a:p>
            <a:pPr lvl="1">
              <a:spcAft>
                <a:spcPts val="500"/>
              </a:spcAft>
              <a:defRPr sz="1200">
                <a:solidFill>
                  <a:srgbClr val="262626"/>
                </a:solidFill>
              </a:defRPr>
            </a:pPr>
            <a:r>
              <a:t>nlim220/nex15?????? 220 ?? 15 ???ilim80/iex30?????? 80 ?? 30 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All-mode water-nitrogen RL experiment record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?? 1 ???reward ???????????</a:t>
            </a:r>
          </a:p>
        </p:txBody>
      </p:sp>
      <p:pic>
        <p:nvPicPr>
          <p:cNvPr id="3" name="Picture 2" descr="penalty_sca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5760720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1143000"/>
            <a:ext cx="5212080" cy="53035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?? 50k ???????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PPO ???? 13,600 kg/ha????? 3,500 mm?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??? 4,866-4,868 kg/ha??? Expert ? 6,276 kg/ha?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???PPO ?????????????????????????????????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???????????????????? reward 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All-mode water-nitrogen RL experiment record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?? 2???????? Safe Action Wrapper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6400800" cy="53035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?? SafeActionGymDssatWrapper?????? DSSAT ???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??????????????????? clip?????? PPO ? [-1,1] ??? [0, safe_cap]?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?? PPO ?????????????????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?????safe20_5 ???????? 20 kg/ha??????? 5 mm?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?????safe60_20 ???????? 60 kg/ha????? 20 mm?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95160" y="1463040"/>
            <a:ext cx="4389120" cy="13716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/>
          <a:lstStyle/>
          <a:p>
            <a:pPr algn="ctr">
              <a:defRPr b="1" sz="1300">
                <a:solidFill>
                  <a:srgbClr val="1F4E79"/>
                </a:solidFill>
              </a:defRPr>
            </a:pPr>
            <a:r>
              <a:t>????????</a:t>
            </a:r>
          </a:p>
          <a:p>
            <a:pPr>
              <a:spcBef>
                <a:spcPts val="400"/>
              </a:spcBef>
              <a:defRPr sz="1100">
                <a:solidFill>
                  <a:srgbClr val="262626"/>
                </a:solidFill>
              </a:defRPr>
            </a:pPr>
            <a:r>
              <a:t>???? clip?PPO ????????????????????????????????????????????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3246120"/>
            <a:ext cx="438912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/>
          <a:lstStyle/>
          <a:p>
            <a:pPr algn="ctr">
              <a:defRPr b="1" sz="1300">
                <a:solidFill>
                  <a:srgbClr val="1F4E79"/>
                </a:solidFill>
              </a:defRPr>
            </a:pPr>
            <a:r>
              <a:t>???????</a:t>
            </a:r>
          </a:p>
          <a:p>
            <a:pPr>
              <a:spcBef>
                <a:spcPts val="400"/>
              </a:spcBef>
              <a:defRPr sz="1100">
                <a:solidFill>
                  <a:srgbClr val="262626"/>
                </a:solidFill>
              </a:defRPr>
            </a:pPr>
            <a:r>
              <a:t>?????????????????????????????PPO ?????????????????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All-mode water-nitrogen RL experiment record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?? 2 ????????????????</a:t>
            </a:r>
          </a:p>
        </p:txBody>
      </p:sp>
      <p:pic>
        <p:nvPicPr>
          <p:cNvPr id="3" name="Picture 2" descr="safe_sca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097280"/>
            <a:ext cx="5806440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1143000"/>
            <a:ext cx="5166360" cy="53035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safe20_5 ?????????????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50k: yield ? 7456?total_anfer ? 1355?total_amir ? 352?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100k follow-up: yield ? 7457?total_anfer ? 1350?total_amir ? 351?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????????????? Expert?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????????????????????????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All-mode water-nitrogen RL experiment record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?? 3?????? Budgeted Safe Action Wrapper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5852160" cy="53035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?? BudgetedSafeActionGymDssatWrapper?????? + ??????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?? reset ??????????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?? step ???????????????????????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?????????????? 0?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???? PPO ???????????????????????????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29400" y="1234440"/>
            <a:ext cx="475488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/>
          <a:lstStyle/>
          <a:p>
            <a:pPr algn="ctr">
              <a:defRPr b="1" sz="1300">
                <a:solidFill>
                  <a:srgbClr val="1F4E79"/>
                </a:solidFill>
              </a:defRPr>
            </a:pPr>
            <a:r>
              <a:t>?????budget220_100</a:t>
            </a:r>
          </a:p>
          <a:p>
            <a:pPr>
              <a:spcBef>
                <a:spcPts val="400"/>
              </a:spcBef>
              <a:defRPr sz="1100">
                <a:solidFill>
                  <a:srgbClr val="262626"/>
                </a:solidFill>
              </a:defRPr>
            </a:pPr>
            <a:r>
              <a:t>budget220_100 ???????? 220 kg/ha??????? 100 mm?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400" y="2514600"/>
            <a:ext cx="475488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/>
          <a:lstStyle/>
          <a:p>
            <a:pPr algn="ctr">
              <a:defRPr b="1" sz="1300">
                <a:solidFill>
                  <a:srgbClr val="1F4E79"/>
                </a:solidFill>
              </a:defRPr>
            </a:pPr>
            <a:r>
              <a:t>daily20_5</a:t>
            </a:r>
          </a:p>
          <a:p>
            <a:pPr>
              <a:spcBef>
                <a:spcPts val="400"/>
              </a:spcBef>
              <a:defRPr sz="1100">
                <a:solidFill>
                  <a:srgbClr val="262626"/>
                </a:solidFill>
              </a:defRPr>
            </a:pPr>
            <a:r>
              <a:t>daily20_5 ???????? 20 kg/ha??????? 5 mm?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3703320"/>
            <a:ext cx="475488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/>
          <a:lstStyle/>
          <a:p>
            <a:pPr algn="ctr">
              <a:defRPr b="1" sz="1300">
                <a:solidFill>
                  <a:srgbClr val="1F4E79"/>
                </a:solidFill>
              </a:defRPr>
            </a:pPr>
            <a:r>
              <a:t>pen20</a:t>
            </a:r>
          </a:p>
          <a:p>
            <a:pPr>
              <a:spcBef>
                <a:spcPts val="400"/>
              </a:spcBef>
              <a:defRPr sz="1100">
                <a:solidFill>
                  <a:srgbClr val="262626"/>
                </a:solidFill>
              </a:defRPr>
            </a:pPr>
            <a:r>
              <a:t>pen20 ???? reward ?? anfer ?????? 20??????? reward????????? wrapper ?????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All-mode water-nitrogen RL experiment record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?? 3 ????????????????</a:t>
            </a:r>
          </a:p>
        </p:txBody>
      </p:sp>
      <p:pic>
        <p:nvPicPr>
          <p:cNvPr id="3" name="Picture 2" descr="budget_sca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5760720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1143000"/>
            <a:ext cx="5166360" cy="53035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budget180_60????????? Expert???????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budget220_100???????????? Expert??????????????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budget300_150???????????????????????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???????????????????????????????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All-mode water-nitrogen RL experiment record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?????????HL scale0.6, 50k?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143000"/>
          <a:ext cx="113842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325"/>
                <a:gridCol w="1626325"/>
                <a:gridCol w="1626325"/>
                <a:gridCol w="1626325"/>
                <a:gridCol w="1626325"/>
                <a:gridCol w="1626325"/>
                <a:gridCol w="1626330"/>
              </a:tblGrid>
              <a:tr h="47548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??</a:t>
                      </a:r>
                    </a:p>
                  </a:txBody>
                  <a:tcPr marL="36576" marR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?? kg/ha</a:t>
                      </a:r>
                    </a:p>
                  </a:txBody>
                  <a:tcPr marL="36576" marR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?? kg/ha</a:t>
                      </a:r>
                    </a:p>
                  </a:txBody>
                  <a:tcPr marL="36576" marR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??? mm</a:t>
                      </a:r>
                    </a:p>
                  </a:txBody>
                  <a:tcPr marL="36576" marR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swfac??</a:t>
                      </a:r>
                    </a:p>
                  </a:txBody>
                  <a:tcPr marL="36576" marR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nstres??</a:t>
                      </a:r>
                    </a:p>
                  </a:txBody>
                  <a:tcPr marL="36576" marR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??</a:t>
                      </a:r>
                    </a:p>
                  </a:txBody>
                  <a:tcPr marL="36576" marR="36576">
                    <a:solidFill>
                      <a:srgbClr val="4472C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Expert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6276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165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??????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budget180_60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6165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166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?????????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budget220_100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6729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206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?????????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budget300_150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6695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278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133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?????????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85800" y="4069080"/>
            <a:ext cx="539496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/>
          <a:lstStyle/>
          <a:p>
            <a:pPr algn="ctr">
              <a:defRPr b="1" sz="1300">
                <a:solidFill>
                  <a:srgbClr val="1F4E79"/>
                </a:solidFill>
              </a:defRPr>
            </a:pPr>
            <a:r>
              <a:t>??? budget220_100 ???</a:t>
            </a:r>
          </a:p>
          <a:p>
            <a:pPr>
              <a:spcBef>
                <a:spcPts val="400"/>
              </a:spcBef>
              <a:defRPr sz="1100">
                <a:solidFill>
                  <a:srgbClr val="262626"/>
                </a:solidFill>
              </a:defRPr>
            </a:pPr>
            <a:r>
              <a:t>?? Expert?budget220_100 ????? 453 kg/ha?????? 41 kg/ha?????? 61 mm??? budget300_150??????????????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4069080"/>
            <a:ext cx="512064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/>
          <a:lstStyle/>
          <a:p>
            <a:pPr algn="ctr">
              <a:defRPr b="1" sz="1300">
                <a:solidFill>
                  <a:srgbClr val="1F4E79"/>
                </a:solidFill>
              </a:defRPr>
            </a:pPr>
            <a:r>
              <a:t>??? budget180_60 ????</a:t>
            </a:r>
          </a:p>
          <a:p>
            <a:pPr>
              <a:spcBef>
                <a:spcPts val="400"/>
              </a:spcBef>
              <a:defRPr sz="1100">
                <a:solidFill>
                  <a:srgbClr val="262626"/>
                </a:solidFill>
              </a:defRPr>
            </a:pPr>
            <a:r>
              <a:t>budget180_60 ????????????????????? 111 kg/ha????????????????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All-mode water-nitrogen RL experiment record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100k ???budget220_100 ????</a:t>
            </a:r>
          </a:p>
        </p:txBody>
      </p:sp>
      <p:pic>
        <p:nvPicPr>
          <p:cNvPr id="3" name="Picture 2" descr="final_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97280"/>
            <a:ext cx="5852160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1143000"/>
            <a:ext cx="5120640" cy="53035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? 50k ??? budget220_100 ????? 100k?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100k PPO?yield ? 6669?total_anfer ? 202?total_amir ? 92?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? 50k PPO?yield ? 6729?total_anfer ? 206?total_amir ? 91 ???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?????????????????????????????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????????????????????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All-mode water-nitrogen RL experiment record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?????????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11556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6634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??</a:t>
                      </a:r>
                    </a:p>
                  </a:txBody>
                  <a:tcPr marL="36576" marR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????</a:t>
                      </a:r>
                    </a:p>
                  </a:txBody>
                  <a:tcPr marL="36576" marR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PPO??</a:t>
                      </a:r>
                    </a:p>
                  </a:txBody>
                  <a:tcPr marL="36576" marR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PPO??</a:t>
                      </a:r>
                    </a:p>
                  </a:txBody>
                  <a:tcPr marL="36576" marR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PPO???</a:t>
                      </a:r>
                    </a:p>
                  </a:txBody>
                  <a:tcPr marL="36576" marR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??</a:t>
                      </a:r>
                    </a:p>
                  </a:txBody>
                  <a:tcPr marL="36576" marR="36576">
                    <a:solidFill>
                      <a:srgbClr val="4472C4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Reward??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pen20 ns50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4866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13650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3524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?????????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???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safe20_5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7456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1355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352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??????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????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budget220_100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6729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206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????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100k??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budget220_100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6669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202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????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77240" y="3931920"/>
            <a:ext cx="1060704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/>
          <a:lstStyle/>
          <a:p>
            <a:pPr algn="ctr">
              <a:defRPr b="1" sz="1300">
                <a:solidFill>
                  <a:srgbClr val="1F4E79"/>
                </a:solidFill>
              </a:defRPr>
            </a:pPr>
            <a:r>
              <a:t>???????????</a:t>
            </a:r>
          </a:p>
          <a:p>
            <a:pPr>
              <a:spcBef>
                <a:spcPts val="400"/>
              </a:spcBef>
              <a:defRPr sz="1100">
                <a:solidFill>
                  <a:srgbClr val="262626"/>
                </a:solidFill>
              </a:defRPr>
            </a:pPr>
            <a:r>
              <a:t>PPO ???????????????????????????????????????? reward ?????????????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All-mode water-nitrogen RL experiment record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5852160" cy="53035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1. ? DSSAT ????-??-???????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2. ?????????????????????????????????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3. PPO ???????????????????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4. PPO ???????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5. BudgetedSafeActionWrapper ????????????????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6. DSSAT ??????????????trnu ????????????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29400" y="1234440"/>
            <a:ext cx="480060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/>
          <a:lstStyle/>
          <a:p>
            <a:pPr algn="ctr">
              <a:defRPr b="1" sz="1300">
                <a:solidFill>
                  <a:srgbClr val="1F4E79"/>
                </a:solidFill>
              </a:defRPr>
            </a:pPr>
            <a:r>
              <a:t>?????????</a:t>
            </a:r>
          </a:p>
          <a:p>
            <a:pPr>
              <a:spcBef>
                <a:spcPts val="400"/>
              </a:spcBef>
              <a:defRPr sz="1100">
                <a:solidFill>
                  <a:srgbClr val="262626"/>
                </a:solidFill>
              </a:defRPr>
            </a:pPr>
            <a:r>
              <a:t>???????????????????????????????????????????????????????????????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400" y="3337560"/>
            <a:ext cx="48006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/>
          <a:lstStyle/>
          <a:p>
            <a:pPr algn="ctr">
              <a:defRPr b="1" sz="1300">
                <a:solidFill>
                  <a:srgbClr val="1F4E79"/>
                </a:solidFill>
              </a:defRPr>
            </a:pPr>
            <a:r>
              <a:t>????? wrapper ??</a:t>
            </a:r>
          </a:p>
          <a:p>
            <a:pPr>
              <a:spcBef>
                <a:spcPts val="400"/>
              </a:spcBef>
              <a:defRPr sz="1100">
                <a:solidFill>
                  <a:srgbClr val="262626"/>
                </a:solidFill>
              </a:defRPr>
            </a:pPr>
            <a:r>
              <a:t>?????????????????????????????????????? reward ???????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All-mode water-nitrogen RL experiment record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?????????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097280"/>
          <a:ext cx="113842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2140"/>
                <a:gridCol w="569214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??/??</a:t>
                      </a:r>
                    </a:p>
                  </a:txBody>
                  <a:tcPr marL="36576" marR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??</a:t>
                      </a:r>
                    </a:p>
                  </a:txBody>
                  <a:tcPr marL="36576" marR="36576">
                    <a:solidFill>
                      <a:srgbClr val="4472C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sb3_safe_action_wrapper.py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SafeAction ? BudgetedSafeAction wrapper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train_hl_all_multisite_safe.py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?????????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train_hl_all_multisite_budget.py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??? + ????????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run_hl_scale0p6_safe_penalty_scan.py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safe ??????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run_hl_scale0p6_budget_scan.py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??????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diagnose_all_water_stress_sites.py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?? PPO + safe/budget wrapper ???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output_hl/rain_scaling_train/...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??????summary ? findings ??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77240" y="4892040"/>
            <a:ext cx="10607040" cy="7315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/>
          <a:lstStyle/>
          <a:p>
            <a:pPr algn="ctr">
              <a:defRPr b="1" sz="1300">
                <a:solidFill>
                  <a:srgbClr val="1F4E79"/>
                </a:solidFill>
              </a:defRPr>
            </a:pPr>
            <a:r>
              <a:t>GitHub??</a:t>
            </a:r>
          </a:p>
          <a:p>
            <a:pPr>
              <a:spcBef>
                <a:spcPts val="400"/>
              </a:spcBef>
              <a:defRPr sz="1100">
                <a:solidFill>
                  <a:srgbClr val="262626"/>
                </a:solidFill>
              </a:defRPr>
            </a:pPr>
            <a:r>
              <a:t>???????bd155ff Add safe action all-mode scan?65da954 Add seasonal budget all-mode scan?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All-mode water-nitrogen RL experiment record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?????????????????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53035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HL scale0.6 ????????????????????????????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????????????????????????????? seed ?????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budget220_100 ??????????????????????????????????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turfac ????????????? swfac/nstres ?????????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????????????????????????????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All-mode water-nitrogen RL experiment record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53035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1. ? budget220_100 ???? action trace ??????/??????? DAP ??????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2. ? 3-5 ??????????????????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3. ??????????????????????????? rain scale0.6?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4. ???????????????????????? PPO ?????????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5. ????????????? = ???????????????????????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All-mode water-nitrogen RL experiment record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53035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62626"/>
                </a:solidFill>
              </a:defRPr>
            </a:pPr>
            <a:r>
              <a:t>?? reward ?????? all mode ????????</a:t>
            </a:r>
          </a:p>
          <a:p>
            <a:pPr>
              <a:spcAft>
                <a:spcPts val="500"/>
              </a:spcAft>
              <a:defRPr sz="1600">
                <a:solidFill>
                  <a:srgbClr val="262626"/>
                </a:solidFill>
              </a:defRPr>
            </a:pPr>
            <a:r>
              <a:t>??????????????????????????</a:t>
            </a:r>
          </a:p>
          <a:p>
            <a:pPr>
              <a:spcAft>
                <a:spcPts val="500"/>
              </a:spcAft>
              <a:defRPr sz="1600">
                <a:solidFill>
                  <a:srgbClr val="262626"/>
                </a:solidFill>
              </a:defRPr>
            </a:pPr>
            <a:r>
              <a:t>????? wrapper ???????? PPO ???????????????</a:t>
            </a:r>
          </a:p>
          <a:p>
            <a:pPr>
              <a:spcAft>
                <a:spcPts val="500"/>
              </a:spcAft>
              <a:defRPr sz="1600">
                <a:solidFill>
                  <a:srgbClr val="262626"/>
                </a:solidFill>
              </a:defRPr>
            </a:pPr>
            <a:r>
              <a:t>???????budget220_100_daily20_5_pen20?</a:t>
            </a:r>
          </a:p>
          <a:p>
            <a:pPr>
              <a:spcAft>
                <a:spcPts val="500"/>
              </a:spcAft>
              <a:defRPr sz="1600">
                <a:solidFill>
                  <a:srgbClr val="262626"/>
                </a:solidFill>
              </a:defRPr>
            </a:pPr>
            <a:r>
              <a:t>? HL scale0.6 ????PPO 100k ??? 6669 kg/ha??? Expert ? 6276 kg/ha???? 202 kg/ha????? 92 mm?</a:t>
            </a:r>
          </a:p>
          <a:p>
            <a:pPr>
              <a:spcAft>
                <a:spcPts val="500"/>
              </a:spcAft>
              <a:defRPr sz="1600">
                <a:solidFill>
                  <a:srgbClr val="262626"/>
                </a:solidFill>
              </a:defRPr>
            </a:pPr>
            <a:r>
              <a:t>????????????????????????????? seed??????????????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All-mode water-nitrogen RL experiment record |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