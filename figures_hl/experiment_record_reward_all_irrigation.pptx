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0" d="100"/>
          <a:sy n="30" d="100"/>
        </p:scale>
        <p:origin x="33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835A9E-F6C8-B049-3737-36D9729BD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DBE5DD-91B7-273D-9006-278E6E6E6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13E31A-629A-B8F7-F360-6F043A7AF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  <a:t>06/01/2026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546B8B-DB52-6955-E2E9-6E08C223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3A81B1-4E89-EC92-C488-37A97C8E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8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D38C86-C40A-E5AB-34A9-7D139317C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6FC0E1-96B3-884D-01DB-DE638AB46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72B32D-4F07-5AB4-9CF4-578874063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  <a:t>06/01/2026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742595-8F44-332E-F0E2-ADEB4EFCA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98FC94-5094-8EE7-2A02-E23D8CEA3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52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574DB4-A053-426F-2E69-9EB8D1B66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D06965-262C-9667-8EC4-427CEE65C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44721A-9A11-7D6A-4D5F-749D5B434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  <a:t>06/01/2026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D0604B-5AF9-28EB-D40E-8C544BBFA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68E846-D090-21DB-3344-8D2F604C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8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53B46-9EC0-F63D-67ED-BA9926DB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D78899-39F4-66E9-4B4E-6B71D490B4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3ED0CB-50A2-E7AB-E907-F667EB425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507A3F-B25B-CC98-B207-2BE7A1AC3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  <a:t>06/01/2026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7925B2-AB5D-F743-D439-4533BCD0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2ADB44-ADCA-CFB9-F446-C18F5D79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185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1BBF9-E93A-B44C-B9BE-F45F0B969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D17897-0433-9D7B-B1A6-3ECA7413E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95B6B9-6F78-1D7F-65FF-A4A161697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9CB0F4-DEE5-93E6-2D2C-99C7EB8FBF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BF23E8-01B1-327B-DFA2-CB66BB140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1D61D3-747E-9016-5DBD-A7428C3D0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  <a:t>06/01/2026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239EEC-E6C8-D131-5046-83F2BC2D4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AD9230-903D-27B8-6A0D-197D2BFA9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460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8C1C7-F569-B340-E888-78955352F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57963D-6B37-5C7F-A50D-84DF1088C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  <a:t>06/01/2026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9FA600-6226-6581-980F-3628BCE3B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02670D-9018-D6B1-E538-7FD4CBBF6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33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54CD16C-FCBE-C690-65D0-F26ECDD3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  <a:t>06/01/2026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FCFE3CA-E3F4-B14A-9988-2A4B71D67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42B401-DB72-041D-537A-5D5333729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242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DBC8DA-F431-767D-2BB7-CE34C0369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7CF57C-4A05-A628-12BE-EF43FE26B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D9744C-6927-290D-BFE3-071CABB27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2360EA-9CB7-C3DB-0FBF-57F6D20C6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  <a:t>06/01/2026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370968-CF5A-6153-068A-AF33CA8F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9F7548-97E9-6D43-3308-89520B50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756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C87C5A-7109-4EB9-5474-B7FEBB713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4F9595-C136-F8A6-8B96-E96CC12FA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D0407D-D66F-7F46-3D9B-750446A77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962F40-AC38-2037-769B-BB2AE5FCE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  <a:t>06/01/2026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4568AF-F0C2-8DDC-49E4-8ADD9F7A8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A7FC17-C695-391C-BCB1-9987F0CEB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44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78B682-6171-5581-8B8B-CA52F0131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31F5F1-CFD7-F8F0-4D1C-F8BBAA1D4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F67FDE-35A6-CD20-CADC-8D6983696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  <a:t>06/01/2026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597403-E631-83F9-544D-8BEBB4434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50F249-2DA2-4AD2-DCB2-E2C2F8F30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618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BD98B81-A572-DA92-5414-F3B8D299AC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7CD42A-D092-95B8-1B45-AB2F0C9E6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F74447-89BF-C4D0-7E15-9EE51B691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E520C-B6F2-45E7-A9A1-41917738A624}" type="datetimeFigureOut">
              <a:rPr lang="zh-CN" altLang="en-US" smtClean="0"/>
              <a:t>06/01/2026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839DF1-B02B-4DD2-748A-60CE9C315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0B3EC1-B661-02E7-8A86-6A84E54FB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4501A-A5B1-4550-9F5A-DE6124B04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641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62A099B-BD15-98B8-15E7-8CC1F3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22E0B3-9DB9-75E1-BA1D-10A0788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7031AB-94D3-FC19-4DDF-DC7A3D3E4B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E520C-B6F2-45E7-A9A1-41917738A624}" type="datetimeFigureOut">
              <a:rPr lang="zh-CN" altLang="en-US" smtClean="0"/>
              <a:t>06/01/2026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A3659A-5D15-A19F-DF68-47887E333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B0D4E5-3DB5-178C-A339-8A302CCB0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74501A-A5B1-4550-9F5A-DE6124B04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6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E96B785-BFFD-1ECC-E6F3-3ECACA81FF28}"/>
              </a:ext>
            </a:extLst>
          </p:cNvPr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latin typeface="Microsoft YaHei" panose="020B0503020204020204" pitchFamily="34" charset="-122"/>
              </a:rPr>
              <a:t>水氮管理优化试验记录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8826FE-F02B-5A3A-D5D6-B877394517B0}"/>
              </a:ext>
            </a:extLst>
          </p:cNvPr>
          <p:cNvSpPr txBox="1"/>
          <p:nvPr/>
        </p:nvSpPr>
        <p:spPr>
          <a:xfrm>
            <a:off x="508000" y="8636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>
                <a:latin typeface="Microsoft YaHei" panose="020B0503020204020204" pitchFamily="34" charset="-122"/>
              </a:rPr>
              <a:t>DSSAT-PDI + PPO</a:t>
            </a:r>
            <a:r>
              <a:rPr lang="zh-CN" altLang="en-US" sz="1100">
                <a:latin typeface="Microsoft YaHei" panose="020B0503020204020204" pitchFamily="34" charset="-122"/>
              </a:rPr>
              <a:t>；施肥 </a:t>
            </a:r>
            <a:r>
              <a:rPr lang="en-US" altLang="zh-CN" sz="1100">
                <a:latin typeface="Microsoft YaHei" panose="020B0503020204020204" pitchFamily="34" charset="-122"/>
              </a:rPr>
              <a:t>reward </a:t>
            </a:r>
            <a:r>
              <a:rPr lang="zh-CN" altLang="en-US" sz="1100">
                <a:latin typeface="Microsoft YaHei" panose="020B0503020204020204" pitchFamily="34" charset="-122"/>
              </a:rPr>
              <a:t>参数扫描、</a:t>
            </a:r>
            <a:r>
              <a:rPr lang="en-US" altLang="zh-CN" sz="1100">
                <a:latin typeface="Microsoft YaHei" panose="020B0503020204020204" pitchFamily="34" charset="-122"/>
              </a:rPr>
              <a:t>all </a:t>
            </a:r>
            <a:r>
              <a:rPr lang="zh-CN" altLang="en-US" sz="1100">
                <a:latin typeface="Microsoft YaHei" panose="020B0503020204020204" pitchFamily="34" charset="-122"/>
              </a:rPr>
              <a:t>模式、水分诊断路线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A8515A-50DE-5596-EBFD-34F0EE506AB2}"/>
              </a:ext>
            </a:extLst>
          </p:cNvPr>
          <p:cNvSpPr txBox="1"/>
          <p:nvPr/>
        </p:nvSpPr>
        <p:spPr>
          <a:xfrm>
            <a:off x="698500" y="1587500"/>
            <a:ext cx="10414000" cy="11387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700"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latin typeface="Microsoft YaHei" panose="020B0503020204020204" pitchFamily="34" charset="-122"/>
              </a:rPr>
              <a:t>目标：选择高 </a:t>
            </a:r>
            <a:r>
              <a:rPr lang="en-US" altLang="zh-CN" sz="1700">
                <a:latin typeface="Microsoft YaHei" panose="020B0503020204020204" pitchFamily="34" charset="-122"/>
              </a:rPr>
              <a:t>TRNU</a:t>
            </a:r>
            <a:r>
              <a:rPr lang="zh-CN" altLang="en-US" sz="1700">
                <a:latin typeface="Microsoft YaHei" panose="020B0503020204020204" pitchFamily="34" charset="-122"/>
              </a:rPr>
              <a:t>、高产量、低施肥、低灌水的 </a:t>
            </a:r>
            <a:r>
              <a:rPr lang="en-US" altLang="zh-CN" sz="1700">
                <a:latin typeface="Microsoft YaHei" panose="020B0503020204020204" pitchFamily="34" charset="-122"/>
              </a:rPr>
              <a:t>reward </a:t>
            </a:r>
            <a:r>
              <a:rPr lang="zh-CN" altLang="en-US" sz="1700">
                <a:latin typeface="Microsoft YaHei" panose="020B0503020204020204" pitchFamily="34" charset="-122"/>
              </a:rPr>
              <a:t>参数，并为后续天气预报驱动的水氮联合优化打基础。</a:t>
            </a:r>
          </a:p>
          <a:p>
            <a:r>
              <a:rPr lang="en-US" altLang="zh-CN" sz="1700"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latin typeface="Microsoft YaHei" panose="020B0503020204020204" pitchFamily="34" charset="-122"/>
              </a:rPr>
              <a:t>当前主线：先在海伦站 </a:t>
            </a:r>
            <a:r>
              <a:rPr lang="en-US" altLang="zh-CN" sz="1700">
                <a:latin typeface="Microsoft YaHei" panose="020B0503020204020204" pitchFamily="34" charset="-122"/>
              </a:rPr>
              <a:t>2007 </a:t>
            </a:r>
            <a:r>
              <a:rPr lang="zh-CN" altLang="en-US" sz="1700">
                <a:latin typeface="Microsoft YaHei" panose="020B0503020204020204" pitchFamily="34" charset="-122"/>
              </a:rPr>
              <a:t>年玉米数据上打通流程，再扩展到沈阳、禹城、栾城、封丘等站点。</a:t>
            </a:r>
          </a:p>
          <a:p>
            <a:r>
              <a:rPr lang="en-US" altLang="zh-CN" sz="1700"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latin typeface="Microsoft YaHei" panose="020B0503020204020204" pitchFamily="34" charset="-122"/>
              </a:rPr>
              <a:t>记录原则：保留原始脚本，新增脚本承载新功能；重要中间结果、图、</a:t>
            </a:r>
            <a:r>
              <a:rPr lang="en-US" altLang="zh-CN" sz="1700">
                <a:latin typeface="Microsoft YaHei" panose="020B0503020204020204" pitchFamily="34" charset="-122"/>
              </a:rPr>
              <a:t>PPT </a:t>
            </a:r>
            <a:r>
              <a:rPr lang="zh-CN" altLang="en-US" sz="1700">
                <a:latin typeface="Microsoft YaHei" panose="020B0503020204020204" pitchFamily="34" charset="-122"/>
              </a:rPr>
              <a:t>和诊断表同步到 </a:t>
            </a:r>
            <a:r>
              <a:rPr lang="en-US" altLang="zh-CN" sz="1700">
                <a:latin typeface="Microsoft YaHei" panose="020B0503020204020204" pitchFamily="34" charset="-122"/>
              </a:rPr>
              <a:t>GitHub</a:t>
            </a:r>
            <a:r>
              <a:rPr lang="zh-CN" altLang="en-US" sz="1700"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91995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303B22C-B243-F841-8989-4519BBDBD4D2}"/>
              </a:ext>
            </a:extLst>
          </p:cNvPr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latin typeface="Microsoft YaHei" panose="020B0503020204020204" pitchFamily="34" charset="-122"/>
              </a:rPr>
              <a:t>已完成尝试总览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CE0029-99C8-1368-A529-882061333ED6}"/>
              </a:ext>
            </a:extLst>
          </p:cNvPr>
          <p:cNvSpPr txBox="1"/>
          <p:nvPr/>
        </p:nvSpPr>
        <p:spPr>
          <a:xfrm>
            <a:off x="698500" y="1333500"/>
            <a:ext cx="107950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latin typeface="Microsoft YaHei" panose="020B0503020204020204" pitchFamily="34" charset="-122"/>
              </a:rPr>
              <a:t>施肥 </a:t>
            </a:r>
            <a:r>
              <a:rPr lang="en-US" altLang="zh-CN" sz="1400">
                <a:latin typeface="Microsoft YaHei" panose="020B0503020204020204" pitchFamily="34" charset="-122"/>
              </a:rPr>
              <a:t>reward</a:t>
            </a:r>
            <a:r>
              <a:rPr lang="zh-CN" altLang="en-US" sz="1400">
                <a:latin typeface="Microsoft YaHei" panose="020B0503020204020204" pitchFamily="34" charset="-122"/>
              </a:rPr>
              <a:t>：原始 </a:t>
            </a:r>
            <a:r>
              <a:rPr lang="en-US" altLang="zh-CN" sz="1400">
                <a:latin typeface="Microsoft YaHei" panose="020B0503020204020204" pitchFamily="34" charset="-122"/>
              </a:rPr>
              <a:t>maize </a:t>
            </a:r>
            <a:r>
              <a:rPr lang="zh-CN" altLang="en-US" sz="1400">
                <a:latin typeface="Microsoft YaHei" panose="020B0503020204020204" pitchFamily="34" charset="-122"/>
              </a:rPr>
              <a:t>参数为 </a:t>
            </a:r>
            <a:r>
              <a:rPr lang="en-US" altLang="zh-CN" sz="1400">
                <a:latin typeface="Microsoft YaHei" panose="020B0503020204020204" pitchFamily="34" charset="-122"/>
              </a:rPr>
              <a:t>coef=1.0</a:t>
            </a:r>
            <a:r>
              <a:rPr lang="zh-CN" altLang="en-US" sz="1400"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latin typeface="Microsoft YaHei" panose="020B0503020204020204" pitchFamily="34" charset="-122"/>
              </a:rPr>
              <a:t>penality=0.5</a:t>
            </a:r>
            <a:r>
              <a:rPr lang="zh-CN" altLang="en-US" sz="1400">
                <a:latin typeface="Microsoft YaHei" panose="020B0503020204020204" pitchFamily="34" charset="-122"/>
              </a:rPr>
              <a:t>；后续做 </a:t>
            </a:r>
            <a:r>
              <a:rPr lang="en-US" altLang="zh-CN" sz="1400">
                <a:latin typeface="Microsoft YaHei" panose="020B0503020204020204" pitchFamily="34" charset="-122"/>
              </a:rPr>
              <a:t>coef/penality </a:t>
            </a:r>
            <a:r>
              <a:rPr lang="zh-CN" altLang="en-US" sz="1400">
                <a:latin typeface="Microsoft YaHei" panose="020B0503020204020204" pitchFamily="34" charset="-122"/>
              </a:rPr>
              <a:t>扫描，并补充 </a:t>
            </a:r>
            <a:r>
              <a:rPr lang="en-US" altLang="zh-CN" sz="1400">
                <a:latin typeface="Microsoft YaHei" panose="020B0503020204020204" pitchFamily="34" charset="-122"/>
              </a:rPr>
              <a:t>TRNU </a:t>
            </a:r>
            <a:r>
              <a:rPr lang="zh-CN" altLang="en-US" sz="1400">
                <a:latin typeface="Microsoft YaHei" panose="020B0503020204020204" pitchFamily="34" charset="-122"/>
              </a:rPr>
              <a:t>打印、</a:t>
            </a:r>
            <a:r>
              <a:rPr lang="en-US" altLang="zh-CN" sz="1400">
                <a:latin typeface="Microsoft YaHei" panose="020B0503020204020204" pitchFamily="34" charset="-122"/>
              </a:rPr>
              <a:t>CSV </a:t>
            </a:r>
            <a:r>
              <a:rPr lang="zh-CN" altLang="en-US" sz="1400">
                <a:latin typeface="Microsoft YaHei" panose="020B0503020204020204" pitchFamily="34" charset="-122"/>
              </a:rPr>
              <a:t>保存和 </a:t>
            </a:r>
            <a:r>
              <a:rPr lang="en-US" altLang="zh-CN" sz="1400">
                <a:latin typeface="Microsoft YaHei" panose="020B0503020204020204" pitchFamily="34" charset="-122"/>
              </a:rPr>
              <a:t>plot_hl.py </a:t>
            </a:r>
            <a:r>
              <a:rPr lang="zh-CN" altLang="en-US" sz="1400">
                <a:latin typeface="Microsoft YaHei" panose="020B0503020204020204" pitchFamily="34" charset="-122"/>
              </a:rPr>
              <a:t>统计。</a:t>
            </a:r>
          </a:p>
          <a:p>
            <a:r>
              <a:rPr lang="en-US" altLang="zh-CN" sz="1400">
                <a:latin typeface="Microsoft YaHei" panose="020B0503020204020204" pitchFamily="34" charset="-122"/>
              </a:rPr>
              <a:t>• 1000 episode </a:t>
            </a:r>
            <a:r>
              <a:rPr lang="zh-CN" altLang="en-US" sz="1400">
                <a:latin typeface="Microsoft YaHei" panose="020B0503020204020204" pitchFamily="34" charset="-122"/>
              </a:rPr>
              <a:t>评估：生成 </a:t>
            </a:r>
            <a:r>
              <a:rPr lang="en-US" altLang="zh-CN" sz="1400">
                <a:latin typeface="Microsoft YaHei" panose="020B0503020204020204" pitchFamily="34" charset="-122"/>
              </a:rPr>
              <a:t>PPO</a:t>
            </a:r>
            <a:r>
              <a:rPr lang="zh-CN" altLang="en-US" sz="1400"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latin typeface="Microsoft YaHei" panose="020B0503020204020204" pitchFamily="34" charset="-122"/>
              </a:rPr>
              <a:t>Null</a:t>
            </a:r>
            <a:r>
              <a:rPr lang="zh-CN" altLang="en-US" sz="1400"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latin typeface="Microsoft YaHei" panose="020B0503020204020204" pitchFamily="34" charset="-122"/>
              </a:rPr>
              <a:t>Expert </a:t>
            </a:r>
            <a:r>
              <a:rPr lang="zh-CN" altLang="en-US" sz="1400">
                <a:latin typeface="Microsoft YaHei" panose="020B0503020204020204" pitchFamily="34" charset="-122"/>
              </a:rPr>
              <a:t>三种模式的 </a:t>
            </a:r>
            <a:r>
              <a:rPr lang="en-US" altLang="zh-CN" sz="1400">
                <a:latin typeface="Microsoft YaHei" panose="020B0503020204020204" pitchFamily="34" charset="-122"/>
              </a:rPr>
              <a:t>evaluation_histories.pkl</a:t>
            </a:r>
            <a:r>
              <a:rPr lang="zh-CN" altLang="en-US" sz="1400">
                <a:latin typeface="Microsoft YaHei" panose="020B0503020204020204" pitchFamily="34" charset="-122"/>
              </a:rPr>
              <a:t>，并按 </a:t>
            </a:r>
            <a:r>
              <a:rPr lang="en-US" altLang="zh-CN" sz="1400">
                <a:latin typeface="Microsoft YaHei" panose="020B0503020204020204" pitchFamily="34" charset="-122"/>
              </a:rPr>
              <a:t>plot_hl.py </a:t>
            </a:r>
            <a:r>
              <a:rPr lang="zh-CN" altLang="en-US" sz="1400">
                <a:latin typeface="Microsoft YaHei" panose="020B0503020204020204" pitchFamily="34" charset="-122"/>
              </a:rPr>
              <a:t>原样式重绘施肥量与 </a:t>
            </a:r>
            <a:r>
              <a:rPr lang="en-US" altLang="zh-CN" sz="1400">
                <a:latin typeface="Microsoft YaHei" panose="020B0503020204020204" pitchFamily="34" charset="-122"/>
              </a:rPr>
              <a:t>reward </a:t>
            </a:r>
            <a:r>
              <a:rPr lang="zh-CN" altLang="en-US" sz="1400">
                <a:latin typeface="Microsoft YaHei" panose="020B0503020204020204" pitchFamily="34" charset="-122"/>
              </a:rPr>
              <a:t>图。</a:t>
            </a:r>
          </a:p>
          <a:p>
            <a:r>
              <a:rPr lang="en-US" altLang="zh-CN" sz="1400">
                <a:latin typeface="Microsoft YaHei" panose="020B0503020204020204" pitchFamily="34" charset="-122"/>
              </a:rPr>
              <a:t>• OOM </a:t>
            </a:r>
            <a:r>
              <a:rPr lang="zh-CN" altLang="en-US" sz="1400">
                <a:latin typeface="Microsoft YaHei" panose="020B0503020204020204" pitchFamily="34" charset="-122"/>
              </a:rPr>
              <a:t>处理：改成逐组合、逐进程运行，减少一次性加载历史；必要时分批评估和重启 </a:t>
            </a:r>
            <a:r>
              <a:rPr lang="en-US" altLang="zh-CN" sz="1400">
                <a:latin typeface="Microsoft YaHei" panose="020B0503020204020204" pitchFamily="34" charset="-122"/>
              </a:rPr>
              <a:t>Python </a:t>
            </a:r>
            <a:r>
              <a:rPr lang="zh-CN" altLang="en-US" sz="1400">
                <a:latin typeface="Microsoft YaHei" panose="020B0503020204020204" pitchFamily="34" charset="-122"/>
              </a:rPr>
              <a:t>进程。</a:t>
            </a:r>
          </a:p>
          <a:p>
            <a:r>
              <a:rPr lang="en-US" altLang="zh-CN" sz="1400">
                <a:latin typeface="Microsoft YaHei" panose="020B0503020204020204" pitchFamily="34" charset="-122"/>
              </a:rPr>
              <a:t>• all </a:t>
            </a:r>
            <a:r>
              <a:rPr lang="zh-CN" altLang="en-US" sz="1400">
                <a:latin typeface="Microsoft YaHei" panose="020B0503020204020204" pitchFamily="34" charset="-122"/>
              </a:rPr>
              <a:t>模式：先备份关键代码，再新增 </a:t>
            </a:r>
            <a:r>
              <a:rPr lang="en-US" altLang="zh-CN" sz="1400">
                <a:latin typeface="Microsoft YaHei" panose="020B0503020204020204" pitchFamily="34" charset="-122"/>
              </a:rPr>
              <a:t>train_hl_all.py/evaluate_hl_all.py/plot_hl_all.py </a:t>
            </a:r>
            <a:r>
              <a:rPr lang="zh-CN" altLang="en-US" sz="1400">
                <a:latin typeface="Microsoft YaHei" panose="020B0503020204020204" pitchFamily="34" charset="-122"/>
              </a:rPr>
              <a:t>相关流程，打通水氮联合动作。</a:t>
            </a:r>
          </a:p>
          <a:p>
            <a:r>
              <a:rPr lang="en-US" altLang="zh-CN" sz="1400">
                <a:latin typeface="Microsoft YaHei" panose="020B0503020204020204" pitchFamily="34" charset="-122"/>
              </a:rPr>
              <a:t>• GitHub </a:t>
            </a:r>
            <a:r>
              <a:rPr lang="zh-CN" altLang="en-US" sz="1400">
                <a:latin typeface="Microsoft YaHei" panose="020B0503020204020204" pitchFamily="34" charset="-122"/>
              </a:rPr>
              <a:t>备份：已把 </a:t>
            </a:r>
            <a:r>
              <a:rPr lang="en-US" altLang="zh-CN" sz="1400">
                <a:latin typeface="Microsoft YaHei" panose="020B0503020204020204" pitchFamily="34" charset="-122"/>
              </a:rPr>
              <a:t>reward sweep</a:t>
            </a:r>
            <a:r>
              <a:rPr lang="zh-CN" altLang="en-US" sz="1400"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latin typeface="Microsoft YaHei" panose="020B0503020204020204" pitchFamily="34" charset="-122"/>
              </a:rPr>
              <a:t>all sweep</a:t>
            </a:r>
            <a:r>
              <a:rPr lang="zh-CN" altLang="en-US" sz="1400"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latin typeface="Microsoft YaHei" panose="020B0503020204020204" pitchFamily="34" charset="-122"/>
              </a:rPr>
              <a:t>PPT</a:t>
            </a:r>
            <a:r>
              <a:rPr lang="zh-CN" altLang="en-US" sz="1400">
                <a:latin typeface="Microsoft YaHei" panose="020B0503020204020204" pitchFamily="34" charset="-122"/>
              </a:rPr>
              <a:t>、诊断脚本等多轮结果推送到 </a:t>
            </a:r>
            <a:r>
              <a:rPr lang="en-US" altLang="zh-CN" sz="1400">
                <a:latin typeface="Microsoft YaHei" panose="020B0503020204020204" pitchFamily="34" charset="-122"/>
              </a:rPr>
              <a:t>codex-reward-sweep-backup </a:t>
            </a:r>
            <a:r>
              <a:rPr lang="zh-CN" altLang="en-US" sz="1400">
                <a:latin typeface="Microsoft YaHei" panose="020B0503020204020204" pitchFamily="34" charset="-122"/>
              </a:rPr>
              <a:t>分支。</a:t>
            </a:r>
          </a:p>
        </p:txBody>
      </p:sp>
    </p:spTree>
    <p:extLst>
      <p:ext uri="{BB962C8B-B14F-4D97-AF65-F5344CB8AC3E}">
        <p14:creationId xmlns:p14="http://schemas.microsoft.com/office/powerpoint/2010/main" val="3630104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6C1CA05-17D3-D992-0CF1-82C1322FD04B}"/>
              </a:ext>
            </a:extLst>
          </p:cNvPr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latin typeface="Microsoft YaHei" panose="020B0503020204020204" pitchFamily="34" charset="-122"/>
              </a:rPr>
              <a:t>施肥 </a:t>
            </a:r>
            <a:r>
              <a:rPr lang="en-US" altLang="zh-CN" sz="2500" b="1">
                <a:latin typeface="Microsoft YaHei" panose="020B0503020204020204" pitchFamily="34" charset="-122"/>
              </a:rPr>
              <a:t>reward </a:t>
            </a:r>
            <a:r>
              <a:rPr lang="zh-CN" altLang="en-US" sz="2500" b="1">
                <a:latin typeface="Microsoft YaHei" panose="020B0503020204020204" pitchFamily="34" charset="-122"/>
              </a:rPr>
              <a:t>参数扫描结论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3F1FE7-6C02-5231-C2A3-167DCFC22723}"/>
              </a:ext>
            </a:extLst>
          </p:cNvPr>
          <p:cNvSpPr txBox="1"/>
          <p:nvPr/>
        </p:nvSpPr>
        <p:spPr>
          <a:xfrm>
            <a:off x="698500" y="1460500"/>
            <a:ext cx="10795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评价标准：</a:t>
            </a:r>
            <a:r>
              <a:rPr lang="en-US" altLang="zh-CN" sz="1600">
                <a:latin typeface="Microsoft YaHei" panose="020B0503020204020204" pitchFamily="34" charset="-122"/>
              </a:rPr>
              <a:t>TRNU </a:t>
            </a:r>
            <a:r>
              <a:rPr lang="zh-CN" altLang="en-US" sz="1600">
                <a:latin typeface="Microsoft YaHei" panose="020B0503020204020204" pitchFamily="34" charset="-122"/>
              </a:rPr>
              <a:t>尽可能高、施肥量尽可能少、产量尽可能高；不是只看 </a:t>
            </a:r>
            <a:r>
              <a:rPr lang="en-US" altLang="zh-CN" sz="1600">
                <a:latin typeface="Microsoft YaHei" panose="020B0503020204020204" pitchFamily="34" charset="-122"/>
              </a:rPr>
              <a:t>reward </a:t>
            </a:r>
            <a:r>
              <a:rPr lang="zh-CN" altLang="en-US" sz="1600">
                <a:latin typeface="Microsoft YaHei" panose="020B0503020204020204" pitchFamily="34" charset="-122"/>
              </a:rPr>
              <a:t>数值。</a:t>
            </a:r>
          </a:p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原始参数 </a:t>
            </a:r>
            <a:r>
              <a:rPr lang="en-US" altLang="zh-CN" sz="1600">
                <a:latin typeface="Microsoft YaHei" panose="020B0503020204020204" pitchFamily="34" charset="-122"/>
              </a:rPr>
              <a:t>coef=1.0</a:t>
            </a:r>
            <a:r>
              <a:rPr lang="zh-CN" altLang="en-US" sz="1600">
                <a:latin typeface="Microsoft YaHei" panose="020B0503020204020204" pitchFamily="34" charset="-122"/>
              </a:rPr>
              <a:t>、</a:t>
            </a:r>
            <a:r>
              <a:rPr lang="en-US" altLang="zh-CN" sz="1600">
                <a:latin typeface="Microsoft YaHei" panose="020B0503020204020204" pitchFamily="34" charset="-122"/>
              </a:rPr>
              <a:t>penality=0.5 </a:t>
            </a:r>
            <a:r>
              <a:rPr lang="zh-CN" altLang="en-US" sz="1600">
                <a:latin typeface="Microsoft YaHei" panose="020B0503020204020204" pitchFamily="34" charset="-122"/>
              </a:rPr>
              <a:t>作为基线，不再误记为其他组合。</a:t>
            </a:r>
          </a:p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单独施肥模式能学到优于 </a:t>
            </a:r>
            <a:r>
              <a:rPr lang="en-US" altLang="zh-CN" sz="1600">
                <a:latin typeface="Microsoft YaHei" panose="020B0503020204020204" pitchFamily="34" charset="-122"/>
              </a:rPr>
              <a:t>Expert/Null </a:t>
            </a:r>
            <a:r>
              <a:rPr lang="zh-CN" altLang="en-US" sz="1600">
                <a:latin typeface="Microsoft YaHei" panose="020B0503020204020204" pitchFamily="34" charset="-122"/>
              </a:rPr>
              <a:t>的适配策略，说明该站点在施肥管理上有优化空间。</a:t>
            </a:r>
          </a:p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后续 </a:t>
            </a:r>
            <a:r>
              <a:rPr lang="en-US" altLang="zh-CN" sz="1600">
                <a:latin typeface="Microsoft YaHei" panose="020B0503020204020204" pitchFamily="34" charset="-122"/>
              </a:rPr>
              <a:t>all </a:t>
            </a:r>
            <a:r>
              <a:rPr lang="zh-CN" altLang="en-US" sz="1600">
                <a:latin typeface="Microsoft YaHei" panose="020B0503020204020204" pitchFamily="34" charset="-122"/>
              </a:rPr>
              <a:t>模式中，氮肥惩罚需要明显提高，否则 </a:t>
            </a:r>
            <a:r>
              <a:rPr lang="en-US" altLang="zh-CN" sz="1600">
                <a:latin typeface="Microsoft YaHei" panose="020B0503020204020204" pitchFamily="34" charset="-122"/>
              </a:rPr>
              <a:t>PPO </a:t>
            </a:r>
            <a:r>
              <a:rPr lang="zh-CN" altLang="en-US" sz="1600">
                <a:latin typeface="Microsoft YaHei" panose="020B0503020204020204" pitchFamily="34" charset="-122"/>
              </a:rPr>
              <a:t>倾向通过大量施肥换取产量和即时 </a:t>
            </a:r>
            <a:r>
              <a:rPr lang="en-US" altLang="zh-CN" sz="1600">
                <a:latin typeface="Microsoft YaHei" panose="020B0503020204020204" pitchFamily="34" charset="-122"/>
              </a:rPr>
              <a:t>reward</a:t>
            </a:r>
            <a:r>
              <a:rPr lang="zh-CN" altLang="en-US" sz="1600"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13176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0B1C8AA-1820-1396-6D48-74DA097BEC3B}"/>
              </a:ext>
            </a:extLst>
          </p:cNvPr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500" b="1">
                <a:latin typeface="Microsoft YaHei" panose="020B0503020204020204" pitchFamily="34" charset="-122"/>
              </a:rPr>
              <a:t>all reward </a:t>
            </a:r>
            <a:r>
              <a:rPr lang="zh-CN" altLang="en-US" sz="2500" b="1">
                <a:latin typeface="Microsoft YaHei" panose="020B0503020204020204" pitchFamily="34" charset="-122"/>
              </a:rPr>
              <a:t>扫描：当前最佳组合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CA0661-3CA0-472D-E358-ECC0F688980F}"/>
              </a:ext>
            </a:extLst>
          </p:cNvPr>
          <p:cNvSpPr txBox="1"/>
          <p:nvPr/>
        </p:nvSpPr>
        <p:spPr>
          <a:xfrm>
            <a:off x="698500" y="1168400"/>
            <a:ext cx="1079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latin typeface="Microsoft YaHei" panose="020B0503020204020204" pitchFamily="34" charset="-122"/>
              </a:rPr>
              <a:t>综合排序来自 </a:t>
            </a:r>
            <a:r>
              <a:rPr lang="en-US" altLang="zh-CN" sz="1200">
                <a:latin typeface="Microsoft YaHei" panose="020B0503020204020204" pitchFamily="34" charset="-122"/>
              </a:rPr>
              <a:t>output_hl/all_reward_sweep/combined_ppo_ranking.csv</a:t>
            </a:r>
            <a:r>
              <a:rPr lang="zh-CN" altLang="en-US" sz="1200">
                <a:latin typeface="Microsoft YaHei" panose="020B0503020204020204" pitchFamily="34" charset="-122"/>
              </a:rPr>
              <a:t>；</a:t>
            </a:r>
            <a:r>
              <a:rPr lang="en-US" altLang="zh-CN" sz="1200">
                <a:latin typeface="Microsoft YaHei" panose="020B0503020204020204" pitchFamily="34" charset="-122"/>
              </a:rPr>
              <a:t>Score </a:t>
            </a:r>
            <a:r>
              <a:rPr lang="zh-CN" altLang="en-US" sz="1200">
                <a:latin typeface="Microsoft YaHei" panose="020B0503020204020204" pitchFamily="34" charset="-122"/>
              </a:rPr>
              <a:t>综合考虑产量、</a:t>
            </a:r>
            <a:r>
              <a:rPr lang="en-US" altLang="zh-CN" sz="1200">
                <a:latin typeface="Microsoft YaHei" panose="020B0503020204020204" pitchFamily="34" charset="-122"/>
              </a:rPr>
              <a:t>TRNU</a:t>
            </a:r>
            <a:r>
              <a:rPr lang="zh-CN" altLang="en-US" sz="1200">
                <a:latin typeface="Microsoft YaHei" panose="020B0503020204020204" pitchFamily="34" charset="-122"/>
              </a:rPr>
              <a:t>、总施肥和总灌水。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5B79ED1-7ED7-5863-80E9-80C6C3074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222434"/>
              </p:ext>
            </p:extLst>
          </p:nvPr>
        </p:nvGraphicFramePr>
        <p:xfrm>
          <a:off x="444500" y="1714500"/>
          <a:ext cx="113030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875">
                  <a:extLst>
                    <a:ext uri="{9D8B030D-6E8A-4147-A177-3AD203B41FA5}">
                      <a16:colId xmlns:a16="http://schemas.microsoft.com/office/drawing/2014/main" val="287124772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1592605232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743470734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4046086859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199837803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3797170726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3371799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3304616303"/>
                    </a:ext>
                  </a:extLst>
                </a:gridCol>
              </a:tblGrid>
              <a:tr h="580571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latin typeface="Microsoft YaHei" panose="020B0503020204020204" pitchFamily="34" charset="-122"/>
                        </a:rPr>
                        <a:t>组合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latin typeface="Microsoft YaHei" panose="020B0503020204020204" pitchFamily="34" charset="-122"/>
                        </a:rPr>
                        <a:t>N</a:t>
                      </a:r>
                      <a:r>
                        <a:rPr lang="zh-CN" altLang="en-US" sz="800" b="1">
                          <a:latin typeface="Microsoft YaHei" panose="020B0503020204020204" pitchFamily="34" charset="-122"/>
                        </a:rPr>
                        <a:t>惩罚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latin typeface="Microsoft YaHei" panose="020B0503020204020204" pitchFamily="34" charset="-122"/>
                        </a:rPr>
                        <a:t>水成本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latin typeface="Microsoft YaHei" panose="020B0503020204020204" pitchFamily="34" charset="-122"/>
                        </a:rPr>
                        <a:t>TRNU</a:t>
                      </a:r>
                      <a:endParaRPr lang="zh-CN" altLang="en-US" sz="800" b="1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latin typeface="Microsoft YaHei" panose="020B0503020204020204" pitchFamily="34" charset="-122"/>
                        </a:rPr>
                        <a:t>施肥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latin typeface="Microsoft YaHei" panose="020B0503020204020204" pitchFamily="34" charset="-122"/>
                        </a:rPr>
                        <a:t>灌水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latin typeface="Microsoft YaHei" panose="020B0503020204020204" pitchFamily="34" charset="-122"/>
                        </a:rPr>
                        <a:t>产量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latin typeface="Microsoft YaHei" panose="020B0503020204020204" pitchFamily="34" charset="-122"/>
                        </a:rPr>
                        <a:t>Score</a:t>
                      </a:r>
                      <a:endParaRPr lang="zh-CN" altLang="en-US" sz="800" b="1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327865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pen15_ncost0_icost15_nlim300_nex0_ilim80_iex0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15.0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15.0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1.741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830.2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196.3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7463.7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0.184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730094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pen15_ncost0_icost20_nlim300_nex0_ilim80_iex0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15.0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20.0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1.741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854.6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204.8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7464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0.157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158404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pen15_ncost0_icost10_nlim300_nex0_ilim80_iex0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15.0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10.0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1.74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845.6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210.6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7462.6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0.155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676197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pen12_ncost0_icost20_nlim300_nex0_ilim80_iex0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12.0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20.0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1.741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926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211.2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7464.2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0.101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432122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pen12_ncost0_icost10_nlim300_nex0_ilim80_iex0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12.0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10.0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1.741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916.5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226.4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7463.2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0.088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630959"/>
                  </a:ext>
                </a:extLst>
              </a:tr>
              <a:tr h="580571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pen12_ncost0_icost15_nlim300_nex0_ilim80_iex0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12.0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15.0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1.741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994.7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240.6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7463.1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0.019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650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9659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99AF8B8-F49C-F684-EACF-445B8520F8F5}"/>
              </a:ext>
            </a:extLst>
          </p:cNvPr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500" b="1">
                <a:latin typeface="Microsoft YaHei" panose="020B0503020204020204" pitchFamily="34" charset="-122"/>
              </a:rPr>
              <a:t>all </a:t>
            </a:r>
            <a:r>
              <a:rPr lang="zh-CN" altLang="en-US" sz="2500" b="1">
                <a:latin typeface="Microsoft YaHei" panose="020B0503020204020204" pitchFamily="34" charset="-122"/>
              </a:rPr>
              <a:t>模式阶段性判断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9A61CA-0B30-F407-7722-429F9382195D}"/>
              </a:ext>
            </a:extLst>
          </p:cNvPr>
          <p:cNvSpPr txBox="1"/>
          <p:nvPr/>
        </p:nvSpPr>
        <p:spPr>
          <a:xfrm>
            <a:off x="698500" y="1422400"/>
            <a:ext cx="10795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较优组合：</a:t>
            </a:r>
            <a:r>
              <a:rPr lang="en-US" altLang="zh-CN" sz="1600">
                <a:latin typeface="Microsoft YaHei" panose="020B0503020204020204" pitchFamily="34" charset="-122"/>
              </a:rPr>
              <a:t>penality=15</a:t>
            </a:r>
            <a:r>
              <a:rPr lang="zh-CN" altLang="en-US" sz="1600">
                <a:latin typeface="Microsoft YaHei" panose="020B0503020204020204" pitchFamily="34" charset="-122"/>
              </a:rPr>
              <a:t>、</a:t>
            </a:r>
            <a:r>
              <a:rPr lang="en-US" altLang="zh-CN" sz="1600">
                <a:latin typeface="Microsoft YaHei" panose="020B0503020204020204" pitchFamily="34" charset="-122"/>
              </a:rPr>
              <a:t>amir_cost=15</a:t>
            </a:r>
            <a:r>
              <a:rPr lang="zh-CN" altLang="en-US" sz="1600">
                <a:latin typeface="Microsoft YaHei" panose="020B0503020204020204" pitchFamily="34" charset="-122"/>
              </a:rPr>
              <a:t>，在 </a:t>
            </a:r>
            <a:r>
              <a:rPr lang="en-US" altLang="zh-CN" sz="1600">
                <a:latin typeface="Microsoft YaHei" panose="020B0503020204020204" pitchFamily="34" charset="-122"/>
              </a:rPr>
              <a:t>30 episode </a:t>
            </a:r>
            <a:r>
              <a:rPr lang="zh-CN" altLang="en-US" sz="1600">
                <a:latin typeface="Microsoft YaHei" panose="020B0503020204020204" pitchFamily="34" charset="-122"/>
              </a:rPr>
              <a:t>评估中达到 </a:t>
            </a:r>
            <a:r>
              <a:rPr lang="en-US" altLang="zh-CN" sz="1600">
                <a:latin typeface="Microsoft YaHei" panose="020B0503020204020204" pitchFamily="34" charset="-122"/>
              </a:rPr>
              <a:t>mean_trnu≈1.741</a:t>
            </a:r>
            <a:r>
              <a:rPr lang="zh-CN" altLang="en-US" sz="1600">
                <a:latin typeface="Microsoft YaHei" panose="020B0503020204020204" pitchFamily="34" charset="-122"/>
              </a:rPr>
              <a:t>、施肥≈</a:t>
            </a:r>
            <a:r>
              <a:rPr lang="en-US" altLang="zh-CN" sz="1600">
                <a:latin typeface="Microsoft YaHei" panose="020B0503020204020204" pitchFamily="34" charset="-122"/>
              </a:rPr>
              <a:t>830</a:t>
            </a:r>
            <a:r>
              <a:rPr lang="zh-CN" altLang="en-US" sz="1600">
                <a:latin typeface="Microsoft YaHei" panose="020B0503020204020204" pitchFamily="34" charset="-122"/>
              </a:rPr>
              <a:t>、灌水≈</a:t>
            </a:r>
            <a:r>
              <a:rPr lang="en-US" altLang="zh-CN" sz="1600">
                <a:latin typeface="Microsoft YaHei" panose="020B0503020204020204" pitchFamily="34" charset="-122"/>
              </a:rPr>
              <a:t>196</a:t>
            </a:r>
            <a:r>
              <a:rPr lang="zh-CN" altLang="en-US" sz="1600">
                <a:latin typeface="Microsoft YaHei" panose="020B0503020204020204" pitchFamily="34" charset="-122"/>
              </a:rPr>
              <a:t>、产量≈</a:t>
            </a:r>
            <a:r>
              <a:rPr lang="en-US" altLang="zh-CN" sz="1600">
                <a:latin typeface="Microsoft YaHei" panose="020B0503020204020204" pitchFamily="34" charset="-122"/>
              </a:rPr>
              <a:t>7464</a:t>
            </a:r>
            <a:r>
              <a:rPr lang="zh-CN" altLang="en-US" sz="1600">
                <a:latin typeface="Microsoft YaHei" panose="020B0503020204020204" pitchFamily="34" charset="-122"/>
              </a:rPr>
              <a:t>。</a:t>
            </a:r>
          </a:p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提高氮肥惩罚能显著压低总施肥量；过高惩罚或硬阈值惩罚可能导致训练陷入坏局部策略。</a:t>
            </a:r>
          </a:p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灌水成本提高后可进一步压低总灌水，但仍需结合水分胁迫诊断判断是否是合理节水，而不是奖励函数压制过强。</a:t>
            </a:r>
          </a:p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下一步：把灌溉优化从是否少灌升级为是否在缺水期才灌。</a:t>
            </a:r>
          </a:p>
        </p:txBody>
      </p:sp>
    </p:spTree>
    <p:extLst>
      <p:ext uri="{BB962C8B-B14F-4D97-AF65-F5344CB8AC3E}">
        <p14:creationId xmlns:p14="http://schemas.microsoft.com/office/powerpoint/2010/main" val="2481147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836304A-22F5-06FE-ECE5-15B1F47D977B}"/>
              </a:ext>
            </a:extLst>
          </p:cNvPr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latin typeface="Microsoft YaHei" panose="020B0503020204020204" pitchFamily="34" charset="-122"/>
              </a:rPr>
              <a:t>五站点灌溉异常：</a:t>
            </a:r>
            <a:r>
              <a:rPr lang="en-US" altLang="zh-CN" sz="2500" b="1">
                <a:latin typeface="Microsoft YaHei" panose="020B0503020204020204" pitchFamily="34" charset="-122"/>
              </a:rPr>
              <a:t>Null </a:t>
            </a:r>
            <a:r>
              <a:rPr lang="zh-CN" altLang="en-US" sz="2500" b="1">
                <a:latin typeface="Microsoft YaHei" panose="020B0503020204020204" pitchFamily="34" charset="-122"/>
              </a:rPr>
              <a:t>为何常常最好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FA46D2-E360-0260-0532-1799E69D5F04}"/>
              </a:ext>
            </a:extLst>
          </p:cNvPr>
          <p:cNvSpPr txBox="1"/>
          <p:nvPr/>
        </p:nvSpPr>
        <p:spPr>
          <a:xfrm>
            <a:off x="698500" y="1397000"/>
            <a:ext cx="10795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现象：沈阳、禹城、栾城、封丘等站点中，</a:t>
            </a:r>
            <a:r>
              <a:rPr lang="en-US" altLang="zh-CN" sz="1600">
                <a:latin typeface="Microsoft YaHei" panose="020B0503020204020204" pitchFamily="34" charset="-122"/>
              </a:rPr>
              <a:t>Null </a:t>
            </a:r>
            <a:r>
              <a:rPr lang="zh-CN" altLang="en-US" sz="1600">
                <a:latin typeface="Microsoft YaHei" panose="020B0503020204020204" pitchFamily="34" charset="-122"/>
              </a:rPr>
              <a:t>不灌水的 </a:t>
            </a:r>
            <a:r>
              <a:rPr lang="en-US" altLang="zh-CN" sz="1600">
                <a:latin typeface="Microsoft YaHei" panose="020B0503020204020204" pitchFamily="34" charset="-122"/>
              </a:rPr>
              <a:t>reward </a:t>
            </a:r>
            <a:r>
              <a:rPr lang="zh-CN" altLang="en-US" sz="1600">
                <a:latin typeface="Microsoft YaHei" panose="020B0503020204020204" pitchFamily="34" charset="-122"/>
              </a:rPr>
              <a:t>和产量经常高于固定 </a:t>
            </a:r>
            <a:r>
              <a:rPr lang="en-US" altLang="zh-CN" sz="1600">
                <a:latin typeface="Microsoft YaHei" panose="020B0503020204020204" pitchFamily="34" charset="-122"/>
              </a:rPr>
              <a:t>Expert </a:t>
            </a:r>
            <a:r>
              <a:rPr lang="zh-CN" altLang="en-US" sz="1600">
                <a:latin typeface="Microsoft YaHei" panose="020B0503020204020204" pitchFamily="34" charset="-122"/>
              </a:rPr>
              <a:t>灌溉。</a:t>
            </a:r>
          </a:p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代码层面：旧脚本中海伦站 </a:t>
            </a:r>
            <a:r>
              <a:rPr lang="en-US" altLang="zh-CN" sz="1600">
                <a:latin typeface="Microsoft YaHei" panose="020B0503020204020204" pitchFamily="34" charset="-122"/>
              </a:rPr>
              <a:t>swfac/nstres </a:t>
            </a:r>
            <a:r>
              <a:rPr lang="zh-CN" altLang="en-US" sz="1600">
                <a:latin typeface="Microsoft YaHei" panose="020B0503020204020204" pitchFamily="34" charset="-122"/>
              </a:rPr>
              <a:t>实际为 </a:t>
            </a:r>
            <a:r>
              <a:rPr lang="en-US" altLang="zh-CN" sz="1600">
                <a:latin typeface="Microsoft YaHei" panose="020B0503020204020204" pitchFamily="34" charset="-122"/>
              </a:rPr>
              <a:t>NaN</a:t>
            </a:r>
            <a:r>
              <a:rPr lang="zh-CN" altLang="en-US" sz="1600">
                <a:latin typeface="Microsoft YaHei" panose="020B0503020204020204" pitchFamily="34" charset="-122"/>
              </a:rPr>
              <a:t>，不应解释为 </a:t>
            </a:r>
            <a:r>
              <a:rPr lang="en-US" altLang="zh-CN" sz="1600">
                <a:latin typeface="Microsoft YaHei" panose="020B0503020204020204" pitchFamily="34" charset="-122"/>
              </a:rPr>
              <a:t>0</a:t>
            </a:r>
            <a:r>
              <a:rPr lang="zh-CN" altLang="en-US" sz="1600">
                <a:latin typeface="Microsoft YaHei" panose="020B0503020204020204" pitchFamily="34" charset="-122"/>
              </a:rPr>
              <a:t>；部分 </a:t>
            </a:r>
            <a:r>
              <a:rPr lang="en-US" altLang="zh-CN" sz="1600">
                <a:latin typeface="Microsoft YaHei" panose="020B0503020204020204" pitchFamily="34" charset="-122"/>
              </a:rPr>
              <a:t>action_amir </a:t>
            </a:r>
            <a:r>
              <a:rPr lang="zh-CN" altLang="en-US" sz="1600">
                <a:latin typeface="Microsoft YaHei" panose="020B0503020204020204" pitchFamily="34" charset="-122"/>
              </a:rPr>
              <a:t>是归一化动作，不是真实灌水量。</a:t>
            </a:r>
          </a:p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数据层面：若生长季降雨充足或土壤初始含水量高，固定灌溉没有增产边际收益，还会被 </a:t>
            </a:r>
            <a:r>
              <a:rPr lang="en-US" altLang="zh-CN" sz="1600">
                <a:latin typeface="Microsoft YaHei" panose="020B0503020204020204" pitchFamily="34" charset="-122"/>
              </a:rPr>
              <a:t>reward </a:t>
            </a:r>
            <a:r>
              <a:rPr lang="zh-CN" altLang="en-US" sz="1600">
                <a:latin typeface="Microsoft YaHei" panose="020B0503020204020204" pitchFamily="34" charset="-122"/>
              </a:rPr>
              <a:t>水量惩罚扣分。</a:t>
            </a:r>
          </a:p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策略层面：</a:t>
            </a:r>
            <a:r>
              <a:rPr lang="en-US" altLang="zh-CN" sz="1600">
                <a:latin typeface="Microsoft YaHei" panose="020B0503020204020204" pitchFamily="34" charset="-122"/>
              </a:rPr>
              <a:t>Expert </a:t>
            </a:r>
            <a:r>
              <a:rPr lang="zh-CN" altLang="en-US" sz="1600">
                <a:latin typeface="Microsoft YaHei" panose="020B0503020204020204" pitchFamily="34" charset="-122"/>
              </a:rPr>
              <a:t>灌溉日期</a:t>
            </a:r>
            <a:r>
              <a:rPr lang="en-US" altLang="zh-CN" sz="1600">
                <a:latin typeface="Microsoft YaHei" panose="020B0503020204020204" pitchFamily="34" charset="-122"/>
              </a:rPr>
              <a:t>/</a:t>
            </a:r>
            <a:r>
              <a:rPr lang="zh-CN" altLang="en-US" sz="1600">
                <a:latin typeface="Microsoft YaHei" panose="020B0503020204020204" pitchFamily="34" charset="-122"/>
              </a:rPr>
              <a:t>水量固定，不随站点、年份、降雨过程调整，因此不一定是真正专家。</a:t>
            </a:r>
          </a:p>
        </p:txBody>
      </p:sp>
    </p:spTree>
    <p:extLst>
      <p:ext uri="{BB962C8B-B14F-4D97-AF65-F5344CB8AC3E}">
        <p14:creationId xmlns:p14="http://schemas.microsoft.com/office/powerpoint/2010/main" val="3560462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F12A923-E063-E702-B66B-92BCBAEEB7DE}"/>
              </a:ext>
            </a:extLst>
          </p:cNvPr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latin typeface="Microsoft YaHei" panose="020B0503020204020204" pitchFamily="34" charset="-122"/>
              </a:rPr>
              <a:t>已有五站点旧结果诊断摘要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C863F5-C0EB-0006-5C82-369E58728E53}"/>
              </a:ext>
            </a:extLst>
          </p:cNvPr>
          <p:cNvSpPr txBox="1"/>
          <p:nvPr/>
        </p:nvSpPr>
        <p:spPr>
          <a:xfrm>
            <a:off x="698500" y="1168400"/>
            <a:ext cx="1079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latin typeface="Microsoft YaHei" panose="020B0503020204020204" pitchFamily="34" charset="-122"/>
              </a:rPr>
              <a:t>该表来自现有 </a:t>
            </a:r>
            <a:r>
              <a:rPr lang="en-US" altLang="zh-CN" sz="1200">
                <a:latin typeface="Microsoft YaHei" panose="020B0503020204020204" pitchFamily="34" charset="-122"/>
              </a:rPr>
              <a:t>output_*/output_*/irrigation </a:t>
            </a:r>
            <a:r>
              <a:rPr lang="zh-CN" altLang="en-US" sz="1200">
                <a:latin typeface="Microsoft YaHei" panose="020B0503020204020204" pitchFamily="34" charset="-122"/>
              </a:rPr>
              <a:t>结果；海伦旧 </a:t>
            </a:r>
            <a:r>
              <a:rPr lang="en-US" altLang="zh-CN" sz="1200">
                <a:latin typeface="Microsoft YaHei" panose="020B0503020204020204" pitchFamily="34" charset="-122"/>
              </a:rPr>
              <a:t>CSV </a:t>
            </a:r>
            <a:r>
              <a:rPr lang="zh-CN" altLang="en-US" sz="1200">
                <a:latin typeface="Microsoft YaHei" panose="020B0503020204020204" pitchFamily="34" charset="-122"/>
              </a:rPr>
              <a:t>缺少真实灌水量，因此水量标记为 </a:t>
            </a:r>
            <a:r>
              <a:rPr lang="en-US" altLang="zh-CN" sz="1200">
                <a:latin typeface="Microsoft YaHei" panose="020B0503020204020204" pitchFamily="34" charset="-122"/>
              </a:rPr>
              <a:t>missing</a:t>
            </a:r>
            <a:r>
              <a:rPr lang="zh-CN" altLang="en-US" sz="1200">
                <a:latin typeface="Microsoft YaHei" panose="020B0503020204020204" pitchFamily="34" charset="-122"/>
              </a:rPr>
              <a:t>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8EFAED3-1E1B-F6D3-9604-94C463910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953319"/>
              </p:ext>
            </p:extLst>
          </p:nvPr>
        </p:nvGraphicFramePr>
        <p:xfrm>
          <a:off x="381000" y="1714500"/>
          <a:ext cx="114300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3989232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97462961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3058089576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188680366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3136728099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148553531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314327331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211981434"/>
                    </a:ext>
                  </a:extLst>
                </a:gridCol>
              </a:tblGrid>
              <a:tr h="312615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latin typeface="Microsoft YaHei" panose="020B0503020204020204" pitchFamily="34" charset="-122"/>
                        </a:rPr>
                        <a:t>站点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latin typeface="Microsoft YaHei" panose="020B0503020204020204" pitchFamily="34" charset="-122"/>
                        </a:rPr>
                        <a:t>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latin typeface="Microsoft YaHei" panose="020B0503020204020204" pitchFamily="34" charset="-122"/>
                        </a:rPr>
                        <a:t>回报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latin typeface="Microsoft YaHei" panose="020B0503020204020204" pitchFamily="34" charset="-122"/>
                        </a:rPr>
                        <a:t>产量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latin typeface="Microsoft YaHei" panose="020B0503020204020204" pitchFamily="34" charset="-122"/>
                        </a:rPr>
                        <a:t>swfac</a:t>
                      </a:r>
                      <a:endParaRPr lang="zh-CN" altLang="en-US" sz="800" b="1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latin typeface="Microsoft YaHei" panose="020B0503020204020204" pitchFamily="34" charset="-122"/>
                        </a:rPr>
                        <a:t>nstres</a:t>
                      </a:r>
                      <a:endParaRPr lang="zh-CN" altLang="en-US" sz="800" b="1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latin typeface="Microsoft YaHei" panose="020B0503020204020204" pitchFamily="34" charset="-122"/>
                        </a:rPr>
                        <a:t>灌水估计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latin typeface="Microsoft YaHei" panose="020B0503020204020204" pitchFamily="34" charset="-122"/>
                        </a:rPr>
                        <a:t>数据源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515359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FQ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expert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11826.3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6949.1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0.005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50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real_action_amir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641373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FQ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null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12883.5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7050.5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0.004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real_action_amir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26073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HL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expert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377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420.2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missing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50384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HL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null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858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438.6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missing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468826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HL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ppo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-1193.6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363.6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missing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224170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LC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expert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4560.5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3436.8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0.002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0.221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100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real_action_amir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38651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LC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null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6292.3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3569.1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0.224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real_action_amir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910547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SY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expert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4016.9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3157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0.174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100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real_action_amir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5574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SY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null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6060.1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3394.9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0.185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real_action_amir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916934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YC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expert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16119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7187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0.059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50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real_action_amir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98408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YC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null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17321.9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7409.7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0.044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real_action_amir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363226"/>
                  </a:ext>
                </a:extLst>
              </a:tr>
              <a:tr h="312615"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YC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ppo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17002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7353.3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0.048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14.1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latin typeface="Microsoft YaHei" panose="020B0503020204020204" pitchFamily="34" charset="-122"/>
                        </a:rPr>
                        <a:t>real_action_amir</a:t>
                      </a:r>
                      <a:endParaRPr lang="zh-CN" altLang="en-US" sz="80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502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984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F939781-7964-9F32-D1C5-FA62ED6BCA7F}"/>
              </a:ext>
            </a:extLst>
          </p:cNvPr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latin typeface="Microsoft YaHei" panose="020B0503020204020204" pitchFamily="34" charset="-122"/>
              </a:rPr>
              <a:t>导师目标下的后续路线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A4FF6E-265A-B2B4-0A1E-18477FD82FEF}"/>
              </a:ext>
            </a:extLst>
          </p:cNvPr>
          <p:cNvSpPr txBox="1"/>
          <p:nvPr/>
        </p:nvSpPr>
        <p:spPr>
          <a:xfrm>
            <a:off x="698500" y="1397000"/>
            <a:ext cx="10795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湿润</a:t>
            </a:r>
            <a:r>
              <a:rPr lang="en-US" altLang="zh-CN" sz="1600">
                <a:latin typeface="Microsoft YaHei" panose="020B0503020204020204" pitchFamily="34" charset="-122"/>
              </a:rPr>
              <a:t>/</a:t>
            </a:r>
            <a:r>
              <a:rPr lang="zh-CN" altLang="en-US" sz="1600">
                <a:latin typeface="Microsoft YaHei" panose="020B0503020204020204" pitchFamily="34" charset="-122"/>
              </a:rPr>
              <a:t>平衡年份：</a:t>
            </a:r>
            <a:r>
              <a:rPr lang="en-US" altLang="zh-CN" sz="1600">
                <a:latin typeface="Microsoft YaHei" panose="020B0503020204020204" pitchFamily="34" charset="-122"/>
              </a:rPr>
              <a:t>PPO </a:t>
            </a:r>
            <a:r>
              <a:rPr lang="zh-CN" altLang="en-US" sz="1600">
                <a:latin typeface="Microsoft YaHei" panose="020B0503020204020204" pitchFamily="34" charset="-122"/>
              </a:rPr>
              <a:t>应学会接近 </a:t>
            </a:r>
            <a:r>
              <a:rPr lang="en-US" altLang="zh-CN" sz="1600">
                <a:latin typeface="Microsoft YaHei" panose="020B0503020204020204" pitchFamily="34" charset="-122"/>
              </a:rPr>
              <a:t>Null </a:t>
            </a:r>
            <a:r>
              <a:rPr lang="zh-CN" altLang="en-US" sz="1600">
                <a:latin typeface="Microsoft YaHei" panose="020B0503020204020204" pitchFamily="34" charset="-122"/>
              </a:rPr>
              <a:t>的少灌水策略，同时保持产量，这本身就是节水优化结果。</a:t>
            </a:r>
          </a:p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缺水年份</a:t>
            </a:r>
            <a:r>
              <a:rPr lang="en-US" altLang="zh-CN" sz="1600">
                <a:latin typeface="Microsoft YaHei" panose="020B0503020204020204" pitchFamily="34" charset="-122"/>
              </a:rPr>
              <a:t>/</a:t>
            </a:r>
            <a:r>
              <a:rPr lang="zh-CN" altLang="en-US" sz="1600">
                <a:latin typeface="Microsoft YaHei" panose="020B0503020204020204" pitchFamily="34" charset="-122"/>
              </a:rPr>
              <a:t>站点：</a:t>
            </a:r>
            <a:r>
              <a:rPr lang="en-US" altLang="zh-CN" sz="1600">
                <a:latin typeface="Microsoft YaHei" panose="020B0503020204020204" pitchFamily="34" charset="-122"/>
              </a:rPr>
              <a:t>PPO </a:t>
            </a:r>
            <a:r>
              <a:rPr lang="zh-CN" altLang="en-US" sz="1600">
                <a:latin typeface="Microsoft YaHei" panose="020B0503020204020204" pitchFamily="34" charset="-122"/>
              </a:rPr>
              <a:t>应优于 </a:t>
            </a:r>
            <a:r>
              <a:rPr lang="en-US" altLang="zh-CN" sz="1600">
                <a:latin typeface="Microsoft YaHei" panose="020B0503020204020204" pitchFamily="34" charset="-122"/>
              </a:rPr>
              <a:t>Null </a:t>
            </a:r>
            <a:r>
              <a:rPr lang="zh-CN" altLang="en-US" sz="1600">
                <a:latin typeface="Microsoft YaHei" panose="020B0503020204020204" pitchFamily="34" charset="-122"/>
              </a:rPr>
              <a:t>的产量，并比固定 </a:t>
            </a:r>
            <a:r>
              <a:rPr lang="en-US" altLang="zh-CN" sz="1600">
                <a:latin typeface="Microsoft YaHei" panose="020B0503020204020204" pitchFamily="34" charset="-122"/>
              </a:rPr>
              <a:t>Expert </a:t>
            </a:r>
            <a:r>
              <a:rPr lang="zh-CN" altLang="en-US" sz="1600">
                <a:latin typeface="Microsoft YaHei" panose="020B0503020204020204" pitchFamily="34" charset="-122"/>
              </a:rPr>
              <a:t>更少水或更高综合 </a:t>
            </a:r>
            <a:r>
              <a:rPr lang="en-US" altLang="zh-CN" sz="1600">
                <a:latin typeface="Microsoft YaHei" panose="020B0503020204020204" pitchFamily="34" charset="-122"/>
              </a:rPr>
              <a:t>reward</a:t>
            </a:r>
            <a:r>
              <a:rPr lang="zh-CN" altLang="en-US" sz="1600">
                <a:latin typeface="Microsoft YaHei" panose="020B0503020204020204" pitchFamily="34" charset="-122"/>
              </a:rPr>
              <a:t>。</a:t>
            </a:r>
          </a:p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预报接入：第一阶段使用历史天气构造完美预报特征，如未来 </a:t>
            </a:r>
            <a:r>
              <a:rPr lang="en-US" altLang="zh-CN" sz="1600">
                <a:latin typeface="Microsoft YaHei" panose="020B0503020204020204" pitchFamily="34" charset="-122"/>
              </a:rPr>
              <a:t>3/7/14 </a:t>
            </a:r>
            <a:r>
              <a:rPr lang="zh-CN" altLang="en-US" sz="1600">
                <a:latin typeface="Microsoft YaHei" panose="020B0503020204020204" pitchFamily="34" charset="-122"/>
              </a:rPr>
              <a:t>天降雨、温度、辐射统计；第二阶段替换为真实天气预报。</a:t>
            </a:r>
          </a:p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正式论文指标：</a:t>
            </a:r>
            <a:r>
              <a:rPr lang="en-US" altLang="zh-CN" sz="1600">
                <a:latin typeface="Microsoft YaHei" panose="020B0503020204020204" pitchFamily="34" charset="-122"/>
              </a:rPr>
              <a:t>TRNU</a:t>
            </a:r>
            <a:r>
              <a:rPr lang="zh-CN" altLang="en-US" sz="1600">
                <a:latin typeface="Microsoft YaHei" panose="020B0503020204020204" pitchFamily="34" charset="-122"/>
              </a:rPr>
              <a:t>、产量、总施肥、总灌水、</a:t>
            </a:r>
            <a:r>
              <a:rPr lang="en-US" altLang="zh-CN" sz="1600">
                <a:latin typeface="Microsoft YaHei" panose="020B0503020204020204" pitchFamily="34" charset="-122"/>
              </a:rPr>
              <a:t>swfac/turfac </a:t>
            </a:r>
            <a:r>
              <a:rPr lang="zh-CN" altLang="en-US" sz="1600">
                <a:latin typeface="Microsoft YaHei" panose="020B0503020204020204" pitchFamily="34" charset="-122"/>
              </a:rPr>
              <a:t>胁迫天数、氮胁迫 </a:t>
            </a:r>
            <a:r>
              <a:rPr lang="en-US" altLang="zh-CN" sz="1600">
                <a:latin typeface="Microsoft YaHei" panose="020B0503020204020204" pitchFamily="34" charset="-122"/>
              </a:rPr>
              <a:t>nstres</a:t>
            </a:r>
            <a:r>
              <a:rPr lang="zh-CN" altLang="en-US" sz="1600">
                <a:latin typeface="Microsoft YaHei" panose="020B0503020204020204" pitchFamily="34" charset="-122"/>
              </a:rPr>
              <a:t>、</a:t>
            </a:r>
            <a:r>
              <a:rPr lang="en-US" altLang="zh-CN" sz="1600">
                <a:latin typeface="Microsoft YaHei" panose="020B0503020204020204" pitchFamily="34" charset="-122"/>
              </a:rPr>
              <a:t>runoff/cleach </a:t>
            </a:r>
            <a:r>
              <a:rPr lang="zh-CN" altLang="en-US" sz="1600">
                <a:latin typeface="Microsoft YaHei" panose="020B0503020204020204" pitchFamily="34" charset="-122"/>
              </a:rPr>
              <a:t>等环境指标。</a:t>
            </a:r>
          </a:p>
        </p:txBody>
      </p:sp>
    </p:spTree>
    <p:extLst>
      <p:ext uri="{BB962C8B-B14F-4D97-AF65-F5344CB8AC3E}">
        <p14:creationId xmlns:p14="http://schemas.microsoft.com/office/powerpoint/2010/main" val="3879210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34621A8-0054-8942-4B21-8F3728715AAA}"/>
              </a:ext>
            </a:extLst>
          </p:cNvPr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latin typeface="Microsoft YaHei" panose="020B0503020204020204" pitchFamily="34" charset="-122"/>
              </a:rPr>
              <a:t>下一步：五站点水分胁迫诊断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226A0A-C1BE-BC49-9302-0A574F26746C}"/>
              </a:ext>
            </a:extLst>
          </p:cNvPr>
          <p:cNvSpPr txBox="1"/>
          <p:nvPr/>
        </p:nvSpPr>
        <p:spPr>
          <a:xfrm>
            <a:off x="698500" y="1397000"/>
            <a:ext cx="10795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输入文件：</a:t>
            </a:r>
            <a:r>
              <a:rPr lang="en-US" altLang="zh-CN" sz="1600">
                <a:latin typeface="Microsoft YaHei" panose="020B0503020204020204" pitchFamily="34" charset="-122"/>
              </a:rPr>
              <a:t>my_data </a:t>
            </a:r>
            <a:r>
              <a:rPr lang="zh-CN" altLang="en-US" sz="1600">
                <a:latin typeface="Microsoft YaHei" panose="020B0503020204020204" pitchFamily="34" charset="-122"/>
              </a:rPr>
              <a:t>中不带 </a:t>
            </a:r>
            <a:r>
              <a:rPr lang="en-US" altLang="zh-CN" sz="1600">
                <a:latin typeface="Microsoft YaHei" panose="020B0503020204020204" pitchFamily="34" charset="-122"/>
              </a:rPr>
              <a:t>(1) </a:t>
            </a:r>
            <a:r>
              <a:rPr lang="zh-CN" altLang="en-US" sz="1600">
                <a:latin typeface="Microsoft YaHei" panose="020B0503020204020204" pitchFamily="34" charset="-122"/>
              </a:rPr>
              <a:t>的 </a:t>
            </a:r>
            <a:r>
              <a:rPr lang="en-US" altLang="zh-CN" sz="1600">
                <a:latin typeface="Microsoft YaHei" panose="020B0503020204020204" pitchFamily="34" charset="-122"/>
              </a:rPr>
              <a:t>UFGA8201-FQ/HL/LC/SY/YC.jinja2</a:t>
            </a:r>
            <a:r>
              <a:rPr lang="zh-CN" altLang="en-US" sz="1600">
                <a:latin typeface="Microsoft YaHei" panose="020B0503020204020204" pitchFamily="34" charset="-122"/>
              </a:rPr>
              <a:t>、对应 </a:t>
            </a:r>
            <a:r>
              <a:rPr lang="en-US" altLang="zh-CN" sz="1600">
                <a:latin typeface="Microsoft YaHei" panose="020B0503020204020204" pitchFamily="34" charset="-122"/>
              </a:rPr>
              <a:t>WTH</a:t>
            </a:r>
            <a:r>
              <a:rPr lang="zh-CN" altLang="en-US" sz="1600">
                <a:latin typeface="Microsoft YaHei" panose="020B0503020204020204" pitchFamily="34" charset="-122"/>
              </a:rPr>
              <a:t>、对应 </a:t>
            </a:r>
            <a:r>
              <a:rPr lang="en-US" altLang="zh-CN" sz="1600">
                <a:latin typeface="Microsoft YaHei" panose="020B0503020204020204" pitchFamily="34" charset="-122"/>
              </a:rPr>
              <a:t>SOL</a:t>
            </a:r>
            <a:r>
              <a:rPr lang="zh-CN" altLang="en-US" sz="1600">
                <a:latin typeface="Microsoft YaHei" panose="020B0503020204020204" pitchFamily="34" charset="-122"/>
              </a:rPr>
              <a:t>、</a:t>
            </a:r>
            <a:r>
              <a:rPr lang="en-US" altLang="zh-CN" sz="1600">
                <a:latin typeface="Microsoft YaHei" panose="020B0503020204020204" pitchFamily="34" charset="-122"/>
              </a:rPr>
              <a:t>MZCER048.CUL</a:t>
            </a:r>
            <a:r>
              <a:rPr lang="zh-CN" altLang="en-US" sz="1600">
                <a:latin typeface="Microsoft YaHei" panose="020B0503020204020204" pitchFamily="34" charset="-122"/>
              </a:rPr>
              <a:t>。</a:t>
            </a:r>
          </a:p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输出表：</a:t>
            </a:r>
            <a:r>
              <a:rPr lang="en-US" altLang="zh-CN" sz="1600">
                <a:latin typeface="Microsoft YaHei" panose="020B0503020204020204" pitchFamily="34" charset="-122"/>
              </a:rPr>
              <a:t>PRCP</a:t>
            </a:r>
            <a:r>
              <a:rPr lang="zh-CN" altLang="en-US" sz="1600">
                <a:latin typeface="Microsoft YaHei" panose="020B0503020204020204" pitchFamily="34" charset="-122"/>
              </a:rPr>
              <a:t>、</a:t>
            </a:r>
            <a:r>
              <a:rPr lang="en-US" altLang="zh-CN" sz="1600">
                <a:latin typeface="Microsoft YaHei" panose="020B0503020204020204" pitchFamily="34" charset="-122"/>
              </a:rPr>
              <a:t>ETCP</a:t>
            </a:r>
            <a:r>
              <a:rPr lang="zh-CN" altLang="en-US" sz="1600">
                <a:latin typeface="Microsoft YaHei" panose="020B0503020204020204" pitchFamily="34" charset="-122"/>
              </a:rPr>
              <a:t>、</a:t>
            </a:r>
            <a:r>
              <a:rPr lang="en-US" altLang="zh-CN" sz="1600">
                <a:latin typeface="Microsoft YaHei" panose="020B0503020204020204" pitchFamily="34" charset="-122"/>
              </a:rPr>
              <a:t>PRCP-ETCP</a:t>
            </a:r>
            <a:r>
              <a:rPr lang="zh-CN" altLang="en-US" sz="1600">
                <a:latin typeface="Microsoft YaHei" panose="020B0503020204020204" pitchFamily="34" charset="-122"/>
              </a:rPr>
              <a:t>、</a:t>
            </a:r>
            <a:r>
              <a:rPr lang="en-US" altLang="zh-CN" sz="1600">
                <a:latin typeface="Microsoft YaHei" panose="020B0503020204020204" pitchFamily="34" charset="-122"/>
              </a:rPr>
              <a:t>swfac/turfac </a:t>
            </a:r>
            <a:r>
              <a:rPr lang="zh-CN" altLang="en-US" sz="1600">
                <a:latin typeface="Microsoft YaHei" panose="020B0503020204020204" pitchFamily="34" charset="-122"/>
              </a:rPr>
              <a:t>胁迫天数、最小 </a:t>
            </a:r>
            <a:r>
              <a:rPr lang="en-US" altLang="zh-CN" sz="1600">
                <a:latin typeface="Microsoft YaHei" panose="020B0503020204020204" pitchFamily="34" charset="-122"/>
              </a:rPr>
              <a:t>swfac</a:t>
            </a:r>
            <a:r>
              <a:rPr lang="zh-CN" altLang="en-US" sz="1600">
                <a:latin typeface="Microsoft YaHei" panose="020B0503020204020204" pitchFamily="34" charset="-122"/>
              </a:rPr>
              <a:t>、平均 </a:t>
            </a:r>
            <a:r>
              <a:rPr lang="en-US" altLang="zh-CN" sz="1600">
                <a:latin typeface="Microsoft YaHei" panose="020B0503020204020204" pitchFamily="34" charset="-122"/>
              </a:rPr>
              <a:t>nstres</a:t>
            </a:r>
            <a:r>
              <a:rPr lang="zh-CN" altLang="en-US" sz="1600">
                <a:latin typeface="Microsoft YaHei" panose="020B0503020204020204" pitchFamily="34" charset="-122"/>
              </a:rPr>
              <a:t>、产量、</a:t>
            </a:r>
            <a:r>
              <a:rPr lang="en-US" altLang="zh-CN" sz="1600">
                <a:latin typeface="Microsoft YaHei" panose="020B0503020204020204" pitchFamily="34" charset="-122"/>
              </a:rPr>
              <a:t>Null/Expert </a:t>
            </a:r>
            <a:r>
              <a:rPr lang="zh-CN" altLang="en-US" sz="1600">
                <a:latin typeface="Microsoft YaHei" panose="020B0503020204020204" pitchFamily="34" charset="-122"/>
              </a:rPr>
              <a:t>灌水量。</a:t>
            </a:r>
          </a:p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判断标准：若某站点 </a:t>
            </a:r>
            <a:r>
              <a:rPr lang="en-US" altLang="zh-CN" sz="1600">
                <a:latin typeface="Microsoft YaHei" panose="020B0503020204020204" pitchFamily="34" charset="-122"/>
              </a:rPr>
              <a:t>PRCP&lt;ETCP </a:t>
            </a:r>
            <a:r>
              <a:rPr lang="zh-CN" altLang="en-US" sz="1600">
                <a:latin typeface="Microsoft YaHei" panose="020B0503020204020204" pitchFamily="34" charset="-122"/>
              </a:rPr>
              <a:t>且 </a:t>
            </a:r>
            <a:r>
              <a:rPr lang="en-US" altLang="zh-CN" sz="1600">
                <a:latin typeface="Microsoft YaHei" panose="020B0503020204020204" pitchFamily="34" charset="-122"/>
              </a:rPr>
              <a:t>DSSAT </a:t>
            </a:r>
            <a:r>
              <a:rPr lang="zh-CN" altLang="en-US" sz="1600">
                <a:latin typeface="Microsoft YaHei" panose="020B0503020204020204" pitchFamily="34" charset="-122"/>
              </a:rPr>
              <a:t>胁迫天数明显，但 </a:t>
            </a:r>
            <a:r>
              <a:rPr lang="en-US" altLang="zh-CN" sz="1600">
                <a:latin typeface="Microsoft YaHei" panose="020B0503020204020204" pitchFamily="34" charset="-122"/>
              </a:rPr>
              <a:t>Null </a:t>
            </a:r>
            <a:r>
              <a:rPr lang="zh-CN" altLang="en-US" sz="1600">
                <a:latin typeface="Microsoft YaHei" panose="020B0503020204020204" pitchFamily="34" charset="-122"/>
              </a:rPr>
              <a:t>仍最好，则优先检查初始土壤水、灌溉动作、</a:t>
            </a:r>
            <a:r>
              <a:rPr lang="en-US" altLang="zh-CN" sz="1600">
                <a:latin typeface="Microsoft YaHei" panose="020B0503020204020204" pitchFamily="34" charset="-122"/>
              </a:rPr>
              <a:t>reward </a:t>
            </a:r>
            <a:r>
              <a:rPr lang="zh-CN" altLang="en-US" sz="1600">
                <a:latin typeface="Microsoft YaHei" panose="020B0503020204020204" pitchFamily="34" charset="-122"/>
              </a:rPr>
              <a:t>与输出记录。</a:t>
            </a:r>
          </a:p>
          <a:p>
            <a:r>
              <a:rPr lang="en-US" altLang="zh-CN" sz="1600"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latin typeface="Microsoft YaHei" panose="020B0503020204020204" pitchFamily="34" charset="-122"/>
              </a:rPr>
              <a:t>若五站点均无明显水分胁迫，则新增干旱情景或寻找干旱年份，作为灌溉策略能力验证场景。</a:t>
            </a:r>
          </a:p>
        </p:txBody>
      </p:sp>
    </p:spTree>
    <p:extLst>
      <p:ext uri="{BB962C8B-B14F-4D97-AF65-F5344CB8AC3E}">
        <p14:creationId xmlns:p14="http://schemas.microsoft.com/office/powerpoint/2010/main" val="2646746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6B49A40-7BA3-B7FE-F881-5C249DA5F3CD}"/>
              </a:ext>
            </a:extLst>
          </p:cNvPr>
          <p:cNvSpPr txBox="1"/>
          <p:nvPr/>
        </p:nvSpPr>
        <p:spPr>
          <a:xfrm>
            <a:off x="482600" y="279400"/>
            <a:ext cx="1117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500" b="1">
                <a:latin typeface="Microsoft YaHei" panose="020B0503020204020204" pitchFamily="34" charset="-122"/>
              </a:rPr>
              <a:t>文件索引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35B8B6-F2CC-F179-90C6-04A43ED0BF9D}"/>
              </a:ext>
            </a:extLst>
          </p:cNvPr>
          <p:cNvSpPr txBox="1"/>
          <p:nvPr/>
        </p:nvSpPr>
        <p:spPr>
          <a:xfrm>
            <a:off x="698500" y="1422400"/>
            <a:ext cx="10795000" cy="12464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latin typeface="Microsoft YaHei" panose="020B0503020204020204" pitchFamily="34" charset="-122"/>
              </a:rPr>
              <a:t>参数排序：</a:t>
            </a:r>
            <a:r>
              <a:rPr lang="en-US" altLang="zh-CN" sz="1500">
                <a:latin typeface="Microsoft YaHei" panose="020B0503020204020204" pitchFamily="34" charset="-122"/>
              </a:rPr>
              <a:t>output_hl/all_reward_sweep/combined_ppo_ranking.csv</a:t>
            </a:r>
          </a:p>
          <a:p>
            <a:r>
              <a:rPr lang="en-US" altLang="zh-CN" sz="1500"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latin typeface="Microsoft YaHei" panose="020B0503020204020204" pitchFamily="34" charset="-122"/>
              </a:rPr>
              <a:t>灌溉异常说明：</a:t>
            </a:r>
            <a:r>
              <a:rPr lang="en-US" altLang="zh-CN" sz="1500">
                <a:latin typeface="Microsoft YaHei" panose="020B0503020204020204" pitchFamily="34" charset="-122"/>
              </a:rPr>
              <a:t>docs/irrigation_null_expert_analysis.md</a:t>
            </a:r>
          </a:p>
          <a:p>
            <a:r>
              <a:rPr lang="en-US" altLang="zh-CN" sz="1500"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latin typeface="Microsoft YaHei" panose="020B0503020204020204" pitchFamily="34" charset="-122"/>
              </a:rPr>
              <a:t>多站点新增脚本：</a:t>
            </a:r>
            <a:r>
              <a:rPr lang="en-US" altLang="zh-CN" sz="1500">
                <a:latin typeface="Microsoft YaHei" panose="020B0503020204020204" pitchFamily="34" charset="-122"/>
              </a:rPr>
              <a:t>train_hl_all_multisite.py</a:t>
            </a:r>
            <a:r>
              <a:rPr lang="zh-CN" altLang="en-US" sz="1500">
                <a:latin typeface="Microsoft YaHei" panose="020B0503020204020204" pitchFamily="34" charset="-122"/>
              </a:rPr>
              <a:t>、</a:t>
            </a:r>
            <a:r>
              <a:rPr lang="en-US" altLang="zh-CN" sz="1500">
                <a:latin typeface="Microsoft YaHei" panose="020B0503020204020204" pitchFamily="34" charset="-122"/>
              </a:rPr>
              <a:t>evaluate_hl_all_multisite.py</a:t>
            </a:r>
            <a:r>
              <a:rPr lang="zh-CN" altLang="en-US" sz="1500">
                <a:latin typeface="Microsoft YaHei" panose="020B0503020204020204" pitchFamily="34" charset="-122"/>
              </a:rPr>
              <a:t>、</a:t>
            </a:r>
            <a:r>
              <a:rPr lang="en-US" altLang="zh-CN" sz="1500">
                <a:latin typeface="Microsoft YaHei" panose="020B0503020204020204" pitchFamily="34" charset="-122"/>
              </a:rPr>
              <a:t>dssat_site_config.py</a:t>
            </a:r>
          </a:p>
          <a:p>
            <a:r>
              <a:rPr lang="en-US" altLang="zh-CN" sz="1500"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latin typeface="Microsoft YaHei" panose="020B0503020204020204" pitchFamily="34" charset="-122"/>
              </a:rPr>
              <a:t>旧结果诊断：</a:t>
            </a:r>
            <a:r>
              <a:rPr lang="en-US" altLang="zh-CN" sz="1500">
                <a:latin typeface="Microsoft YaHei" panose="020B0503020204020204" pitchFamily="34" charset="-122"/>
              </a:rPr>
              <a:t>analyze_irrigation_outputs.py</a:t>
            </a:r>
            <a:r>
              <a:rPr lang="zh-CN" altLang="en-US" sz="1500">
                <a:latin typeface="Microsoft YaHei" panose="020B0503020204020204" pitchFamily="34" charset="-122"/>
              </a:rPr>
              <a:t>、</a:t>
            </a:r>
            <a:r>
              <a:rPr lang="en-US" altLang="zh-CN" sz="1500">
                <a:latin typeface="Microsoft YaHei" panose="020B0503020204020204" pitchFamily="34" charset="-122"/>
              </a:rPr>
              <a:t>output_hl/diagnostics/irrigation_policy_summary.csv</a:t>
            </a:r>
          </a:p>
          <a:p>
            <a:r>
              <a:rPr lang="en-US" altLang="zh-CN" sz="1500"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latin typeface="Microsoft YaHei" panose="020B0503020204020204" pitchFamily="34" charset="-122"/>
              </a:rPr>
              <a:t>本 </a:t>
            </a:r>
            <a:r>
              <a:rPr lang="en-US" altLang="zh-CN" sz="1500">
                <a:latin typeface="Microsoft YaHei" panose="020B0503020204020204" pitchFamily="34" charset="-122"/>
              </a:rPr>
              <a:t>PPT </a:t>
            </a:r>
            <a:r>
              <a:rPr lang="zh-CN" altLang="en-US" sz="1500">
                <a:latin typeface="Microsoft YaHei" panose="020B0503020204020204" pitchFamily="34" charset="-122"/>
              </a:rPr>
              <a:t>源脚本：</a:t>
            </a:r>
            <a:r>
              <a:rPr lang="en-US" altLang="zh-CN" sz="1500">
                <a:latin typeface="Microsoft YaHei" panose="020B0503020204020204" pitchFamily="34" charset="-122"/>
              </a:rPr>
              <a:t>tools/create_experiment_record_ppt.ps1</a:t>
            </a:r>
            <a:endParaRPr lang="zh-CN" altLang="en-US" sz="1500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4239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1344</Words>
  <Application>Microsoft Office PowerPoint</Application>
  <PresentationFormat>宽屏</PresentationFormat>
  <Paragraphs>197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雨秋 杜</dc:creator>
  <cp:lastModifiedBy>雨秋 杜</cp:lastModifiedBy>
  <cp:revision>1</cp:revision>
  <dcterms:created xsi:type="dcterms:W3CDTF">2026-06-01T07:52:35Z</dcterms:created>
  <dcterms:modified xsi:type="dcterms:W3CDTF">2026-06-01T07:52:35Z</dcterms:modified>
</cp:coreProperties>
</file>