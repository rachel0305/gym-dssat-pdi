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0" d="100"/>
          <a:sy n="30" d="100"/>
        </p:scale>
        <p:origin x="336"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C14E9A-A67E-5E02-4A12-DE327FFDA5E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C3C9D46-6FCF-D417-A8CD-96E96BBE1B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496E205-8517-7551-0885-B9235A3F7B64}"/>
              </a:ext>
            </a:extLst>
          </p:cNvPr>
          <p:cNvSpPr>
            <a:spLocks noGrp="1"/>
          </p:cNvSpPr>
          <p:nvPr>
            <p:ph type="dt" sz="half" idx="10"/>
          </p:nvPr>
        </p:nvSpPr>
        <p:spPr/>
        <p:txBody>
          <a:bodyPr/>
          <a:lstStyle/>
          <a:p>
            <a:fld id="{07A0AD1E-801F-4352-A493-410DB39E3597}" type="datetimeFigureOut">
              <a:rPr lang="zh-CN" altLang="en-US" smtClean="0"/>
              <a:t>06/01/2026</a:t>
            </a:fld>
            <a:endParaRPr lang="zh-CN" altLang="en-US"/>
          </a:p>
        </p:txBody>
      </p:sp>
      <p:sp>
        <p:nvSpPr>
          <p:cNvPr id="5" name="页脚占位符 4">
            <a:extLst>
              <a:ext uri="{FF2B5EF4-FFF2-40B4-BE49-F238E27FC236}">
                <a16:creationId xmlns:a16="http://schemas.microsoft.com/office/drawing/2014/main" id="{1AD0291A-03E7-2F96-56DF-8255A984EC7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2434384-8A87-7AE5-BEBD-662342B6CB12}"/>
              </a:ext>
            </a:extLst>
          </p:cNvPr>
          <p:cNvSpPr>
            <a:spLocks noGrp="1"/>
          </p:cNvSpPr>
          <p:nvPr>
            <p:ph type="sldNum" sz="quarter" idx="12"/>
          </p:nvPr>
        </p:nvSpPr>
        <p:spPr/>
        <p:txBody>
          <a:bodyPr/>
          <a:lstStyle/>
          <a:p>
            <a:fld id="{A2491E17-C12C-4E89-B753-EE113A8DDE3A}" type="slidenum">
              <a:rPr lang="zh-CN" altLang="en-US" smtClean="0"/>
              <a:t>‹#›</a:t>
            </a:fld>
            <a:endParaRPr lang="zh-CN" altLang="en-US"/>
          </a:p>
        </p:txBody>
      </p:sp>
    </p:spTree>
    <p:extLst>
      <p:ext uri="{BB962C8B-B14F-4D97-AF65-F5344CB8AC3E}">
        <p14:creationId xmlns:p14="http://schemas.microsoft.com/office/powerpoint/2010/main" val="2271310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750441-29D9-FDA1-DD4E-EEAD5A663A6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89CC1B1-3052-F1D8-D41C-F84A22FCEEC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57FC3C9-5129-468A-262C-C276DFF0BA6D}"/>
              </a:ext>
            </a:extLst>
          </p:cNvPr>
          <p:cNvSpPr>
            <a:spLocks noGrp="1"/>
          </p:cNvSpPr>
          <p:nvPr>
            <p:ph type="dt" sz="half" idx="10"/>
          </p:nvPr>
        </p:nvSpPr>
        <p:spPr/>
        <p:txBody>
          <a:bodyPr/>
          <a:lstStyle/>
          <a:p>
            <a:fld id="{07A0AD1E-801F-4352-A493-410DB39E3597}" type="datetimeFigureOut">
              <a:rPr lang="zh-CN" altLang="en-US" smtClean="0"/>
              <a:t>06/01/2026</a:t>
            </a:fld>
            <a:endParaRPr lang="zh-CN" altLang="en-US"/>
          </a:p>
        </p:txBody>
      </p:sp>
      <p:sp>
        <p:nvSpPr>
          <p:cNvPr id="5" name="页脚占位符 4">
            <a:extLst>
              <a:ext uri="{FF2B5EF4-FFF2-40B4-BE49-F238E27FC236}">
                <a16:creationId xmlns:a16="http://schemas.microsoft.com/office/drawing/2014/main" id="{3C03D3E5-EEFB-4706-8CE3-E53C7587D2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423326B-F1CD-11B2-0B39-3AC20BF631BA}"/>
              </a:ext>
            </a:extLst>
          </p:cNvPr>
          <p:cNvSpPr>
            <a:spLocks noGrp="1"/>
          </p:cNvSpPr>
          <p:nvPr>
            <p:ph type="sldNum" sz="quarter" idx="12"/>
          </p:nvPr>
        </p:nvSpPr>
        <p:spPr/>
        <p:txBody>
          <a:bodyPr/>
          <a:lstStyle/>
          <a:p>
            <a:fld id="{A2491E17-C12C-4E89-B753-EE113A8DDE3A}" type="slidenum">
              <a:rPr lang="zh-CN" altLang="en-US" smtClean="0"/>
              <a:t>‹#›</a:t>
            </a:fld>
            <a:endParaRPr lang="zh-CN" altLang="en-US"/>
          </a:p>
        </p:txBody>
      </p:sp>
    </p:spTree>
    <p:extLst>
      <p:ext uri="{BB962C8B-B14F-4D97-AF65-F5344CB8AC3E}">
        <p14:creationId xmlns:p14="http://schemas.microsoft.com/office/powerpoint/2010/main" val="1248603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2BEDE7-294C-5CB8-44E9-51AB69BC699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62E9DC6-3837-6AA1-294C-77FB0BCD6C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14092B7-4E28-D3BF-1383-4BF79C704D76}"/>
              </a:ext>
            </a:extLst>
          </p:cNvPr>
          <p:cNvSpPr>
            <a:spLocks noGrp="1"/>
          </p:cNvSpPr>
          <p:nvPr>
            <p:ph type="dt" sz="half" idx="10"/>
          </p:nvPr>
        </p:nvSpPr>
        <p:spPr/>
        <p:txBody>
          <a:bodyPr/>
          <a:lstStyle/>
          <a:p>
            <a:fld id="{07A0AD1E-801F-4352-A493-410DB39E3597}" type="datetimeFigureOut">
              <a:rPr lang="zh-CN" altLang="en-US" smtClean="0"/>
              <a:t>06/01/2026</a:t>
            </a:fld>
            <a:endParaRPr lang="zh-CN" altLang="en-US"/>
          </a:p>
        </p:txBody>
      </p:sp>
      <p:sp>
        <p:nvSpPr>
          <p:cNvPr id="5" name="页脚占位符 4">
            <a:extLst>
              <a:ext uri="{FF2B5EF4-FFF2-40B4-BE49-F238E27FC236}">
                <a16:creationId xmlns:a16="http://schemas.microsoft.com/office/drawing/2014/main" id="{D1769A2E-CCE4-0F7A-F654-630D0C368EC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FD9E0A3-1FA7-F7C9-58E9-EADE22CB83CF}"/>
              </a:ext>
            </a:extLst>
          </p:cNvPr>
          <p:cNvSpPr>
            <a:spLocks noGrp="1"/>
          </p:cNvSpPr>
          <p:nvPr>
            <p:ph type="sldNum" sz="quarter" idx="12"/>
          </p:nvPr>
        </p:nvSpPr>
        <p:spPr/>
        <p:txBody>
          <a:bodyPr/>
          <a:lstStyle/>
          <a:p>
            <a:fld id="{A2491E17-C12C-4E89-B753-EE113A8DDE3A}" type="slidenum">
              <a:rPr lang="zh-CN" altLang="en-US" smtClean="0"/>
              <a:t>‹#›</a:t>
            </a:fld>
            <a:endParaRPr lang="zh-CN" altLang="en-US"/>
          </a:p>
        </p:txBody>
      </p:sp>
    </p:spTree>
    <p:extLst>
      <p:ext uri="{BB962C8B-B14F-4D97-AF65-F5344CB8AC3E}">
        <p14:creationId xmlns:p14="http://schemas.microsoft.com/office/powerpoint/2010/main" val="2746404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832B94-33A0-1C1D-0B7F-DBC1E2FBD8E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02B6CDF-C64C-BA5B-B589-94771AABB1D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278F4CD-2C7E-203A-8AE7-1263B28BDBC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515254B-298F-5B5E-FC97-6D46BDE2F9B9}"/>
              </a:ext>
            </a:extLst>
          </p:cNvPr>
          <p:cNvSpPr>
            <a:spLocks noGrp="1"/>
          </p:cNvSpPr>
          <p:nvPr>
            <p:ph type="dt" sz="half" idx="10"/>
          </p:nvPr>
        </p:nvSpPr>
        <p:spPr/>
        <p:txBody>
          <a:bodyPr/>
          <a:lstStyle/>
          <a:p>
            <a:fld id="{07A0AD1E-801F-4352-A493-410DB39E3597}" type="datetimeFigureOut">
              <a:rPr lang="zh-CN" altLang="en-US" smtClean="0"/>
              <a:t>06/01/2026</a:t>
            </a:fld>
            <a:endParaRPr lang="zh-CN" altLang="en-US"/>
          </a:p>
        </p:txBody>
      </p:sp>
      <p:sp>
        <p:nvSpPr>
          <p:cNvPr id="6" name="页脚占位符 5">
            <a:extLst>
              <a:ext uri="{FF2B5EF4-FFF2-40B4-BE49-F238E27FC236}">
                <a16:creationId xmlns:a16="http://schemas.microsoft.com/office/drawing/2014/main" id="{F0E753C5-04D3-37E6-7F37-D2633D8EF40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B1F1333-DDF0-2091-6D84-4BE43B99BB0D}"/>
              </a:ext>
            </a:extLst>
          </p:cNvPr>
          <p:cNvSpPr>
            <a:spLocks noGrp="1"/>
          </p:cNvSpPr>
          <p:nvPr>
            <p:ph type="sldNum" sz="quarter" idx="12"/>
          </p:nvPr>
        </p:nvSpPr>
        <p:spPr/>
        <p:txBody>
          <a:bodyPr/>
          <a:lstStyle/>
          <a:p>
            <a:fld id="{A2491E17-C12C-4E89-B753-EE113A8DDE3A}" type="slidenum">
              <a:rPr lang="zh-CN" altLang="en-US" smtClean="0"/>
              <a:t>‹#›</a:t>
            </a:fld>
            <a:endParaRPr lang="zh-CN" altLang="en-US"/>
          </a:p>
        </p:txBody>
      </p:sp>
    </p:spTree>
    <p:extLst>
      <p:ext uri="{BB962C8B-B14F-4D97-AF65-F5344CB8AC3E}">
        <p14:creationId xmlns:p14="http://schemas.microsoft.com/office/powerpoint/2010/main" val="501469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F3F0D2-BED0-6900-DDD2-63A32C4901F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135D773-12F4-359A-4BC3-5786A82679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CDDF5FB-7144-61B6-AEB1-12FF3536B8A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65A29AD-F1CA-B633-416A-9773EE4102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A466B7D-90AD-5C1C-6AD1-4CC919D6F63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DD8A670-5C54-90AE-42C8-D1B24D344B35}"/>
              </a:ext>
            </a:extLst>
          </p:cNvPr>
          <p:cNvSpPr>
            <a:spLocks noGrp="1"/>
          </p:cNvSpPr>
          <p:nvPr>
            <p:ph type="dt" sz="half" idx="10"/>
          </p:nvPr>
        </p:nvSpPr>
        <p:spPr/>
        <p:txBody>
          <a:bodyPr/>
          <a:lstStyle/>
          <a:p>
            <a:fld id="{07A0AD1E-801F-4352-A493-410DB39E3597}" type="datetimeFigureOut">
              <a:rPr lang="zh-CN" altLang="en-US" smtClean="0"/>
              <a:t>06/01/2026</a:t>
            </a:fld>
            <a:endParaRPr lang="zh-CN" altLang="en-US"/>
          </a:p>
        </p:txBody>
      </p:sp>
      <p:sp>
        <p:nvSpPr>
          <p:cNvPr id="8" name="页脚占位符 7">
            <a:extLst>
              <a:ext uri="{FF2B5EF4-FFF2-40B4-BE49-F238E27FC236}">
                <a16:creationId xmlns:a16="http://schemas.microsoft.com/office/drawing/2014/main" id="{D6D2B3F6-66F5-B32D-2035-72B96A53A04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9E89BA4-F265-C20A-45A3-03CB85AABBB6}"/>
              </a:ext>
            </a:extLst>
          </p:cNvPr>
          <p:cNvSpPr>
            <a:spLocks noGrp="1"/>
          </p:cNvSpPr>
          <p:nvPr>
            <p:ph type="sldNum" sz="quarter" idx="12"/>
          </p:nvPr>
        </p:nvSpPr>
        <p:spPr/>
        <p:txBody>
          <a:bodyPr/>
          <a:lstStyle/>
          <a:p>
            <a:fld id="{A2491E17-C12C-4E89-B753-EE113A8DDE3A}" type="slidenum">
              <a:rPr lang="zh-CN" altLang="en-US" smtClean="0"/>
              <a:t>‹#›</a:t>
            </a:fld>
            <a:endParaRPr lang="zh-CN" altLang="en-US"/>
          </a:p>
        </p:txBody>
      </p:sp>
    </p:spTree>
    <p:extLst>
      <p:ext uri="{BB962C8B-B14F-4D97-AF65-F5344CB8AC3E}">
        <p14:creationId xmlns:p14="http://schemas.microsoft.com/office/powerpoint/2010/main" val="1194911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2B65B-D870-37C2-3810-2E36700A609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2FAB71A-9F6B-D378-DE58-43B51FCA7799}"/>
              </a:ext>
            </a:extLst>
          </p:cNvPr>
          <p:cNvSpPr>
            <a:spLocks noGrp="1"/>
          </p:cNvSpPr>
          <p:nvPr>
            <p:ph type="dt" sz="half" idx="10"/>
          </p:nvPr>
        </p:nvSpPr>
        <p:spPr/>
        <p:txBody>
          <a:bodyPr/>
          <a:lstStyle/>
          <a:p>
            <a:fld id="{07A0AD1E-801F-4352-A493-410DB39E3597}" type="datetimeFigureOut">
              <a:rPr lang="zh-CN" altLang="en-US" smtClean="0"/>
              <a:t>06/01/2026</a:t>
            </a:fld>
            <a:endParaRPr lang="zh-CN" altLang="en-US"/>
          </a:p>
        </p:txBody>
      </p:sp>
      <p:sp>
        <p:nvSpPr>
          <p:cNvPr id="4" name="页脚占位符 3">
            <a:extLst>
              <a:ext uri="{FF2B5EF4-FFF2-40B4-BE49-F238E27FC236}">
                <a16:creationId xmlns:a16="http://schemas.microsoft.com/office/drawing/2014/main" id="{C0A4F961-237B-1255-2E6F-95FE85C5FF5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4C191D0-2507-ACF4-E181-8CFF95DA9EF6}"/>
              </a:ext>
            </a:extLst>
          </p:cNvPr>
          <p:cNvSpPr>
            <a:spLocks noGrp="1"/>
          </p:cNvSpPr>
          <p:nvPr>
            <p:ph type="sldNum" sz="quarter" idx="12"/>
          </p:nvPr>
        </p:nvSpPr>
        <p:spPr/>
        <p:txBody>
          <a:bodyPr/>
          <a:lstStyle/>
          <a:p>
            <a:fld id="{A2491E17-C12C-4E89-B753-EE113A8DDE3A}" type="slidenum">
              <a:rPr lang="zh-CN" altLang="en-US" smtClean="0"/>
              <a:t>‹#›</a:t>
            </a:fld>
            <a:endParaRPr lang="zh-CN" altLang="en-US"/>
          </a:p>
        </p:txBody>
      </p:sp>
    </p:spTree>
    <p:extLst>
      <p:ext uri="{BB962C8B-B14F-4D97-AF65-F5344CB8AC3E}">
        <p14:creationId xmlns:p14="http://schemas.microsoft.com/office/powerpoint/2010/main" val="1158364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91AB122-F100-4F39-E898-D337520957C7}"/>
              </a:ext>
            </a:extLst>
          </p:cNvPr>
          <p:cNvSpPr>
            <a:spLocks noGrp="1"/>
          </p:cNvSpPr>
          <p:nvPr>
            <p:ph type="dt" sz="half" idx="10"/>
          </p:nvPr>
        </p:nvSpPr>
        <p:spPr/>
        <p:txBody>
          <a:bodyPr/>
          <a:lstStyle/>
          <a:p>
            <a:fld id="{07A0AD1E-801F-4352-A493-410DB39E3597}" type="datetimeFigureOut">
              <a:rPr lang="zh-CN" altLang="en-US" smtClean="0"/>
              <a:t>06/01/2026</a:t>
            </a:fld>
            <a:endParaRPr lang="zh-CN" altLang="en-US"/>
          </a:p>
        </p:txBody>
      </p:sp>
      <p:sp>
        <p:nvSpPr>
          <p:cNvPr id="3" name="页脚占位符 2">
            <a:extLst>
              <a:ext uri="{FF2B5EF4-FFF2-40B4-BE49-F238E27FC236}">
                <a16:creationId xmlns:a16="http://schemas.microsoft.com/office/drawing/2014/main" id="{EF1AD0D7-43E7-5D5C-AF83-8F626FAA550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89A15D9-887E-10E5-307A-4769F205EA21}"/>
              </a:ext>
            </a:extLst>
          </p:cNvPr>
          <p:cNvSpPr>
            <a:spLocks noGrp="1"/>
          </p:cNvSpPr>
          <p:nvPr>
            <p:ph type="sldNum" sz="quarter" idx="12"/>
          </p:nvPr>
        </p:nvSpPr>
        <p:spPr/>
        <p:txBody>
          <a:bodyPr/>
          <a:lstStyle/>
          <a:p>
            <a:fld id="{A2491E17-C12C-4E89-B753-EE113A8DDE3A}" type="slidenum">
              <a:rPr lang="zh-CN" altLang="en-US" smtClean="0"/>
              <a:t>‹#›</a:t>
            </a:fld>
            <a:endParaRPr lang="zh-CN" altLang="en-US"/>
          </a:p>
        </p:txBody>
      </p:sp>
    </p:spTree>
    <p:extLst>
      <p:ext uri="{BB962C8B-B14F-4D97-AF65-F5344CB8AC3E}">
        <p14:creationId xmlns:p14="http://schemas.microsoft.com/office/powerpoint/2010/main" val="3669925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5BC21C-4A05-7FF5-7327-16028904B47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5A0F8B0-9FCB-A97A-D1E3-D80FACB221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5543ADB-83ED-2DE0-C8E5-3F71D60FF4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3204F2A-9D0A-AC42-29AB-180D23FD0A91}"/>
              </a:ext>
            </a:extLst>
          </p:cNvPr>
          <p:cNvSpPr>
            <a:spLocks noGrp="1"/>
          </p:cNvSpPr>
          <p:nvPr>
            <p:ph type="dt" sz="half" idx="10"/>
          </p:nvPr>
        </p:nvSpPr>
        <p:spPr/>
        <p:txBody>
          <a:bodyPr/>
          <a:lstStyle/>
          <a:p>
            <a:fld id="{07A0AD1E-801F-4352-A493-410DB39E3597}" type="datetimeFigureOut">
              <a:rPr lang="zh-CN" altLang="en-US" smtClean="0"/>
              <a:t>06/01/2026</a:t>
            </a:fld>
            <a:endParaRPr lang="zh-CN" altLang="en-US"/>
          </a:p>
        </p:txBody>
      </p:sp>
      <p:sp>
        <p:nvSpPr>
          <p:cNvPr id="6" name="页脚占位符 5">
            <a:extLst>
              <a:ext uri="{FF2B5EF4-FFF2-40B4-BE49-F238E27FC236}">
                <a16:creationId xmlns:a16="http://schemas.microsoft.com/office/drawing/2014/main" id="{956618AC-597F-1417-B75B-8962DBD5259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A865005-DECE-BC71-0515-38C06B950960}"/>
              </a:ext>
            </a:extLst>
          </p:cNvPr>
          <p:cNvSpPr>
            <a:spLocks noGrp="1"/>
          </p:cNvSpPr>
          <p:nvPr>
            <p:ph type="sldNum" sz="quarter" idx="12"/>
          </p:nvPr>
        </p:nvSpPr>
        <p:spPr/>
        <p:txBody>
          <a:bodyPr/>
          <a:lstStyle/>
          <a:p>
            <a:fld id="{A2491E17-C12C-4E89-B753-EE113A8DDE3A}" type="slidenum">
              <a:rPr lang="zh-CN" altLang="en-US" smtClean="0"/>
              <a:t>‹#›</a:t>
            </a:fld>
            <a:endParaRPr lang="zh-CN" altLang="en-US"/>
          </a:p>
        </p:txBody>
      </p:sp>
    </p:spTree>
    <p:extLst>
      <p:ext uri="{BB962C8B-B14F-4D97-AF65-F5344CB8AC3E}">
        <p14:creationId xmlns:p14="http://schemas.microsoft.com/office/powerpoint/2010/main" val="2441059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93BE8A-D72D-5F7C-45B9-A3C1E388D4B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ACCC30F-3F7F-8DA8-F098-56F4B2ACB0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D73E3F5-6DDF-8375-7C7E-1B0B904AB5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54518BB-7C2E-F618-2A19-4A6A4B4253ED}"/>
              </a:ext>
            </a:extLst>
          </p:cNvPr>
          <p:cNvSpPr>
            <a:spLocks noGrp="1"/>
          </p:cNvSpPr>
          <p:nvPr>
            <p:ph type="dt" sz="half" idx="10"/>
          </p:nvPr>
        </p:nvSpPr>
        <p:spPr/>
        <p:txBody>
          <a:bodyPr/>
          <a:lstStyle/>
          <a:p>
            <a:fld id="{07A0AD1E-801F-4352-A493-410DB39E3597}" type="datetimeFigureOut">
              <a:rPr lang="zh-CN" altLang="en-US" smtClean="0"/>
              <a:t>06/01/2026</a:t>
            </a:fld>
            <a:endParaRPr lang="zh-CN" altLang="en-US"/>
          </a:p>
        </p:txBody>
      </p:sp>
      <p:sp>
        <p:nvSpPr>
          <p:cNvPr id="6" name="页脚占位符 5">
            <a:extLst>
              <a:ext uri="{FF2B5EF4-FFF2-40B4-BE49-F238E27FC236}">
                <a16:creationId xmlns:a16="http://schemas.microsoft.com/office/drawing/2014/main" id="{78B845A0-189F-7841-9A06-886DD760891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17F4680-F7EE-5ABF-F772-E3D0C87FB8B7}"/>
              </a:ext>
            </a:extLst>
          </p:cNvPr>
          <p:cNvSpPr>
            <a:spLocks noGrp="1"/>
          </p:cNvSpPr>
          <p:nvPr>
            <p:ph type="sldNum" sz="quarter" idx="12"/>
          </p:nvPr>
        </p:nvSpPr>
        <p:spPr/>
        <p:txBody>
          <a:bodyPr/>
          <a:lstStyle/>
          <a:p>
            <a:fld id="{A2491E17-C12C-4E89-B753-EE113A8DDE3A}" type="slidenum">
              <a:rPr lang="zh-CN" altLang="en-US" smtClean="0"/>
              <a:t>‹#›</a:t>
            </a:fld>
            <a:endParaRPr lang="zh-CN" altLang="en-US"/>
          </a:p>
        </p:txBody>
      </p:sp>
    </p:spTree>
    <p:extLst>
      <p:ext uri="{BB962C8B-B14F-4D97-AF65-F5344CB8AC3E}">
        <p14:creationId xmlns:p14="http://schemas.microsoft.com/office/powerpoint/2010/main" val="1887989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900B52-B51A-86DD-DE27-45AC4AB7107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EAD2F3F-037E-0E83-E73A-913E5B49A1B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F13432-5919-314B-1E8A-1C4FFBF83415}"/>
              </a:ext>
            </a:extLst>
          </p:cNvPr>
          <p:cNvSpPr>
            <a:spLocks noGrp="1"/>
          </p:cNvSpPr>
          <p:nvPr>
            <p:ph type="dt" sz="half" idx="10"/>
          </p:nvPr>
        </p:nvSpPr>
        <p:spPr/>
        <p:txBody>
          <a:bodyPr/>
          <a:lstStyle/>
          <a:p>
            <a:fld id="{07A0AD1E-801F-4352-A493-410DB39E3597}" type="datetimeFigureOut">
              <a:rPr lang="zh-CN" altLang="en-US" smtClean="0"/>
              <a:t>06/01/2026</a:t>
            </a:fld>
            <a:endParaRPr lang="zh-CN" altLang="en-US"/>
          </a:p>
        </p:txBody>
      </p:sp>
      <p:sp>
        <p:nvSpPr>
          <p:cNvPr id="5" name="页脚占位符 4">
            <a:extLst>
              <a:ext uri="{FF2B5EF4-FFF2-40B4-BE49-F238E27FC236}">
                <a16:creationId xmlns:a16="http://schemas.microsoft.com/office/drawing/2014/main" id="{25F1F0A1-EAE8-01DE-9124-FA02D6D8B1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65C54FB-6B5E-ED5F-5F5A-BEBF0BBA0092}"/>
              </a:ext>
            </a:extLst>
          </p:cNvPr>
          <p:cNvSpPr>
            <a:spLocks noGrp="1"/>
          </p:cNvSpPr>
          <p:nvPr>
            <p:ph type="sldNum" sz="quarter" idx="12"/>
          </p:nvPr>
        </p:nvSpPr>
        <p:spPr/>
        <p:txBody>
          <a:bodyPr/>
          <a:lstStyle/>
          <a:p>
            <a:fld id="{A2491E17-C12C-4E89-B753-EE113A8DDE3A}" type="slidenum">
              <a:rPr lang="zh-CN" altLang="en-US" smtClean="0"/>
              <a:t>‹#›</a:t>
            </a:fld>
            <a:endParaRPr lang="zh-CN" altLang="en-US"/>
          </a:p>
        </p:txBody>
      </p:sp>
    </p:spTree>
    <p:extLst>
      <p:ext uri="{BB962C8B-B14F-4D97-AF65-F5344CB8AC3E}">
        <p14:creationId xmlns:p14="http://schemas.microsoft.com/office/powerpoint/2010/main" val="3670000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F513822-377A-2FCD-DFCD-099B16CF5C5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977E1A4-0C52-C839-494D-02E9ABF8C43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5A2C9E-F44E-E4D8-8917-233C73A0B01B}"/>
              </a:ext>
            </a:extLst>
          </p:cNvPr>
          <p:cNvSpPr>
            <a:spLocks noGrp="1"/>
          </p:cNvSpPr>
          <p:nvPr>
            <p:ph type="dt" sz="half" idx="10"/>
          </p:nvPr>
        </p:nvSpPr>
        <p:spPr/>
        <p:txBody>
          <a:bodyPr/>
          <a:lstStyle/>
          <a:p>
            <a:fld id="{07A0AD1E-801F-4352-A493-410DB39E3597}" type="datetimeFigureOut">
              <a:rPr lang="zh-CN" altLang="en-US" smtClean="0"/>
              <a:t>06/01/2026</a:t>
            </a:fld>
            <a:endParaRPr lang="zh-CN" altLang="en-US"/>
          </a:p>
        </p:txBody>
      </p:sp>
      <p:sp>
        <p:nvSpPr>
          <p:cNvPr id="5" name="页脚占位符 4">
            <a:extLst>
              <a:ext uri="{FF2B5EF4-FFF2-40B4-BE49-F238E27FC236}">
                <a16:creationId xmlns:a16="http://schemas.microsoft.com/office/drawing/2014/main" id="{23E13398-DE90-A0C4-D032-DB5ECCA1A71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7BCB2B-4002-ED18-F4E1-134E81E03BC4}"/>
              </a:ext>
            </a:extLst>
          </p:cNvPr>
          <p:cNvSpPr>
            <a:spLocks noGrp="1"/>
          </p:cNvSpPr>
          <p:nvPr>
            <p:ph type="sldNum" sz="quarter" idx="12"/>
          </p:nvPr>
        </p:nvSpPr>
        <p:spPr/>
        <p:txBody>
          <a:bodyPr/>
          <a:lstStyle/>
          <a:p>
            <a:fld id="{A2491E17-C12C-4E89-B753-EE113A8DDE3A}" type="slidenum">
              <a:rPr lang="zh-CN" altLang="en-US" smtClean="0"/>
              <a:t>‹#›</a:t>
            </a:fld>
            <a:endParaRPr lang="zh-CN" altLang="en-US"/>
          </a:p>
        </p:txBody>
      </p:sp>
    </p:spTree>
    <p:extLst>
      <p:ext uri="{BB962C8B-B14F-4D97-AF65-F5344CB8AC3E}">
        <p14:creationId xmlns:p14="http://schemas.microsoft.com/office/powerpoint/2010/main" val="494878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ECD5CB1-BEFD-7F4F-1787-BD3ED2583C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65B7E33-8369-CB56-6DD0-B6CB45D8BC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E7F6B76-1BDD-648D-D818-9131B3B3B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A0AD1E-801F-4352-A493-410DB39E3597}" type="datetimeFigureOut">
              <a:rPr lang="zh-CN" altLang="en-US" smtClean="0"/>
              <a:t>06/01/2026</a:t>
            </a:fld>
            <a:endParaRPr lang="zh-CN" altLang="en-US"/>
          </a:p>
        </p:txBody>
      </p:sp>
      <p:sp>
        <p:nvSpPr>
          <p:cNvPr id="5" name="页脚占位符 4">
            <a:extLst>
              <a:ext uri="{FF2B5EF4-FFF2-40B4-BE49-F238E27FC236}">
                <a16:creationId xmlns:a16="http://schemas.microsoft.com/office/drawing/2014/main" id="{2B0ECD79-1664-AEFC-99DE-4EC0A8A08B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E7242FB-A07E-236E-7DC7-26FF0F967C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491E17-C12C-4E89-B753-EE113A8DDE3A}" type="slidenum">
              <a:rPr lang="zh-CN" altLang="en-US" smtClean="0"/>
              <a:t>‹#›</a:t>
            </a:fld>
            <a:endParaRPr lang="zh-CN" altLang="en-US"/>
          </a:p>
        </p:txBody>
      </p:sp>
    </p:spTree>
    <p:extLst>
      <p:ext uri="{BB962C8B-B14F-4D97-AF65-F5344CB8AC3E}">
        <p14:creationId xmlns:p14="http://schemas.microsoft.com/office/powerpoint/2010/main" val="17403886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061D03A-A8B3-5736-7C5D-CAE551777561}"/>
              </a:ext>
            </a:extLst>
          </p:cNvPr>
          <p:cNvSpPr txBox="1"/>
          <p:nvPr/>
        </p:nvSpPr>
        <p:spPr>
          <a:xfrm>
            <a:off x="482600" y="279400"/>
            <a:ext cx="11176000" cy="477054"/>
          </a:xfrm>
          <a:prstGeom prst="rect">
            <a:avLst/>
          </a:prstGeom>
          <a:noFill/>
        </p:spPr>
        <p:txBody>
          <a:bodyPr vert="horz" wrap="square" rtlCol="0">
            <a:spAutoFit/>
          </a:bodyPr>
          <a:lstStyle/>
          <a:p>
            <a:r>
              <a:rPr lang="zh-CN" altLang="en-US" sz="2500" b="1">
                <a:latin typeface="Microsoft YaHei" panose="020B0503020204020204" pitchFamily="34" charset="-122"/>
              </a:rPr>
              <a:t>雨养或弱灌溉需求情景小结</a:t>
            </a:r>
          </a:p>
        </p:txBody>
      </p:sp>
      <p:sp>
        <p:nvSpPr>
          <p:cNvPr id="3" name="文本框 2">
            <a:extLst>
              <a:ext uri="{FF2B5EF4-FFF2-40B4-BE49-F238E27FC236}">
                <a16:creationId xmlns:a16="http://schemas.microsoft.com/office/drawing/2014/main" id="{BE650AE1-30F3-0DA3-2D22-16BA25A4FAA2}"/>
              </a:ext>
            </a:extLst>
          </p:cNvPr>
          <p:cNvSpPr txBox="1"/>
          <p:nvPr/>
        </p:nvSpPr>
        <p:spPr>
          <a:xfrm>
            <a:off x="508000" y="863600"/>
            <a:ext cx="10922000" cy="261610"/>
          </a:xfrm>
          <a:prstGeom prst="rect">
            <a:avLst/>
          </a:prstGeom>
          <a:noFill/>
        </p:spPr>
        <p:txBody>
          <a:bodyPr vert="horz" wrap="square" rtlCol="0">
            <a:spAutoFit/>
          </a:bodyPr>
          <a:lstStyle/>
          <a:p>
            <a:r>
              <a:rPr lang="zh-CN" altLang="en-US" sz="1100">
                <a:latin typeface="Microsoft YaHei" panose="020B0503020204020204" pitchFamily="34" charset="-122"/>
              </a:rPr>
              <a:t>五站点 </a:t>
            </a:r>
            <a:r>
              <a:rPr lang="en-US" altLang="zh-CN" sz="1100">
                <a:latin typeface="Microsoft YaHei" panose="020B0503020204020204" pitchFamily="34" charset="-122"/>
              </a:rPr>
              <a:t>all </a:t>
            </a:r>
            <a:r>
              <a:rPr lang="zh-CN" altLang="en-US" sz="1100">
                <a:latin typeface="Microsoft YaHei" panose="020B0503020204020204" pitchFamily="34" charset="-122"/>
              </a:rPr>
              <a:t>模式水分</a:t>
            </a:r>
            <a:r>
              <a:rPr lang="en-US" altLang="zh-CN" sz="1100">
                <a:latin typeface="Microsoft YaHei" panose="020B0503020204020204" pitchFamily="34" charset="-122"/>
              </a:rPr>
              <a:t>/</a:t>
            </a:r>
            <a:r>
              <a:rPr lang="zh-CN" altLang="en-US" sz="1100">
                <a:latin typeface="Microsoft YaHei" panose="020B0503020204020204" pitchFamily="34" charset="-122"/>
              </a:rPr>
              <a:t>氮素胁迫诊断，可作为论文讨论材料</a:t>
            </a:r>
          </a:p>
        </p:txBody>
      </p:sp>
      <p:sp>
        <p:nvSpPr>
          <p:cNvPr id="4" name="文本框 3">
            <a:extLst>
              <a:ext uri="{FF2B5EF4-FFF2-40B4-BE49-F238E27FC236}">
                <a16:creationId xmlns:a16="http://schemas.microsoft.com/office/drawing/2014/main" id="{7725CFBA-24B5-FC7A-D3DA-00C5ECFB4B7E}"/>
              </a:ext>
            </a:extLst>
          </p:cNvPr>
          <p:cNvSpPr txBox="1"/>
          <p:nvPr/>
        </p:nvSpPr>
        <p:spPr>
          <a:xfrm>
            <a:off x="698500" y="1524000"/>
            <a:ext cx="10795000" cy="1077218"/>
          </a:xfrm>
          <a:prstGeom prst="rect">
            <a:avLst/>
          </a:prstGeom>
          <a:noFill/>
        </p:spPr>
        <p:txBody>
          <a:bodyPr vert="horz" wrap="square" rtlCol="0">
            <a:spAutoFit/>
          </a:bodyPr>
          <a:lstStyle/>
          <a:p>
            <a:r>
              <a:rPr lang="en-US" altLang="zh-CN" sz="1600">
                <a:latin typeface="Microsoft YaHei" panose="020B0503020204020204" pitchFamily="34" charset="-122"/>
              </a:rPr>
              <a:t>• </a:t>
            </a:r>
            <a:r>
              <a:rPr lang="zh-CN" altLang="en-US" sz="1600">
                <a:latin typeface="Microsoft YaHei" panose="020B0503020204020204" pitchFamily="34" charset="-122"/>
              </a:rPr>
              <a:t>五站点实测年份中，多数站点 </a:t>
            </a:r>
            <a:r>
              <a:rPr lang="en-US" altLang="zh-CN" sz="1600">
                <a:latin typeface="Microsoft YaHei" panose="020B0503020204020204" pitchFamily="34" charset="-122"/>
              </a:rPr>
              <a:t>PRCP </a:t>
            </a:r>
            <a:r>
              <a:rPr lang="zh-CN" altLang="en-US" sz="1600">
                <a:latin typeface="Microsoft YaHei" panose="020B0503020204020204" pitchFamily="34" charset="-122"/>
              </a:rPr>
              <a:t>与 </a:t>
            </a:r>
            <a:r>
              <a:rPr lang="en-US" altLang="zh-CN" sz="1600">
                <a:latin typeface="Microsoft YaHei" panose="020B0503020204020204" pitchFamily="34" charset="-122"/>
              </a:rPr>
              <a:t>ETCP </a:t>
            </a:r>
            <a:r>
              <a:rPr lang="zh-CN" altLang="en-US" sz="1600">
                <a:latin typeface="Microsoft YaHei" panose="020B0503020204020204" pitchFamily="34" charset="-122"/>
              </a:rPr>
              <a:t>接近平衡或降雨充足；海伦虽年尺度亏缺，但 </a:t>
            </a:r>
            <a:r>
              <a:rPr lang="en-US" altLang="zh-CN" sz="1600">
                <a:latin typeface="Microsoft YaHei" panose="020B0503020204020204" pitchFamily="34" charset="-122"/>
              </a:rPr>
              <a:t>all </a:t>
            </a:r>
            <a:r>
              <a:rPr lang="zh-CN" altLang="en-US" sz="1600">
                <a:latin typeface="Microsoft YaHei" panose="020B0503020204020204" pitchFamily="34" charset="-122"/>
              </a:rPr>
              <a:t>模式日尺度 </a:t>
            </a:r>
            <a:r>
              <a:rPr lang="en-US" altLang="zh-CN" sz="1600">
                <a:latin typeface="Microsoft YaHei" panose="020B0503020204020204" pitchFamily="34" charset="-122"/>
              </a:rPr>
              <a:t>swfac </a:t>
            </a:r>
            <a:r>
              <a:rPr lang="zh-CN" altLang="en-US" sz="1600">
                <a:latin typeface="Microsoft YaHei" panose="020B0503020204020204" pitchFamily="34" charset="-122"/>
              </a:rPr>
              <a:t>未显示明显水分胁迫。</a:t>
            </a:r>
          </a:p>
          <a:p>
            <a:r>
              <a:rPr lang="en-US" altLang="zh-CN" sz="1600">
                <a:latin typeface="Microsoft YaHei" panose="020B0503020204020204" pitchFamily="34" charset="-122"/>
              </a:rPr>
              <a:t>• </a:t>
            </a:r>
            <a:r>
              <a:rPr lang="zh-CN" altLang="en-US" sz="1600">
                <a:latin typeface="Microsoft YaHei" panose="020B0503020204020204" pitchFamily="34" charset="-122"/>
              </a:rPr>
              <a:t>在这些情景下，</a:t>
            </a:r>
            <a:r>
              <a:rPr lang="en-US" altLang="zh-CN" sz="1600">
                <a:latin typeface="Microsoft YaHei" panose="020B0503020204020204" pitchFamily="34" charset="-122"/>
              </a:rPr>
              <a:t>PPO </a:t>
            </a:r>
            <a:r>
              <a:rPr lang="zh-CN" altLang="en-US" sz="1600">
                <a:latin typeface="Microsoft YaHei" panose="020B0503020204020204" pitchFamily="34" charset="-122"/>
              </a:rPr>
              <a:t>若学习到减少灌溉或接近不灌溉，并不一定是失败；它可能是在识别灌水边际收益很低的年份。</a:t>
            </a:r>
          </a:p>
          <a:p>
            <a:r>
              <a:rPr lang="en-US" altLang="zh-CN" sz="1600">
                <a:latin typeface="Microsoft YaHei" panose="020B0503020204020204" pitchFamily="34" charset="-122"/>
              </a:rPr>
              <a:t>• </a:t>
            </a:r>
            <a:r>
              <a:rPr lang="zh-CN" altLang="en-US" sz="1600">
                <a:latin typeface="Microsoft YaHei" panose="020B0503020204020204" pitchFamily="34" charset="-122"/>
              </a:rPr>
              <a:t>因此当前五站点更适合作为雨养或弱灌溉需求情景，用于证明模型不会为了灌溉而灌溉，具备节水倾向。</a:t>
            </a:r>
          </a:p>
        </p:txBody>
      </p:sp>
    </p:spTree>
    <p:extLst>
      <p:ext uri="{BB962C8B-B14F-4D97-AF65-F5344CB8AC3E}">
        <p14:creationId xmlns:p14="http://schemas.microsoft.com/office/powerpoint/2010/main" val="3776613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D3BF6A2-B01A-63E2-BC0A-E28D874B0572}"/>
              </a:ext>
            </a:extLst>
          </p:cNvPr>
          <p:cNvSpPr txBox="1"/>
          <p:nvPr/>
        </p:nvSpPr>
        <p:spPr>
          <a:xfrm>
            <a:off x="482600" y="279400"/>
            <a:ext cx="11176000" cy="477054"/>
          </a:xfrm>
          <a:prstGeom prst="rect">
            <a:avLst/>
          </a:prstGeom>
          <a:noFill/>
        </p:spPr>
        <p:txBody>
          <a:bodyPr vert="horz" wrap="square" rtlCol="0">
            <a:spAutoFit/>
          </a:bodyPr>
          <a:lstStyle/>
          <a:p>
            <a:r>
              <a:rPr lang="zh-CN" altLang="en-US" sz="2500" b="1">
                <a:latin typeface="Microsoft YaHei" panose="020B0503020204020204" pitchFamily="34" charset="-122"/>
              </a:rPr>
              <a:t>诊断依据</a:t>
            </a:r>
          </a:p>
        </p:txBody>
      </p:sp>
      <p:graphicFrame>
        <p:nvGraphicFramePr>
          <p:cNvPr id="3" name="表格 2">
            <a:extLst>
              <a:ext uri="{FF2B5EF4-FFF2-40B4-BE49-F238E27FC236}">
                <a16:creationId xmlns:a16="http://schemas.microsoft.com/office/drawing/2014/main" id="{CC179AB9-C77E-34CF-76C7-0146D1B34804}"/>
              </a:ext>
            </a:extLst>
          </p:cNvPr>
          <p:cNvGraphicFramePr>
            <a:graphicFrameLocks noGrp="1"/>
          </p:cNvGraphicFramePr>
          <p:nvPr>
            <p:extLst>
              <p:ext uri="{D42A27DB-BD31-4B8C-83A1-F6EECF244321}">
                <p14:modId xmlns:p14="http://schemas.microsoft.com/office/powerpoint/2010/main" val="587896160"/>
              </p:ext>
            </p:extLst>
          </p:nvPr>
        </p:nvGraphicFramePr>
        <p:xfrm>
          <a:off x="381000" y="1333500"/>
          <a:ext cx="11430000" cy="4191000"/>
        </p:xfrm>
        <a:graphic>
          <a:graphicData uri="http://schemas.openxmlformats.org/drawingml/2006/table">
            <a:tbl>
              <a:tblPr firstRow="1" bandRow="1">
                <a:tableStyleId>{5C22544A-7EE6-4342-B048-85BDC9FD1C3A}</a:tableStyleId>
              </a:tblPr>
              <a:tblGrid>
                <a:gridCol w="1428750">
                  <a:extLst>
                    <a:ext uri="{9D8B030D-6E8A-4147-A177-3AD203B41FA5}">
                      <a16:colId xmlns:a16="http://schemas.microsoft.com/office/drawing/2014/main" val="1677634477"/>
                    </a:ext>
                  </a:extLst>
                </a:gridCol>
                <a:gridCol w="1428750">
                  <a:extLst>
                    <a:ext uri="{9D8B030D-6E8A-4147-A177-3AD203B41FA5}">
                      <a16:colId xmlns:a16="http://schemas.microsoft.com/office/drawing/2014/main" val="723147890"/>
                    </a:ext>
                  </a:extLst>
                </a:gridCol>
                <a:gridCol w="1428750">
                  <a:extLst>
                    <a:ext uri="{9D8B030D-6E8A-4147-A177-3AD203B41FA5}">
                      <a16:colId xmlns:a16="http://schemas.microsoft.com/office/drawing/2014/main" val="155493315"/>
                    </a:ext>
                  </a:extLst>
                </a:gridCol>
                <a:gridCol w="1428750">
                  <a:extLst>
                    <a:ext uri="{9D8B030D-6E8A-4147-A177-3AD203B41FA5}">
                      <a16:colId xmlns:a16="http://schemas.microsoft.com/office/drawing/2014/main" val="1021606713"/>
                    </a:ext>
                  </a:extLst>
                </a:gridCol>
                <a:gridCol w="1428750">
                  <a:extLst>
                    <a:ext uri="{9D8B030D-6E8A-4147-A177-3AD203B41FA5}">
                      <a16:colId xmlns:a16="http://schemas.microsoft.com/office/drawing/2014/main" val="1762508111"/>
                    </a:ext>
                  </a:extLst>
                </a:gridCol>
                <a:gridCol w="1428750">
                  <a:extLst>
                    <a:ext uri="{9D8B030D-6E8A-4147-A177-3AD203B41FA5}">
                      <a16:colId xmlns:a16="http://schemas.microsoft.com/office/drawing/2014/main" val="2541391831"/>
                    </a:ext>
                  </a:extLst>
                </a:gridCol>
                <a:gridCol w="1428750">
                  <a:extLst>
                    <a:ext uri="{9D8B030D-6E8A-4147-A177-3AD203B41FA5}">
                      <a16:colId xmlns:a16="http://schemas.microsoft.com/office/drawing/2014/main" val="2407283972"/>
                    </a:ext>
                  </a:extLst>
                </a:gridCol>
                <a:gridCol w="1428750">
                  <a:extLst>
                    <a:ext uri="{9D8B030D-6E8A-4147-A177-3AD203B41FA5}">
                      <a16:colId xmlns:a16="http://schemas.microsoft.com/office/drawing/2014/main" val="190326533"/>
                    </a:ext>
                  </a:extLst>
                </a:gridCol>
              </a:tblGrid>
              <a:tr h="523875">
                <a:tc>
                  <a:txBody>
                    <a:bodyPr/>
                    <a:lstStyle/>
                    <a:p>
                      <a:r>
                        <a:rPr lang="zh-CN" altLang="en-US" sz="800" b="1">
                          <a:latin typeface="Microsoft YaHei" panose="020B0503020204020204" pitchFamily="34" charset="-122"/>
                        </a:rPr>
                        <a:t>站点</a:t>
                      </a:r>
                    </a:p>
                  </a:txBody>
                  <a:tcPr/>
                </a:tc>
                <a:tc>
                  <a:txBody>
                    <a:bodyPr/>
                    <a:lstStyle/>
                    <a:p>
                      <a:r>
                        <a:rPr lang="zh-CN" altLang="en-US" sz="800" b="1">
                          <a:latin typeface="Microsoft YaHei" panose="020B0503020204020204" pitchFamily="34" charset="-122"/>
                        </a:rPr>
                        <a:t>策略</a:t>
                      </a:r>
                    </a:p>
                  </a:txBody>
                  <a:tcPr/>
                </a:tc>
                <a:tc>
                  <a:txBody>
                    <a:bodyPr/>
                    <a:lstStyle/>
                    <a:p>
                      <a:r>
                        <a:rPr lang="en-US" altLang="zh-CN" sz="800" b="1">
                          <a:latin typeface="Microsoft YaHei" panose="020B0503020204020204" pitchFamily="34" charset="-122"/>
                        </a:rPr>
                        <a:t>P-E</a:t>
                      </a:r>
                      <a:endParaRPr lang="zh-CN" altLang="en-US" sz="800" b="1">
                        <a:latin typeface="Microsoft YaHei" panose="020B0503020204020204" pitchFamily="34" charset="-122"/>
                      </a:endParaRPr>
                    </a:p>
                  </a:txBody>
                  <a:tcPr/>
                </a:tc>
                <a:tc>
                  <a:txBody>
                    <a:bodyPr/>
                    <a:lstStyle/>
                    <a:p>
                      <a:r>
                        <a:rPr lang="en-US" altLang="zh-CN" sz="800" b="1">
                          <a:latin typeface="Microsoft YaHei" panose="020B0503020204020204" pitchFamily="34" charset="-122"/>
                        </a:rPr>
                        <a:t>swfac</a:t>
                      </a:r>
                      <a:r>
                        <a:rPr lang="zh-CN" altLang="en-US" sz="800" b="1">
                          <a:latin typeface="Microsoft YaHei" panose="020B0503020204020204" pitchFamily="34" charset="-122"/>
                        </a:rPr>
                        <a:t>天数</a:t>
                      </a:r>
                    </a:p>
                  </a:txBody>
                  <a:tcPr/>
                </a:tc>
                <a:tc>
                  <a:txBody>
                    <a:bodyPr/>
                    <a:lstStyle/>
                    <a:p>
                      <a:r>
                        <a:rPr lang="en-US" altLang="zh-CN" sz="800" b="1">
                          <a:latin typeface="Microsoft YaHei" panose="020B0503020204020204" pitchFamily="34" charset="-122"/>
                        </a:rPr>
                        <a:t>nstres</a:t>
                      </a:r>
                      <a:r>
                        <a:rPr lang="zh-CN" altLang="en-US" sz="800" b="1">
                          <a:latin typeface="Microsoft YaHei" panose="020B0503020204020204" pitchFamily="34" charset="-122"/>
                        </a:rPr>
                        <a:t>天数</a:t>
                      </a:r>
                    </a:p>
                  </a:txBody>
                  <a:tcPr/>
                </a:tc>
                <a:tc>
                  <a:txBody>
                    <a:bodyPr/>
                    <a:lstStyle/>
                    <a:p>
                      <a:r>
                        <a:rPr lang="zh-CN" altLang="en-US" sz="800" b="1">
                          <a:latin typeface="Microsoft YaHei" panose="020B0503020204020204" pitchFamily="34" charset="-122"/>
                        </a:rPr>
                        <a:t>产量</a:t>
                      </a:r>
                    </a:p>
                  </a:txBody>
                  <a:tcPr/>
                </a:tc>
                <a:tc>
                  <a:txBody>
                    <a:bodyPr/>
                    <a:lstStyle/>
                    <a:p>
                      <a:r>
                        <a:rPr lang="zh-CN" altLang="en-US" sz="800" b="1">
                          <a:latin typeface="Microsoft YaHei" panose="020B0503020204020204" pitchFamily="34" charset="-122"/>
                        </a:rPr>
                        <a:t>施肥</a:t>
                      </a:r>
                    </a:p>
                  </a:txBody>
                  <a:tcPr/>
                </a:tc>
                <a:tc>
                  <a:txBody>
                    <a:bodyPr/>
                    <a:lstStyle/>
                    <a:p>
                      <a:r>
                        <a:rPr lang="zh-CN" altLang="en-US" sz="800" b="1">
                          <a:latin typeface="Microsoft YaHei" panose="020B0503020204020204" pitchFamily="34" charset="-122"/>
                        </a:rPr>
                        <a:t>灌水</a:t>
                      </a:r>
                    </a:p>
                  </a:txBody>
                  <a:tcPr/>
                </a:tc>
                <a:extLst>
                  <a:ext uri="{0D108BD9-81ED-4DB2-BD59-A6C34878D82A}">
                    <a16:rowId xmlns:a16="http://schemas.microsoft.com/office/drawing/2014/main" val="1793091556"/>
                  </a:ext>
                </a:extLst>
              </a:tr>
              <a:tr h="523875">
                <a:tc>
                  <a:txBody>
                    <a:bodyPr/>
                    <a:lstStyle/>
                    <a:p>
                      <a:r>
                        <a:rPr lang="en-US" altLang="zh-CN" sz="800">
                          <a:latin typeface="Microsoft YaHei" panose="020B0503020204020204" pitchFamily="34" charset="-122"/>
                        </a:rPr>
                        <a:t>HL</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null</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-150.4</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438.56</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extLst>
                  <a:ext uri="{0D108BD9-81ED-4DB2-BD59-A6C34878D82A}">
                    <a16:rowId xmlns:a16="http://schemas.microsoft.com/office/drawing/2014/main" val="3468022868"/>
                  </a:ext>
                </a:extLst>
              </a:tr>
              <a:tr h="523875">
                <a:tc>
                  <a:txBody>
                    <a:bodyPr/>
                    <a:lstStyle/>
                    <a:p>
                      <a:r>
                        <a:rPr lang="en-US" altLang="zh-CN" sz="800">
                          <a:latin typeface="Microsoft YaHei" panose="020B0503020204020204" pitchFamily="34" charset="-122"/>
                        </a:rPr>
                        <a:t>HL</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expert</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-150.4</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6414.69</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165</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30</a:t>
                      </a:r>
                      <a:endParaRPr lang="zh-CN" altLang="en-US" sz="800">
                        <a:latin typeface="Microsoft YaHei" panose="020B0503020204020204" pitchFamily="34" charset="-122"/>
                      </a:endParaRPr>
                    </a:p>
                  </a:txBody>
                  <a:tcPr/>
                </a:tc>
                <a:extLst>
                  <a:ext uri="{0D108BD9-81ED-4DB2-BD59-A6C34878D82A}">
                    <a16:rowId xmlns:a16="http://schemas.microsoft.com/office/drawing/2014/main" val="8853619"/>
                  </a:ext>
                </a:extLst>
              </a:tr>
              <a:tr h="523875">
                <a:tc>
                  <a:txBody>
                    <a:bodyPr/>
                    <a:lstStyle/>
                    <a:p>
                      <a:r>
                        <a:rPr lang="en-US" altLang="zh-CN" sz="800">
                          <a:latin typeface="Microsoft YaHei" panose="020B0503020204020204" pitchFamily="34" charset="-122"/>
                        </a:rPr>
                        <a:t>SY</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null</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231.3</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3394.86</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extLst>
                  <a:ext uri="{0D108BD9-81ED-4DB2-BD59-A6C34878D82A}">
                    <a16:rowId xmlns:a16="http://schemas.microsoft.com/office/drawing/2014/main" val="2446872789"/>
                  </a:ext>
                </a:extLst>
              </a:tr>
              <a:tr h="523875">
                <a:tc>
                  <a:txBody>
                    <a:bodyPr/>
                    <a:lstStyle/>
                    <a:p>
                      <a:r>
                        <a:rPr lang="en-US" altLang="zh-CN" sz="800">
                          <a:latin typeface="Microsoft YaHei" panose="020B0503020204020204" pitchFamily="34" charset="-122"/>
                        </a:rPr>
                        <a:t>FQ</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null</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69.6</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2723.05</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extLst>
                  <a:ext uri="{0D108BD9-81ED-4DB2-BD59-A6C34878D82A}">
                    <a16:rowId xmlns:a16="http://schemas.microsoft.com/office/drawing/2014/main" val="3955019067"/>
                  </a:ext>
                </a:extLst>
              </a:tr>
              <a:tr h="523875">
                <a:tc>
                  <a:txBody>
                    <a:bodyPr/>
                    <a:lstStyle/>
                    <a:p>
                      <a:r>
                        <a:rPr lang="en-US" altLang="zh-CN" sz="800">
                          <a:latin typeface="Microsoft YaHei" panose="020B0503020204020204" pitchFamily="34" charset="-122"/>
                        </a:rPr>
                        <a:t>FQ</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expert</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69.6</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7134.93</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165</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30</a:t>
                      </a:r>
                      <a:endParaRPr lang="zh-CN" altLang="en-US" sz="800">
                        <a:latin typeface="Microsoft YaHei" panose="020B0503020204020204" pitchFamily="34" charset="-122"/>
                      </a:endParaRPr>
                    </a:p>
                  </a:txBody>
                  <a:tcPr/>
                </a:tc>
                <a:extLst>
                  <a:ext uri="{0D108BD9-81ED-4DB2-BD59-A6C34878D82A}">
                    <a16:rowId xmlns:a16="http://schemas.microsoft.com/office/drawing/2014/main" val="225151456"/>
                  </a:ext>
                </a:extLst>
              </a:tr>
              <a:tr h="523875">
                <a:tc>
                  <a:txBody>
                    <a:bodyPr/>
                    <a:lstStyle/>
                    <a:p>
                      <a:r>
                        <a:rPr lang="en-US" altLang="zh-CN" sz="800">
                          <a:latin typeface="Microsoft YaHei" panose="020B0503020204020204" pitchFamily="34" charset="-122"/>
                        </a:rPr>
                        <a:t>YC</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null</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7.1</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1451.2</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extLst>
                  <a:ext uri="{0D108BD9-81ED-4DB2-BD59-A6C34878D82A}">
                    <a16:rowId xmlns:a16="http://schemas.microsoft.com/office/drawing/2014/main" val="4088455220"/>
                  </a:ext>
                </a:extLst>
              </a:tr>
              <a:tr h="523875">
                <a:tc>
                  <a:txBody>
                    <a:bodyPr/>
                    <a:lstStyle/>
                    <a:p>
                      <a:r>
                        <a:rPr lang="en-US" altLang="zh-CN" sz="800">
                          <a:latin typeface="Microsoft YaHei" panose="020B0503020204020204" pitchFamily="34" charset="-122"/>
                        </a:rPr>
                        <a:t>YC</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expert</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7.1</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0</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7581.78</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165</a:t>
                      </a:r>
                      <a:endParaRPr lang="zh-CN" altLang="en-US" sz="800">
                        <a:latin typeface="Microsoft YaHei" panose="020B0503020204020204" pitchFamily="34" charset="-122"/>
                      </a:endParaRPr>
                    </a:p>
                  </a:txBody>
                  <a:tcPr/>
                </a:tc>
                <a:tc>
                  <a:txBody>
                    <a:bodyPr/>
                    <a:lstStyle/>
                    <a:p>
                      <a:r>
                        <a:rPr lang="en-US" altLang="zh-CN" sz="800">
                          <a:latin typeface="Microsoft YaHei" panose="020B0503020204020204" pitchFamily="34" charset="-122"/>
                        </a:rPr>
                        <a:t>30</a:t>
                      </a:r>
                      <a:endParaRPr lang="zh-CN" altLang="en-US" sz="800">
                        <a:latin typeface="Microsoft YaHei" panose="020B0503020204020204" pitchFamily="34" charset="-122"/>
                      </a:endParaRPr>
                    </a:p>
                  </a:txBody>
                  <a:tcPr/>
                </a:tc>
                <a:extLst>
                  <a:ext uri="{0D108BD9-81ED-4DB2-BD59-A6C34878D82A}">
                    <a16:rowId xmlns:a16="http://schemas.microsoft.com/office/drawing/2014/main" val="387169957"/>
                  </a:ext>
                </a:extLst>
              </a:tr>
            </a:tbl>
          </a:graphicData>
        </a:graphic>
      </p:graphicFrame>
      <p:sp>
        <p:nvSpPr>
          <p:cNvPr id="4" name="文本框 3">
            <a:extLst>
              <a:ext uri="{FF2B5EF4-FFF2-40B4-BE49-F238E27FC236}">
                <a16:creationId xmlns:a16="http://schemas.microsoft.com/office/drawing/2014/main" id="{997A62DB-1142-B902-FF8D-5526E50DF928}"/>
              </a:ext>
            </a:extLst>
          </p:cNvPr>
          <p:cNvSpPr txBox="1"/>
          <p:nvPr/>
        </p:nvSpPr>
        <p:spPr>
          <a:xfrm>
            <a:off x="635000" y="5778500"/>
            <a:ext cx="10795000" cy="276999"/>
          </a:xfrm>
          <a:prstGeom prst="rect">
            <a:avLst/>
          </a:prstGeom>
          <a:noFill/>
        </p:spPr>
        <p:txBody>
          <a:bodyPr vert="horz" wrap="square" rtlCol="0">
            <a:spAutoFit/>
          </a:bodyPr>
          <a:lstStyle/>
          <a:p>
            <a:r>
              <a:rPr lang="zh-CN" altLang="en-US" sz="1200">
                <a:latin typeface="Microsoft YaHei" panose="020B0503020204020204" pitchFamily="34" charset="-122"/>
              </a:rPr>
              <a:t>说明：当前 </a:t>
            </a:r>
            <a:r>
              <a:rPr lang="en-US" altLang="zh-CN" sz="1200">
                <a:latin typeface="Microsoft YaHei" panose="020B0503020204020204" pitchFamily="34" charset="-122"/>
              </a:rPr>
              <a:t>maize all </a:t>
            </a:r>
            <a:r>
              <a:rPr lang="zh-CN" altLang="en-US" sz="1200">
                <a:latin typeface="Microsoft YaHei" panose="020B0503020204020204" pitchFamily="34" charset="-122"/>
              </a:rPr>
              <a:t>模式中 </a:t>
            </a:r>
            <a:r>
              <a:rPr lang="en-US" altLang="zh-CN" sz="1200">
                <a:latin typeface="Microsoft YaHei" panose="020B0503020204020204" pitchFamily="34" charset="-122"/>
              </a:rPr>
              <a:t>swfac/nstres </a:t>
            </a:r>
            <a:r>
              <a:rPr lang="zh-CN" altLang="en-US" sz="1200">
                <a:latin typeface="Microsoft YaHei" panose="020B0503020204020204" pitchFamily="34" charset="-122"/>
              </a:rPr>
              <a:t>已按 </a:t>
            </a:r>
            <a:r>
              <a:rPr lang="en-US" altLang="zh-CN" sz="1200">
                <a:latin typeface="Microsoft YaHei" panose="020B0503020204020204" pitchFamily="34" charset="-122"/>
              </a:rPr>
              <a:t>1-</a:t>
            </a:r>
            <a:r>
              <a:rPr lang="zh-CN" altLang="en-US" sz="1200">
                <a:latin typeface="Microsoft YaHei" panose="020B0503020204020204" pitchFamily="34" charset="-122"/>
              </a:rPr>
              <a:t>原值处理，数值越大代表胁迫越强；</a:t>
            </a:r>
            <a:r>
              <a:rPr lang="en-US" altLang="zh-CN" sz="1200">
                <a:latin typeface="Microsoft YaHei" panose="020B0503020204020204" pitchFamily="34" charset="-122"/>
              </a:rPr>
              <a:t>turfac </a:t>
            </a:r>
            <a:r>
              <a:rPr lang="zh-CN" altLang="en-US" sz="1200">
                <a:latin typeface="Microsoft YaHei" panose="020B0503020204020204" pitchFamily="34" charset="-122"/>
              </a:rPr>
              <a:t>暂未安全暴露。</a:t>
            </a:r>
          </a:p>
        </p:txBody>
      </p:sp>
    </p:spTree>
    <p:extLst>
      <p:ext uri="{BB962C8B-B14F-4D97-AF65-F5344CB8AC3E}">
        <p14:creationId xmlns:p14="http://schemas.microsoft.com/office/powerpoint/2010/main" val="1248039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249C49E-57F9-1ABC-E797-347B2C01CB75}"/>
              </a:ext>
            </a:extLst>
          </p:cNvPr>
          <p:cNvSpPr txBox="1"/>
          <p:nvPr/>
        </p:nvSpPr>
        <p:spPr>
          <a:xfrm>
            <a:off x="482600" y="279400"/>
            <a:ext cx="11176000" cy="477054"/>
          </a:xfrm>
          <a:prstGeom prst="rect">
            <a:avLst/>
          </a:prstGeom>
          <a:noFill/>
        </p:spPr>
        <p:txBody>
          <a:bodyPr vert="horz" wrap="square" rtlCol="0">
            <a:spAutoFit/>
          </a:bodyPr>
          <a:lstStyle/>
          <a:p>
            <a:r>
              <a:rPr lang="zh-CN" altLang="en-US" sz="2500" b="1">
                <a:latin typeface="Microsoft YaHei" panose="020B0503020204020204" pitchFamily="34" charset="-122"/>
              </a:rPr>
              <a:t>论文可写结论</a:t>
            </a:r>
          </a:p>
        </p:txBody>
      </p:sp>
      <p:sp>
        <p:nvSpPr>
          <p:cNvPr id="3" name="文本框 2">
            <a:extLst>
              <a:ext uri="{FF2B5EF4-FFF2-40B4-BE49-F238E27FC236}">
                <a16:creationId xmlns:a16="http://schemas.microsoft.com/office/drawing/2014/main" id="{DB0FC245-BAE0-AF24-B744-FEF3E9AF3A28}"/>
              </a:ext>
            </a:extLst>
          </p:cNvPr>
          <p:cNvSpPr txBox="1"/>
          <p:nvPr/>
        </p:nvSpPr>
        <p:spPr>
          <a:xfrm>
            <a:off x="698500" y="1460500"/>
            <a:ext cx="10795000" cy="1246495"/>
          </a:xfrm>
          <a:prstGeom prst="rect">
            <a:avLst/>
          </a:prstGeom>
          <a:noFill/>
        </p:spPr>
        <p:txBody>
          <a:bodyPr vert="horz" wrap="square" rtlCol="0">
            <a:spAutoFit/>
          </a:bodyPr>
          <a:lstStyle/>
          <a:p>
            <a:r>
              <a:rPr lang="en-US" altLang="zh-CN" sz="1500">
                <a:latin typeface="Microsoft YaHei" panose="020B0503020204020204" pitchFamily="34" charset="-122"/>
              </a:rPr>
              <a:t>• </a:t>
            </a:r>
            <a:r>
              <a:rPr lang="zh-CN" altLang="en-US" sz="1500">
                <a:latin typeface="Microsoft YaHei" panose="020B0503020204020204" pitchFamily="34" charset="-122"/>
              </a:rPr>
              <a:t>本研究首先在五个典型站点年份上检验模型对水分与氮素状态的响应。结果表明，当前年份下水分胁迫指标 </a:t>
            </a:r>
            <a:r>
              <a:rPr lang="en-US" altLang="zh-CN" sz="1500">
                <a:latin typeface="Microsoft YaHei" panose="020B0503020204020204" pitchFamily="34" charset="-122"/>
              </a:rPr>
              <a:t>swfac </a:t>
            </a:r>
            <a:r>
              <a:rPr lang="zh-CN" altLang="en-US" sz="1500">
                <a:latin typeface="Microsoft YaHei" panose="020B0503020204020204" pitchFamily="34" charset="-122"/>
              </a:rPr>
              <a:t>基本接近 </a:t>
            </a:r>
            <a:r>
              <a:rPr lang="en-US" altLang="zh-CN" sz="1500">
                <a:latin typeface="Microsoft YaHei" panose="020B0503020204020204" pitchFamily="34" charset="-122"/>
              </a:rPr>
              <a:t>0</a:t>
            </a:r>
            <a:r>
              <a:rPr lang="zh-CN" altLang="en-US" sz="1500">
                <a:latin typeface="Microsoft YaHei" panose="020B0503020204020204" pitchFamily="34" charset="-122"/>
              </a:rPr>
              <a:t>，灌溉收益有限。</a:t>
            </a:r>
          </a:p>
          <a:p>
            <a:r>
              <a:rPr lang="en-US" altLang="zh-CN" sz="1500">
                <a:latin typeface="Microsoft YaHei" panose="020B0503020204020204" pitchFamily="34" charset="-122"/>
              </a:rPr>
              <a:t>• </a:t>
            </a:r>
            <a:r>
              <a:rPr lang="zh-CN" altLang="en-US" sz="1500">
                <a:latin typeface="Microsoft YaHei" panose="020B0503020204020204" pitchFamily="34" charset="-122"/>
              </a:rPr>
              <a:t>相比之下，不施肥或低施肥情景下 </a:t>
            </a:r>
            <a:r>
              <a:rPr lang="en-US" altLang="zh-CN" sz="1500">
                <a:latin typeface="Microsoft YaHei" panose="020B0503020204020204" pitchFamily="34" charset="-122"/>
              </a:rPr>
              <a:t>nstres </a:t>
            </a:r>
            <a:r>
              <a:rPr lang="zh-CN" altLang="en-US" sz="1500">
                <a:latin typeface="Microsoft YaHei" panose="020B0503020204020204" pitchFamily="34" charset="-122"/>
              </a:rPr>
              <a:t>明显升高，说明氮素管理是当前数据中更主要的限制因子。</a:t>
            </a:r>
          </a:p>
          <a:p>
            <a:r>
              <a:rPr lang="en-US" altLang="zh-CN" sz="1500">
                <a:latin typeface="Microsoft YaHei" panose="020B0503020204020204" pitchFamily="34" charset="-122"/>
              </a:rPr>
              <a:t>• </a:t>
            </a:r>
            <a:r>
              <a:rPr lang="zh-CN" altLang="en-US" sz="1500">
                <a:latin typeface="Microsoft YaHei" panose="020B0503020204020204" pitchFamily="34" charset="-122"/>
              </a:rPr>
              <a:t>因此，</a:t>
            </a:r>
            <a:r>
              <a:rPr lang="en-US" altLang="zh-CN" sz="1500">
                <a:latin typeface="Microsoft YaHei" panose="020B0503020204020204" pitchFamily="34" charset="-122"/>
              </a:rPr>
              <a:t>PPO </a:t>
            </a:r>
            <a:r>
              <a:rPr lang="zh-CN" altLang="en-US" sz="1500">
                <a:latin typeface="Microsoft YaHei" panose="020B0503020204020204" pitchFamily="34" charset="-122"/>
              </a:rPr>
              <a:t>在这些年份中倾向降低灌水量是合理的节水响应，而非模型未能学习灌溉；真正的灌溉能力应在干旱年份或构造干旱情景中进一步验证。</a:t>
            </a:r>
          </a:p>
        </p:txBody>
      </p:sp>
    </p:spTree>
    <p:extLst>
      <p:ext uri="{BB962C8B-B14F-4D97-AF65-F5344CB8AC3E}">
        <p14:creationId xmlns:p14="http://schemas.microsoft.com/office/powerpoint/2010/main" val="3225306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CD00FFF-D3EC-B76F-6F50-848DA26F679D}"/>
              </a:ext>
            </a:extLst>
          </p:cNvPr>
          <p:cNvSpPr txBox="1"/>
          <p:nvPr/>
        </p:nvSpPr>
        <p:spPr>
          <a:xfrm>
            <a:off x="482600" y="279400"/>
            <a:ext cx="11176000" cy="477054"/>
          </a:xfrm>
          <a:prstGeom prst="rect">
            <a:avLst/>
          </a:prstGeom>
          <a:noFill/>
        </p:spPr>
        <p:txBody>
          <a:bodyPr vert="horz" wrap="square" rtlCol="0">
            <a:spAutoFit/>
          </a:bodyPr>
          <a:lstStyle/>
          <a:p>
            <a:r>
              <a:rPr lang="zh-CN" altLang="en-US" sz="2500" b="1">
                <a:latin typeface="Microsoft YaHei" panose="020B0503020204020204" pitchFamily="34" charset="-122"/>
              </a:rPr>
              <a:t>后续实验设计</a:t>
            </a:r>
          </a:p>
        </p:txBody>
      </p:sp>
      <p:sp>
        <p:nvSpPr>
          <p:cNvPr id="3" name="文本框 2">
            <a:extLst>
              <a:ext uri="{FF2B5EF4-FFF2-40B4-BE49-F238E27FC236}">
                <a16:creationId xmlns:a16="http://schemas.microsoft.com/office/drawing/2014/main" id="{46445D9B-DFE0-56F2-CDE9-ACE0EE111870}"/>
              </a:ext>
            </a:extLst>
          </p:cNvPr>
          <p:cNvSpPr txBox="1"/>
          <p:nvPr/>
        </p:nvSpPr>
        <p:spPr>
          <a:xfrm>
            <a:off x="698500" y="1460500"/>
            <a:ext cx="10795000" cy="1015663"/>
          </a:xfrm>
          <a:prstGeom prst="rect">
            <a:avLst/>
          </a:prstGeom>
          <a:noFill/>
        </p:spPr>
        <p:txBody>
          <a:bodyPr vert="horz" wrap="square" rtlCol="0">
            <a:spAutoFit/>
          </a:bodyPr>
          <a:lstStyle/>
          <a:p>
            <a:r>
              <a:rPr lang="en-US" altLang="zh-CN" sz="1500">
                <a:latin typeface="Microsoft YaHei" panose="020B0503020204020204" pitchFamily="34" charset="-122"/>
              </a:rPr>
              <a:t>• </a:t>
            </a:r>
            <a:r>
              <a:rPr lang="zh-CN" altLang="en-US" sz="1500">
                <a:latin typeface="Microsoft YaHei" panose="020B0503020204020204" pitchFamily="34" charset="-122"/>
              </a:rPr>
              <a:t>真实数据路线：继续搜集干旱年份 </a:t>
            </a:r>
            <a:r>
              <a:rPr lang="en-US" altLang="zh-CN" sz="1500">
                <a:latin typeface="Microsoft YaHei" panose="020B0503020204020204" pitchFamily="34" charset="-122"/>
              </a:rPr>
              <a:t>WTH</a:t>
            </a:r>
            <a:r>
              <a:rPr lang="zh-CN" altLang="en-US" sz="1500">
                <a:latin typeface="Microsoft YaHei" panose="020B0503020204020204" pitchFamily="34" charset="-122"/>
              </a:rPr>
              <a:t>，优先选择 </a:t>
            </a:r>
            <a:r>
              <a:rPr lang="en-US" altLang="zh-CN" sz="1500">
                <a:latin typeface="Microsoft YaHei" panose="020B0503020204020204" pitchFamily="34" charset="-122"/>
              </a:rPr>
              <a:t>PRCP </a:t>
            </a:r>
            <a:r>
              <a:rPr lang="zh-CN" altLang="en-US" sz="1500">
                <a:latin typeface="Microsoft YaHei" panose="020B0503020204020204" pitchFamily="34" charset="-122"/>
              </a:rPr>
              <a:t>显著低于 </a:t>
            </a:r>
            <a:r>
              <a:rPr lang="en-US" altLang="zh-CN" sz="1500">
                <a:latin typeface="Microsoft YaHei" panose="020B0503020204020204" pitchFamily="34" charset="-122"/>
              </a:rPr>
              <a:t>ETCP </a:t>
            </a:r>
            <a:r>
              <a:rPr lang="zh-CN" altLang="en-US" sz="1500">
                <a:latin typeface="Microsoft YaHei" panose="020B0503020204020204" pitchFamily="34" charset="-122"/>
              </a:rPr>
              <a:t>且关键生育期降雨不足的站点年份。</a:t>
            </a:r>
          </a:p>
          <a:p>
            <a:r>
              <a:rPr lang="en-US" altLang="zh-CN" sz="1500">
                <a:latin typeface="Microsoft YaHei" panose="020B0503020204020204" pitchFamily="34" charset="-122"/>
              </a:rPr>
              <a:t>• </a:t>
            </a:r>
            <a:r>
              <a:rPr lang="zh-CN" altLang="en-US" sz="1500">
                <a:latin typeface="Microsoft YaHei" panose="020B0503020204020204" pitchFamily="34" charset="-122"/>
              </a:rPr>
              <a:t>调试路线：在原始 </a:t>
            </a:r>
            <a:r>
              <a:rPr lang="en-US" altLang="zh-CN" sz="1500">
                <a:latin typeface="Microsoft YaHei" panose="020B0503020204020204" pitchFamily="34" charset="-122"/>
              </a:rPr>
              <a:t>WTH </a:t>
            </a:r>
            <a:r>
              <a:rPr lang="zh-CN" altLang="en-US" sz="1500">
                <a:latin typeface="Microsoft YaHei" panose="020B0503020204020204" pitchFamily="34" charset="-122"/>
              </a:rPr>
              <a:t>基础上构造降雨缩放情景，例如 </a:t>
            </a:r>
            <a:r>
              <a:rPr lang="en-US" altLang="zh-CN" sz="1500">
                <a:latin typeface="Microsoft YaHei" panose="020B0503020204020204" pitchFamily="34" charset="-122"/>
              </a:rPr>
              <a:t>80%</a:t>
            </a:r>
            <a:r>
              <a:rPr lang="zh-CN" altLang="en-US" sz="1500">
                <a:latin typeface="Microsoft YaHei" panose="020B0503020204020204" pitchFamily="34" charset="-122"/>
              </a:rPr>
              <a:t>、</a:t>
            </a:r>
            <a:r>
              <a:rPr lang="en-US" altLang="zh-CN" sz="1500">
                <a:latin typeface="Microsoft YaHei" panose="020B0503020204020204" pitchFamily="34" charset="-122"/>
              </a:rPr>
              <a:t>60%</a:t>
            </a:r>
            <a:r>
              <a:rPr lang="zh-CN" altLang="en-US" sz="1500">
                <a:latin typeface="Microsoft YaHei" panose="020B0503020204020204" pitchFamily="34" charset="-122"/>
              </a:rPr>
              <a:t>、</a:t>
            </a:r>
            <a:r>
              <a:rPr lang="en-US" altLang="zh-CN" sz="1500">
                <a:latin typeface="Microsoft YaHei" panose="020B0503020204020204" pitchFamily="34" charset="-122"/>
              </a:rPr>
              <a:t>40% </a:t>
            </a:r>
            <a:r>
              <a:rPr lang="zh-CN" altLang="en-US" sz="1500">
                <a:latin typeface="Microsoft YaHei" panose="020B0503020204020204" pitchFamily="34" charset="-122"/>
              </a:rPr>
              <a:t>降雨，用于验证 </a:t>
            </a:r>
            <a:r>
              <a:rPr lang="en-US" altLang="zh-CN" sz="1500">
                <a:latin typeface="Microsoft YaHei" panose="020B0503020204020204" pitchFamily="34" charset="-122"/>
              </a:rPr>
              <a:t>all </a:t>
            </a:r>
            <a:r>
              <a:rPr lang="zh-CN" altLang="en-US" sz="1500">
                <a:latin typeface="Microsoft YaHei" panose="020B0503020204020204" pitchFamily="34" charset="-122"/>
              </a:rPr>
              <a:t>模式是否在水分胁迫增强时主动灌溉。</a:t>
            </a:r>
          </a:p>
          <a:p>
            <a:r>
              <a:rPr lang="en-US" altLang="zh-CN" sz="1500">
                <a:latin typeface="Microsoft YaHei" panose="020B0503020204020204" pitchFamily="34" charset="-122"/>
              </a:rPr>
              <a:t>• </a:t>
            </a:r>
            <a:r>
              <a:rPr lang="zh-CN" altLang="en-US" sz="1500">
                <a:latin typeface="Microsoft YaHei" panose="020B0503020204020204" pitchFamily="34" charset="-122"/>
              </a:rPr>
              <a:t>论文表述：历史天气可作为完美预报输入；后续可将未来 </a:t>
            </a:r>
            <a:r>
              <a:rPr lang="en-US" altLang="zh-CN" sz="1500">
                <a:latin typeface="Microsoft YaHei" panose="020B0503020204020204" pitchFamily="34" charset="-122"/>
              </a:rPr>
              <a:t>3/7/14 </a:t>
            </a:r>
            <a:r>
              <a:rPr lang="zh-CN" altLang="en-US" sz="1500">
                <a:latin typeface="Microsoft YaHei" panose="020B0503020204020204" pitchFamily="34" charset="-122"/>
              </a:rPr>
              <a:t>天降雨、温度、辐射统计接入 </a:t>
            </a:r>
            <a:r>
              <a:rPr lang="en-US" altLang="zh-CN" sz="1500">
                <a:latin typeface="Microsoft YaHei" panose="020B0503020204020204" pitchFamily="34" charset="-122"/>
              </a:rPr>
              <a:t>observation</a:t>
            </a:r>
            <a:r>
              <a:rPr lang="zh-CN" altLang="en-US" sz="1500">
                <a:latin typeface="Microsoft YaHei" panose="020B0503020204020204" pitchFamily="34" charset="-122"/>
              </a:rPr>
              <a:t>。</a:t>
            </a:r>
          </a:p>
        </p:txBody>
      </p:sp>
    </p:spTree>
    <p:extLst>
      <p:ext uri="{BB962C8B-B14F-4D97-AF65-F5344CB8AC3E}">
        <p14:creationId xmlns:p14="http://schemas.microsoft.com/office/powerpoint/2010/main" val="176707321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430</Words>
  <Application>Microsoft Office PowerPoint</Application>
  <PresentationFormat>宽屏</PresentationFormat>
  <Paragraphs>79</Paragraphs>
  <Slides>4</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vt:i4>
      </vt:variant>
    </vt:vector>
  </HeadingPairs>
  <TitlesOfParts>
    <vt:vector size="9" baseType="lpstr">
      <vt:lpstr>等线</vt:lpstr>
      <vt:lpstr>等线 Light</vt:lpstr>
      <vt:lpstr>Microsoft YaHei</vt:lpstr>
      <vt:lpstr>Arial</vt:lpstr>
      <vt:lpstr>Office 主题​​</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雨秋 杜</dc:creator>
  <cp:lastModifiedBy>雨秋 杜</cp:lastModifiedBy>
  <cp:revision>1</cp:revision>
  <dcterms:created xsi:type="dcterms:W3CDTF">2026-06-01T13:21:56Z</dcterms:created>
  <dcterms:modified xsi:type="dcterms:W3CDTF">2026-06-01T13:21:56Z</dcterms:modified>
</cp:coreProperties>
</file>