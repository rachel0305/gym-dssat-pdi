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000000"/>
                </a:solidFill>
                <a:latin typeface="Microsoft YaHei"/>
              </a:rPr>
              <a:t>PPO observed-year 框架生成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72800" cy="5394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Microsoft YaHei"/>
              </a:rPr>
              <a:t>目标：生成 leave-one PPO 训练/验证/绘图框架。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Microsoft YaHei"/>
              </a:rPr>
              <a:t>本阶段只跑 HLA 2007 seed0 小步数 debug PPO。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Microsoft YaHei"/>
              </a:rPr>
              <a:t>不批量训练全部站点，不修改 reward，不覆盖 my_data 原始数据。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000000"/>
                </a:solidFill>
                <a:latin typeface="Microsoft YaHei"/>
              </a:rPr>
              <a:t>前置 smoke test 修复结果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72800" cy="5394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Microsoft YaHei"/>
              </a:rPr>
              <a:t>上一阶段 29 个 timeout 案例已全部重跑成功。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Microsoft YaHei"/>
              </a:rPr>
              <a:t>修复点：MI/MF 管理层级、irrigation/fertilizer sections、跨年份静态管理日期。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Microsoft YaHei"/>
              </a:rPr>
              <a:t>PPO 必须复用同一套 safe rendered input 逻辑。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000000"/>
                </a:solidFill>
                <a:latin typeface="Microsoft YaHei"/>
              </a:rPr>
              <a:t>PPO 实验设计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1005840"/>
          <a:ext cx="1133856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7712"/>
                <a:gridCol w="2267712"/>
                <a:gridCol w="2267712"/>
                <a:gridCol w="2267712"/>
                <a:gridCol w="2267712"/>
              </a:tblGrid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YaHei"/>
                        </a:rPr>
                        <a:t>station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YaHei"/>
                        </a:rPr>
                        <a:t>train_year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YaHei"/>
                        </a:rPr>
                        <a:t>train_year_label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YaHei"/>
                        </a:rPr>
                        <a:t>validation_years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YaHei"/>
                        </a:rPr>
                        <a:t>cross_validation_type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Microsoft YaHei"/>
                        </a:rPr>
                        <a:t>HLA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Microsoft YaHei"/>
                        </a:rPr>
                        <a:t>2007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Microsoft YaHei"/>
                        </a:rPr>
                        <a:t>observed_low_rain_year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Microsoft YaHei"/>
                        </a:rPr>
                        <a:t>2011,2009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Microsoft YaHei"/>
                        </a:rPr>
                        <a:t>three_year_leave_one</a:t>
                      </a:r>
                    </a:p>
                  </a:txBody>
                  <a:tcPr/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Microsoft YaHei"/>
                        </a:rPr>
                        <a:t>HLA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Microsoft YaHei"/>
                        </a:rPr>
                        <a:t>2011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Microsoft YaHei"/>
                        </a:rPr>
                        <a:t>observed_mid_rain_year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Microsoft YaHei"/>
                        </a:rPr>
                        <a:t>2007,2009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Microsoft YaHei"/>
                        </a:rPr>
                        <a:t>three_year_leave_one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Microsoft YaHei"/>
                        </a:rPr>
                        <a:t>HLA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Microsoft YaHei"/>
                        </a:rPr>
                        <a:t>2009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Microsoft YaHei"/>
                        </a:rPr>
                        <a:t>observed_high_rain_year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Microsoft YaHei"/>
                        </a:rPr>
                        <a:t>2007,2011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Microsoft YaHei"/>
                        </a:rPr>
                        <a:t>three_year_leave_one</a:t>
                      </a:r>
                    </a:p>
                  </a:txBody>
                  <a:tcPr/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Microsoft YaHei"/>
                        </a:rPr>
                        <a:t>SYA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Microsoft YaHei"/>
                        </a:rPr>
                        <a:t>2014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Microsoft YaHei"/>
                        </a:rPr>
                        <a:t>observed_low_rain_year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Microsoft YaHei"/>
                        </a:rPr>
                        <a:t>2015,2012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Microsoft YaHei"/>
                        </a:rPr>
                        <a:t>three_year_leave_one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Microsoft YaHei"/>
                        </a:rPr>
                        <a:t>SYA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Microsoft YaHei"/>
                        </a:rPr>
                        <a:t>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Microsoft YaHei"/>
                        </a:rPr>
                        <a:t>observed_mid_rain_year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Microsoft YaHei"/>
                        </a:rPr>
                        <a:t>2014,2012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Microsoft YaHei"/>
                        </a:rPr>
                        <a:t>three_year_leave_one</a:t>
                      </a:r>
                    </a:p>
                  </a:txBody>
                  <a:tcPr/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Microsoft YaHei"/>
                        </a:rPr>
                        <a:t>SYA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Microsoft YaHei"/>
                        </a:rPr>
                        <a:t>2012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Microsoft YaHei"/>
                        </a:rPr>
                        <a:t>observed_high_rain_year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Microsoft YaHei"/>
                        </a:rPr>
                        <a:t>2014,2015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Microsoft YaHei"/>
                        </a:rPr>
                        <a:t>three_year_leave_one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Microsoft YaHei"/>
                        </a:rPr>
                        <a:t>LCA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Microsoft YaHei"/>
                        </a:rPr>
                        <a:t>2010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Microsoft YaHei"/>
                        </a:rPr>
                        <a:t>observed_low_rain_year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Microsoft YaHei"/>
                        </a:rPr>
                        <a:t>2011,2008,2009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Microsoft YaHei"/>
                        </a:rPr>
                        <a:t>four_year_leave_one</a:t>
                      </a:r>
                    </a:p>
                  </a:txBody>
                  <a:tcPr/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Microsoft YaHei"/>
                        </a:rPr>
                        <a:t>LCA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Microsoft YaHei"/>
                        </a:rPr>
                        <a:t>2011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Microsoft YaHei"/>
                        </a:rPr>
                        <a:t>observed_mid_rain_year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Microsoft YaHei"/>
                        </a:rPr>
                        <a:t>2010,2008,2009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Microsoft YaHei"/>
                        </a:rPr>
                        <a:t>four_year_leave_one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Microsoft YaHei"/>
                        </a:rPr>
                        <a:t>LCA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Microsoft YaHei"/>
                        </a:rPr>
                        <a:t>2008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Microsoft YaHei"/>
                        </a:rPr>
                        <a:t>observed_intermediate_rain_year_3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Microsoft YaHei"/>
                        </a:rPr>
                        <a:t>2010,2011,2009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Microsoft YaHei"/>
                        </a:rPr>
                        <a:t>four_year_leave_one</a:t>
                      </a:r>
                    </a:p>
                  </a:txBody>
                  <a:tcPr/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Microsoft YaHei"/>
                        </a:rPr>
                        <a:t>LCA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Microsoft YaHei"/>
                        </a:rPr>
                        <a:t>2009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Microsoft YaHei"/>
                        </a:rPr>
                        <a:t>observed_high_rain_year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Microsoft YaHei"/>
                        </a:rPr>
                        <a:t>2010,2011,2008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Microsoft YaHei"/>
                        </a:rPr>
                        <a:t>four_year_leave_one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Microsoft YaHei"/>
                        </a:rPr>
                        <a:t>FQA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Microsoft YaHei"/>
                        </a:rPr>
                        <a:t>2008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Microsoft YaHei"/>
                        </a:rPr>
                        <a:t>observed_lower_rain_year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Microsoft YaHei"/>
                        </a:rPr>
                        <a:t>2010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Microsoft YaHei"/>
                        </a:rPr>
                        <a:t>two_year_cross_validation</a:t>
                      </a:r>
                    </a:p>
                  </a:txBody>
                  <a:tcPr/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Microsoft YaHei"/>
                        </a:rPr>
                        <a:t>FQA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Microsoft YaHei"/>
                        </a:rPr>
                        <a:t>2010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Microsoft YaHei"/>
                        </a:rPr>
                        <a:t>observed_higher_rain_year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Microsoft YaHei"/>
                        </a:rPr>
                        <a:t>2008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Microsoft YaHei"/>
                        </a:rPr>
                        <a:t>two_year_cross_validation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Microsoft YaHei"/>
                        </a:rPr>
                        <a:t>YCA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Microsoft YaHei"/>
                        </a:rPr>
                        <a:t>2014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Microsoft YaHei"/>
                        </a:rPr>
                        <a:t>observed_lower_rain_year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Microsoft YaHei"/>
                        </a:rPr>
                        <a:t>2008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Microsoft YaHei"/>
                        </a:rPr>
                        <a:t>two_year_cross_validation</a:t>
                      </a:r>
                    </a:p>
                  </a:txBody>
                  <a:tcPr/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Microsoft YaHei"/>
                        </a:rPr>
                        <a:t>YCA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Microsoft YaHei"/>
                        </a:rPr>
                        <a:t>2008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Microsoft YaHei"/>
                        </a:rPr>
                        <a:t>observed_higher_rain_year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Microsoft YaHei"/>
                        </a:rPr>
                        <a:t>2014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Microsoft YaHei"/>
                        </a:rPr>
                        <a:t>two_year_cross_validation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000000"/>
                </a:solidFill>
                <a:latin typeface="Microsoft YaHei"/>
              </a:rPr>
              <a:t>安全 rendered input 机制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72800" cy="5394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Microsoft YaHei"/>
              </a:rPr>
              <a:t>每次训练/评估生成临时 rendered input。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Microsoft YaHei"/>
              </a:rPr>
              <a:t>不修改 my_data 原始模板、SOL、WTH、CUL。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Microsoft YaHei"/>
              </a:rPr>
              <a:t>保证 MI/MF、灌溉 section、施肥 section 可用。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Microsoft YaHei"/>
              </a:rPr>
              <a:t>替换 simulation start 前的历史灌溉/施肥事件。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000000"/>
                </a:solidFill>
                <a:latin typeface="Microsoft YaHei"/>
              </a:rPr>
              <a:t>pretrain smoke check 机制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1005840"/>
          <a:ext cx="1133856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417320"/>
                <a:gridCol w="1417320"/>
                <a:gridCol w="1417320"/>
                <a:gridCol w="1417320"/>
                <a:gridCol w="1417320"/>
              </a:tblGrid>
              <a:tr h="176784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station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train_year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policy_name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run_status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episode_completed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error_message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daily_csv_path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notes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176784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HLA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2007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null_zero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Leave_One_experiments/ppo_observed_years/smoke_checks/daily_outputs/HLA/HLA_2007_null_zero_daily.csv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pretrain_smoke_check</a:t>
                      </a:r>
                    </a:p>
                  </a:txBody>
                  <a:tcPr/>
                </a:tc>
              </a:tr>
              <a:tr h="176784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HLA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2007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fixed_low_input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ok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True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Leave_One_experiments/ppo_observed_years/smoke_checks/daily_outputs/HLA/HLA_2007_fixed_low_input_daily.csv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pretrain_smoke_check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000000"/>
                </a:solidFill>
                <a:latin typeface="Microsoft YaHei"/>
              </a:rPr>
              <a:t>PPO daily output 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72800" cy="5394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Microsoft YaHei"/>
              </a:rPr>
              <a:t>训练后评估训练年和 validation years。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Microsoft YaHei"/>
              </a:rPr>
              <a:t>保存 dap/topwt/grnwt/xlai/totir/tofer/swfac/nstres/reward。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Microsoft YaHei"/>
              </a:rPr>
              <a:t>同时保存 real_action_amir/anfer 和 normalized_action_amir/anfer。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Microsoft YaHei"/>
              </a:rPr>
              <a:t>每次评估生成 5 张 daily response 图。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000000"/>
                </a:solidFill>
                <a:latin typeface="Microsoft YaHei"/>
              </a:rPr>
              <a:t>HLA 2007 debug 试训结果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1005840"/>
          <a:ext cx="1133856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417320"/>
                <a:gridCol w="1417320"/>
                <a:gridCol w="1417320"/>
                <a:gridCol w="1417320"/>
                <a:gridCol w="1417320"/>
              </a:tblGrid>
              <a:tr h="132588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station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train_year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eval_year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run_status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episode_length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final_grnwt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total_irrigation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total_n_fertilizer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132588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icrosoft YaHei"/>
                        </a:rPr>
                        <a:t>HLA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icrosoft YaHei"/>
                        </a:rPr>
                        <a:t>2007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icrosoft YaHei"/>
                        </a:rPr>
                        <a:t>2007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icrosoft YaHei"/>
                        </a:rPr>
                        <a:t>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icrosoft YaHei"/>
                        </a:rPr>
                        <a:t>149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icrosoft YaHei"/>
                        </a:rPr>
                        <a:t>4463.160705566406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icrosoft YaHei"/>
                        </a:rPr>
                        <a:t>3067.776962229982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icrosoft YaHei"/>
                        </a:rPr>
                        <a:t>14503.75838568434</a:t>
                      </a:r>
                    </a:p>
                  </a:txBody>
                  <a:tcPr/>
                </a:tc>
              </a:tr>
              <a:tr h="132588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icrosoft YaHei"/>
                        </a:rPr>
                        <a:t>HLA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icrosoft YaHei"/>
                        </a:rPr>
                        <a:t>2007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icrosoft YaHei"/>
                        </a:rPr>
                        <a:t>2011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icrosoft YaHei"/>
                        </a:rPr>
                        <a:t>ok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icrosoft YaHei"/>
                        </a:rPr>
                        <a:t>169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icrosoft YaHei"/>
                        </a:rPr>
                        <a:t>4443.5235595703125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icrosoft YaHei"/>
                        </a:rPr>
                        <a:t>3486.413371469825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icrosoft YaHei"/>
                        </a:rPr>
                        <a:t>16457.4934088625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</a:tr>
              <a:tr h="132588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icrosoft YaHei"/>
                        </a:rPr>
                        <a:t>HLA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icrosoft YaHei"/>
                        </a:rPr>
                        <a:t>2007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icrosoft YaHei"/>
                        </a:rPr>
                        <a:t>2009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icrosoft YaHei"/>
                        </a:rPr>
                        <a:t>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icrosoft YaHei"/>
                        </a:rPr>
                        <a:t>159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icrosoft YaHei"/>
                        </a:rPr>
                        <a:t>4614.294738769531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icrosoft YaHei"/>
                        </a:rPr>
                        <a:t>3278.5977747291327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icrosoft YaHei"/>
                        </a:rPr>
                        <a:t>15485.282227024436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000000"/>
                </a:solidFill>
                <a:latin typeface="Microsoft YaHei"/>
              </a:rPr>
              <a:t>后续完整训练计划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72800" cy="5394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Microsoft YaHei"/>
              </a:rPr>
              <a:t>下一步建议先逐个运行 HLA、SYA、LCA。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Microsoft YaHei"/>
              </a:rPr>
              <a:t>每个模型先 pretrain smoke check，再训练，再评估。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Microsoft YaHei"/>
              </a:rPr>
              <a:t>FQA/YCA 只有 2 年，报告中应标记为 limited two-year cross validation。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000000"/>
                </a:solidFill>
                <a:latin typeface="Microsoft YaHei"/>
              </a:rPr>
              <a:t>风险和注意事项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72800" cy="5394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Microsoft YaHei"/>
              </a:rPr>
              <a:t>最终 PPO 超参数仍需确认，配置中保留 null。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Microsoft YaHei"/>
              </a:rPr>
              <a:t>debug PPO 只用于验证流程，不代表最终策略效果。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Microsoft YaHei"/>
              </a:rPr>
              <a:t>模型文件不要上传大批量版本到 GitHub。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Microsoft YaHei"/>
              </a:rPr>
              <a:t>后续训练仍需关注 OOM 和 DSSAT 子进程清理。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