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Microsoft YaHei"/>
              </a:defRPr>
            </a:pPr>
            <a:r>
              <a:t>Action-safe site-level PPO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000000"/>
                </a:solidFill>
                <a:latin typeface="Microsoft YaHei"/>
              </a:defRPr>
            </a:pPr>
            <a:r>
              <a:t>本阶段只训练 HLA、SYA、LCA，并启用 action safety。</a:t>
            </a:r>
          </a:p>
          <a:p>
            <a:pPr>
              <a:defRPr sz="1700">
                <a:solidFill>
                  <a:srgbClr val="000000"/>
                </a:solidFill>
                <a:latin typeface="Microsoft YaHei"/>
              </a:defRPr>
            </a:pPr>
            <a:r>
              <a:t>不训练无 safety PPO，不训练 FQA/YCA，不修改 reward，不修改 my_data。</a:t>
            </a:r>
          </a:p>
          <a:p>
            <a:pPr>
              <a:defRPr sz="1700">
                <a:solidFill>
                  <a:srgbClr val="000000"/>
                </a:solidFill>
                <a:latin typeface="Microsoft YaHei"/>
              </a:defRPr>
            </a:pPr>
            <a:r>
              <a:t>每个模型训练前运行 null_zero 和 fixed_low_input smoke check，训练后评估训练年份和所有验证年份。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Microsoft YaHei"/>
              </a:defRPr>
            </a:pPr>
            <a:r>
              <a:t>Quality gates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000000"/>
                </a:solidFill>
                <a:latin typeface="Microsoft YaHei"/>
              </a:defRPr>
            </a:pPr>
            <a:r>
              <a:t>total_irrigation &lt;= 300.0 mm</a:t>
            </a:r>
          </a:p>
          <a:p>
            <a:pPr>
              <a:defRPr sz="1700">
                <a:solidFill>
                  <a:srgbClr val="000000"/>
                </a:solidFill>
                <a:latin typeface="Microsoft YaHei"/>
              </a:defRPr>
            </a:pPr>
            <a:r>
              <a:t>total_n_fertilizer &lt;= 400.0 kg/ha</a:t>
            </a:r>
          </a:p>
          <a:p>
            <a:pPr>
              <a:defRPr sz="1700">
                <a:solidFill>
                  <a:srgbClr val="000000"/>
                </a:solidFill>
                <a:latin typeface="Microsoft YaHei"/>
              </a:defRPr>
            </a:pPr>
            <a:r>
              <a:t>run_status 必须为 ok，episode 必须完成，daily CSV 和全部图必须存在。</a:t>
            </a:r>
          </a:p>
          <a:p>
            <a:pPr>
              <a:defRPr sz="1700">
                <a:solidFill>
                  <a:srgbClr val="000000"/>
                </a:solidFill>
                <a:latin typeface="Microsoft YaHei"/>
              </a:defRPr>
            </a:pPr>
            <a:r>
              <a:t>任一模型或任一 evaluation 不通过就停止后续站点。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Microsoft YaHei"/>
              </a:defRPr>
            </a:pPr>
            <a:r>
              <a:t>Model-level result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914400"/>
          <a:ext cx="1152144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  <a:gridCol w="1645920"/>
                <a:gridCol w="1645920"/>
              </a:tblGrid>
              <a:tr h="58928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Microsoft YaHei"/>
                        </a:rPr>
                        <a:t>station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Microsoft YaHei"/>
                        </a:rPr>
                        <a:t>policy_name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Microsoft YaHei"/>
                        </a:rPr>
                        <a:t>evals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Microsoft YaHei"/>
                        </a:rPr>
                        <a:t>passed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Microsoft YaHei"/>
                        </a:rPr>
                        <a:t>yield_mean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Microsoft YaHei"/>
                        </a:rPr>
                        <a:t>irrig_mean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Microsoft YaHei"/>
                        </a:rPr>
                        <a:t>n_mean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Microsoft YaHei"/>
                        </a:rPr>
                        <a:t>HLA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Microsoft YaHei"/>
                        </a:rPr>
                        <a:t>HLA_train2007_seed0_action_safe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Microsoft YaHei"/>
                        </a:rPr>
                        <a:t>7125.01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Microsoft YaHei"/>
                        </a:rPr>
                        <a:t>200.00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Microsoft YaHei"/>
                        </a:rPr>
                        <a:t>300.00</a:t>
                      </a:r>
                    </a:p>
                  </a:txBody>
                  <a:tcPr/>
                </a:tc>
              </a:tr>
              <a:tr h="58928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Microsoft YaHei"/>
                        </a:rPr>
                        <a:t>HLA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Microsoft YaHei"/>
                        </a:rPr>
                        <a:t>HLA_train2009_seed0_action_safe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Microsoft YaHei"/>
                        </a:rPr>
                        <a:t>7132.83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Microsoft YaHei"/>
                        </a:rPr>
                        <a:t>200.00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Microsoft YaHei"/>
                        </a:rPr>
                        <a:t>300.00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Microsoft YaHei"/>
                        </a:rPr>
                        <a:t>HLA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Microsoft YaHei"/>
                        </a:rPr>
                        <a:t>HLA_train2011_seed0_action_safe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Microsoft YaHei"/>
                        </a:rPr>
                        <a:t>7122.66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Microsoft YaHei"/>
                        </a:rPr>
                        <a:t>200.00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Microsoft YaHei"/>
                        </a:rPr>
                        <a:t>300.00</a:t>
                      </a:r>
                    </a:p>
                  </a:txBody>
                  <a:tcPr/>
                </a:tc>
              </a:tr>
              <a:tr h="58928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Microsoft YaHei"/>
                        </a:rPr>
                        <a:t>LCA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Microsoft YaHei"/>
                        </a:rPr>
                        <a:t>LCA_train2008_seed0_action_safe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Microsoft YaHei"/>
                        </a:rPr>
                        <a:t>8760.11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Microsoft YaHei"/>
                        </a:rPr>
                        <a:t>200.00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Microsoft YaHei"/>
                        </a:rPr>
                        <a:t>300.00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Microsoft YaHei"/>
                        </a:rPr>
                        <a:t>LCA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Microsoft YaHei"/>
                        </a:rPr>
                        <a:t>LCA_train2009_seed0_action_safe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Microsoft YaHei"/>
                        </a:rPr>
                        <a:t>8812.40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Microsoft YaHei"/>
                        </a:rPr>
                        <a:t>200.00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Microsoft YaHei"/>
                        </a:rPr>
                        <a:t>300.00</a:t>
                      </a:r>
                    </a:p>
                  </a:txBody>
                  <a:tcPr/>
                </a:tc>
              </a:tr>
              <a:tr h="58928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Microsoft YaHei"/>
                        </a:rPr>
                        <a:t>LCA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Microsoft YaHei"/>
                        </a:rPr>
                        <a:t>LCA_train2010_seed0_action_safe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Microsoft YaHei"/>
                        </a:rPr>
                        <a:t>8790.05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Microsoft YaHei"/>
                        </a:rPr>
                        <a:t>200.00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Microsoft YaHei"/>
                        </a:rPr>
                        <a:t>300.00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Microsoft YaHei"/>
                        </a:rPr>
                        <a:t>LCA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Microsoft YaHei"/>
                        </a:rPr>
                        <a:t>LCA_train2011_seed0_action_safe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Microsoft YaHei"/>
                        </a:rPr>
                        <a:t>8815.43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Microsoft YaHei"/>
                        </a:rPr>
                        <a:t>200.00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Microsoft YaHei"/>
                        </a:rPr>
                        <a:t>300.00</a:t>
                      </a:r>
                    </a:p>
                  </a:txBody>
                  <a:tcPr/>
                </a:tc>
              </a:tr>
              <a:tr h="58928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Microsoft YaHei"/>
                        </a:rPr>
                        <a:t>SYA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Microsoft YaHei"/>
                        </a:rPr>
                        <a:t>SYA_train2012_seed0_action_safe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Microsoft YaHei"/>
                        </a:rPr>
                        <a:t>10252.54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Microsoft YaHei"/>
                        </a:rPr>
                        <a:t>200.00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Microsoft YaHei"/>
                        </a:rPr>
                        <a:t>300.00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Microsoft YaHei"/>
              </a:defRPr>
            </a:pPr>
            <a:r>
              <a:t>Best policy by site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9144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  <a:gridCol w="1645920"/>
                <a:gridCol w="1645920"/>
              </a:tblGrid>
              <a:tr h="109728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Microsoft YaHei"/>
                        </a:rPr>
                        <a:t>station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Microsoft YaHei"/>
                        </a:rPr>
                        <a:t>best_policy_name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Microsoft YaHei"/>
                        </a:rPr>
                        <a:t>validation_years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Microsoft YaHei"/>
                        </a:rPr>
                        <a:t>mean_yield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Microsoft YaHei"/>
                        </a:rPr>
                        <a:t>mean_irrigation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Microsoft YaHei"/>
                        </a:rPr>
                        <a:t>mean_n_fertilizer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Microsoft YaHei"/>
                        </a:rPr>
                        <a:t>stability_score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Microsoft YaHei"/>
                        </a:rPr>
                        <a:t>HLA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Microsoft YaHei"/>
                        </a:rPr>
                        <a:t>HLA_train2011_seed0_action_safe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Microsoft YaHei"/>
                        </a:rPr>
                        <a:t>2007,2009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Microsoft YaHei"/>
                        </a:rPr>
                        <a:t>7321.97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Microsoft YaHei"/>
                        </a:rPr>
                        <a:t>200.00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Microsoft YaHei"/>
                        </a:rPr>
                        <a:t>300.00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Microsoft YaHei"/>
                        </a:rPr>
                        <a:t>1.000</a:t>
                      </a:r>
                    </a:p>
                  </a:txBody>
                  <a:tcPr/>
                </a:tc>
              </a:tr>
              <a:tr h="109728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Microsoft YaHei"/>
                        </a:rPr>
                        <a:t>LCA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Microsoft YaHei"/>
                        </a:rPr>
                        <a:t>LCA_train2010_seed0_action_safe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Microsoft YaHei"/>
                        </a:rPr>
                        <a:t>2008,2009,2011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Microsoft YaHei"/>
                        </a:rPr>
                        <a:t>9040.48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Microsoft YaHei"/>
                        </a:rPr>
                        <a:t>200.00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Microsoft YaHei"/>
                        </a:rPr>
                        <a:t>300.00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Microsoft YaHei"/>
                        </a:rPr>
                        <a:t>0.000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Microsoft YaHei"/>
                        </a:rPr>
                        <a:t>SYA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Microsoft YaHei"/>
                        </a:rPr>
                        <a:t>SYA_train2012_seed0_action_safe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Microsoft YaHei"/>
                        </a:rPr>
                        <a:t>2014,2015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Microsoft YaHei"/>
                        </a:rPr>
                        <a:t>10781.32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Microsoft YaHei"/>
                        </a:rPr>
                        <a:t>200.00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Microsoft YaHei"/>
                        </a:rPr>
                        <a:t>300.00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Microsoft YaHei"/>
                        </a:rPr>
                        <a:t>1.000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" y="548640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000000"/>
                </a:solidFill>
                <a:latin typeface="Microsoft YaHei"/>
              </a:defRPr>
            </a:pPr>
            <a:r>
              <a:t>best_policy_by_site.csv: Leave_One_experiments\ppo_action_safe_site_training\strategy_selection\best_policy_by_site.csv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Microsoft YaHei"/>
              </a:defRPr>
            </a:pPr>
            <a:r>
              <a:t>Next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000000"/>
                </a:solidFill>
                <a:latin typeface="Microsoft YaHei"/>
              </a:defRPr>
            </a:pPr>
            <a:r>
              <a:t>如果 HLA、SYA、LCA 全部通过质量门，可以进入 FQA/YCA two-year cross validation 或多 seed 稳定性分析。</a:t>
            </a:r>
          </a:p>
          <a:p>
            <a:pPr>
              <a:defRPr sz="1700">
                <a:solidFill>
                  <a:srgbClr val="000000"/>
                </a:solidFill>
                <a:latin typeface="Microsoft YaHei"/>
              </a:defRPr>
            </a:pPr>
            <a:r>
              <a:t>如果某站点失败，应优先查看 quality_gate_reason、daily action、raw vs safe action 和 safety trigger 图，再决定是否调整 action safety 或训练步数。</a:t>
            </a:r>
          </a:p>
          <a:p>
            <a:pPr>
              <a:defRPr sz="1700">
                <a:solidFill>
                  <a:srgbClr val="000000"/>
                </a:solidFill>
                <a:latin typeface="Microsoft YaHei"/>
              </a:defRPr>
            </a:pPr>
            <a:r>
              <a:t>Markdown report: docs\2026-06-06_action_safe_site_level_ppo_training_report.md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