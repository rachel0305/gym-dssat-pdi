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41074bd974719" /><Relationship Type="http://schemas.openxmlformats.org/officeDocument/2006/relationships/extended-properties" Target="/docProps/app.xml" Id="R5c9c9188c12b4a0f" /><Relationship Type="http://schemas.openxmlformats.org/officeDocument/2006/relationships/officeDocument" Target="/ppt/presentation.xml" Id="R00db7976754c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8099b5c4474904"/>
  </p:sldMasterIdLst>
  <p:notesMasterIdLst>
    <p:notesMasterId xmlns:r="http://schemas.openxmlformats.org/officeDocument/2006/relationships" r:id="R4dcfbe4ad87648ab"/>
  </p:notesMasterIdLst>
  <p:sldIdLst>
    <p:sldId xmlns:r="http://schemas.openxmlformats.org/officeDocument/2006/relationships" id="256" r:id="R4fe92450e4734379"/>
    <p:sldId xmlns:r="http://schemas.openxmlformats.org/officeDocument/2006/relationships" id="257" r:id="R27c675f904304ac9"/>
    <p:sldId xmlns:r="http://schemas.openxmlformats.org/officeDocument/2006/relationships" id="258" r:id="R365b2dd6a55f4f15"/>
    <p:sldId xmlns:r="http://schemas.openxmlformats.org/officeDocument/2006/relationships" id="259" r:id="Rf3832f18a9b04a69"/>
    <p:sldId xmlns:r="http://schemas.openxmlformats.org/officeDocument/2006/relationships" id="260" r:id="R17245a5edc03419a"/>
    <p:sldId xmlns:r="http://schemas.openxmlformats.org/officeDocument/2006/relationships" id="261" r:id="Rce960fe68d3942f4"/>
    <p:sldId xmlns:r="http://schemas.openxmlformats.org/officeDocument/2006/relationships" id="262" r:id="Rbd9e365fd4134c72"/>
    <p:sldId xmlns:r="http://schemas.openxmlformats.org/officeDocument/2006/relationships" id="263" r:id="R345592e46b2c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c214e28a074cce" /><Relationship Type="http://schemas.openxmlformats.org/officeDocument/2006/relationships/slideMaster" Target="/ppt/slideMasters/slideMaster1.xml" Id="R2f8099b5c4474904" /><Relationship Type="http://schemas.openxmlformats.org/officeDocument/2006/relationships/notesMaster" Target="/ppt/notesMasters/notesMaster1.xml" Id="R4dcfbe4ad87648ab" /><Relationship Type="http://schemas.openxmlformats.org/officeDocument/2006/relationships/presProps" Target="/ppt/presProps.xml" Id="R217a7c7babf643c8" /><Relationship Type="http://schemas.openxmlformats.org/officeDocument/2006/relationships/tableStyles" Target="/ppt/tableStyles.xml" Id="R6423fc9c01e44b9e" /><Relationship Type="http://schemas.openxmlformats.org/officeDocument/2006/relationships/slide" Target="/ppt/slides/slide1.xml" Id="R4fe92450e4734379" /><Relationship Type="http://schemas.openxmlformats.org/officeDocument/2006/relationships/slide" Target="/ppt/slides/slide2.xml" Id="R27c675f904304ac9" /><Relationship Type="http://schemas.openxmlformats.org/officeDocument/2006/relationships/slide" Target="/ppt/slides/slide3.xml" Id="R365b2dd6a55f4f15" /><Relationship Type="http://schemas.openxmlformats.org/officeDocument/2006/relationships/slide" Target="/ppt/slides/slide4.xml" Id="Rf3832f18a9b04a69" /><Relationship Type="http://schemas.openxmlformats.org/officeDocument/2006/relationships/slide" Target="/ppt/slides/slide5.xml" Id="R17245a5edc03419a" /><Relationship Type="http://schemas.openxmlformats.org/officeDocument/2006/relationships/slide" Target="/ppt/slides/slide6.xml" Id="Rce960fe68d3942f4" /><Relationship Type="http://schemas.openxmlformats.org/officeDocument/2006/relationships/slide" Target="/ppt/slides/slide7.xml" Id="Rbd9e365fd4134c72" /><Relationship Type="http://schemas.openxmlformats.org/officeDocument/2006/relationships/slide" Target="/ppt/slides/slide8.xml" Id="R345592e46b2c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b1f35f651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YC Field Audit">
      <a:dk1>
        <a:srgbClr val="10231F"/>
      </a:dk1>
      <a:lt1>
        <a:srgbClr val="FFFFFF"/>
      </a:lt1>
      <a:dk2>
        <a:srgbClr val="18312B"/>
      </a:dk2>
      <a:lt2>
        <a:srgbClr val="D8E1DC"/>
      </a:lt2>
      <a:accent1>
        <a:srgbClr val="1E5A48"/>
      </a:accent1>
      <a:accent2>
        <a:srgbClr val="177D78"/>
      </a:accent2>
      <a:accent3>
        <a:srgbClr val="CE7137"/>
      </a:accent3>
      <a:accent4>
        <a:srgbClr val="B54535"/>
      </a:accent4>
      <a:accent5>
        <a:srgbClr val="A9BE4A"/>
      </a:accent5>
      <a:accent6>
        <a:srgbClr val="5579A4"/>
      </a:accent6>
      <a:hlink>
        <a:srgbClr val="177D78"/>
      </a:hlink>
      <a:folHlink>
        <a:srgbClr val="1E5A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YC Field Audi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da2f3dfc140a9" /><Relationship Type="http://schemas.openxmlformats.org/officeDocument/2006/relationships/notesMaster" Target="/ppt/notesMasters/notesMaster1.xml" Id="Rdff017044c3b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9bb7694d84172" /><Relationship Type="http://schemas.openxmlformats.org/officeDocument/2006/relationships/notesMaster" Target="/ppt/notesMasters/notesMaster1.xml" Id="R2bd988d3f1a04c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0c3462478148bc" /><Relationship Type="http://schemas.openxmlformats.org/officeDocument/2006/relationships/notesMaster" Target="/ppt/notesMasters/notesMaster1.xml" Id="Ra50bd7b3102f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703d0decfc471e" /><Relationship Type="http://schemas.openxmlformats.org/officeDocument/2006/relationships/notesMaster" Target="/ppt/notesMasters/notesMaster1.xml" Id="R63c2693553a34e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e0e13d32924d8a" /><Relationship Type="http://schemas.openxmlformats.org/officeDocument/2006/relationships/notesMaster" Target="/ppt/notesMasters/notesMaster1.xml" Id="R934421add4cc43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796ffc6aa4dd6" /><Relationship Type="http://schemas.openxmlformats.org/officeDocument/2006/relationships/notesMaster" Target="/ppt/notesMasters/notesMaster1.xml" Id="R4316b4ad1ff740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26a1633f0444b" /><Relationship Type="http://schemas.openxmlformats.org/officeDocument/2006/relationships/notesMaster" Target="/ppt/notesMasters/notesMaster1.xml" Id="Re3c562eade3a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a3abaffbca44ab" /><Relationship Type="http://schemas.openxmlformats.org/officeDocument/2006/relationships/notesMaster" Target="/ppt/notesMasters/notesMaster1.xml" Id="R76fa1ee65282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封面图为生成的说明性场景，不是禹城站的实拍，也不代表实际站点布局。审计数据来自项目内四个 ChinaFLUX 产品包和 YC 旧天气资料。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来源：项目内 data/external/yc_chinaflux/raw/ 四个 ChinaFLUX 原始 ZIP 与对应产品 PDF。官方禹城站资源页：https://www.nesdc.org.cn/otherProject/index?menuId=station&amp;projectId=1047 。原始 ZIP 未解压或改写。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来源：YCA_M_30min、daily、monthly、yearly。30 分钟和包含不完整日期的有效值，因此按下界解释。2004 年 30 分钟有效和 846.3 mm，5 天有缺测。2007 年日值有效和 11.16 mm，与 30 分钟/月/年值相差 524.54 mm。旧 WTH 年值来自现有 CNYC0401.WTH 和 CNYC0701.WTH，仅用于差异审计。详见 cross_scale_precipitation_check.csv。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 -99999 均作为缺测处理，没有转成零。逐日缺口和每个日期的来源判断见 unresolved_weather_gaps.csv；连续时间区间见 missing_daily_intervals.csv。旧源回填仅限独立原始表中有明确数值的 8 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数据来源：old_vs_chinaflux_summary.csv 与 old_vs_chinaflux_daily_comparison.csv。温度/SRAD 每变量 2,557 个配对日。RAIN 统计只纳入 30 分钟完整日并排除回填。旧数据溯源标签包括原始数值与 WTH 一致、旧流程月均值填补、降雨空白转 0、无源行及数值不一致。此处比较不能证明哪一温度传感器更适合 DSSAT。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产品证据：项目内 YCA_M_30min.pdf 将两个导出温度分别说明为冠层下与冠层上，并同时列出 1.6 m、2.9 m，却未配对。AsiaFlux 禹城站页面列有气象气温 1 m、2 m HMP45C：https://asiaflux.nies.go.jp/site-info/YCS.html 。历史中国通量网论文描述 2003–2005 年 YC 温度层级，但不能证明字段如何对应当前产品：https://www.sciengine.com/doi/pdfView/6FCCB78F1BBD4EBDA41F6A0807FF847F 。需由数据提供方确认。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 A/B 详细统计见 wgen_fit_window_options.json。DSSAT WeatherMan FAQ：https://dssat.net/5165/，提到至少 5–10 年日天气作为创建气候资料的常规输入指导。此经验值不能覆盖温度映射或缺测 Gate。本轮未批准拟合窗口。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当前结论来自 audit_summary.json。此任务仅完成 YC/YCA 气象数据审计，没有触碰其他站点或训练配置。任何后续运行须在映射、缺测和拟合窗口获得确认后另行执行。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4e6c0518042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baaa1809c433e" /><Relationship Type="http://schemas.openxmlformats.org/officeDocument/2006/relationships/slideLayout" Target="/ppt/slideLayouts/slideLayout1.xml" Id="R87e8ba6cd1c04c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8ba6cd1c04c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YC Field Audit">
      <a:dk1>
        <a:srgbClr val="10231F"/>
      </a:dk1>
      <a:lt1>
        <a:srgbClr val="FFFFFF"/>
      </a:lt1>
      <a:dk2>
        <a:srgbClr val="18312B"/>
      </a:dk2>
      <a:lt2>
        <a:srgbClr val="D8E1DC"/>
      </a:lt2>
      <a:accent1>
        <a:srgbClr val="1E5A48"/>
      </a:accent1>
      <a:accent2>
        <a:srgbClr val="177D78"/>
      </a:accent2>
      <a:accent3>
        <a:srgbClr val="CE7137"/>
      </a:accent3>
      <a:accent4>
        <a:srgbClr val="B54535"/>
      </a:accent4>
      <a:accent5>
        <a:srgbClr val="A9BE4A"/>
      </a:accent5>
      <a:accent6>
        <a:srgbClr val="5579A4"/>
      </a:accent6>
      <a:hlink>
        <a:srgbClr val="177D78"/>
      </a:hlink>
      <a:folHlink>
        <a:srgbClr val="1E5A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YC Field Audi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7feec0e643c3" /><Relationship Type="http://schemas.openxmlformats.org/officeDocument/2006/relationships/image" Target="/ppt/media/image.png" Id="R4fe85d35cea641e0" /><Relationship Type="http://schemas.openxmlformats.org/officeDocument/2006/relationships/notesSlide" Target="/ppt/notesSlides/notesSlide1.xml" Id="R72e8d3ee371e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eb5dfbf954d65" /><Relationship Type="http://schemas.openxmlformats.org/officeDocument/2006/relationships/notesSlide" Target="/ppt/notesSlides/notesSlide2.xml" Id="R777dc95729b8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c87446324f84" /><Relationship Type="http://schemas.openxmlformats.org/officeDocument/2006/relationships/chart" Target="/ppt/slides/charts/chart1.xml" Id="R5f71a68eb6354042" /><Relationship Type="http://schemas.openxmlformats.org/officeDocument/2006/relationships/notesSlide" Target="/ppt/notesSlides/notesSlide3.xml" Id="R0bbae7a25b3e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9bd9ae604474" /><Relationship Type="http://schemas.openxmlformats.org/officeDocument/2006/relationships/chart" Target="/ppt/slides/charts/chart2.xml" Id="Rfe061480658f467e" /><Relationship Type="http://schemas.openxmlformats.org/officeDocument/2006/relationships/notesSlide" Target="/ppt/notesSlides/notesSlide4.xml" Id="Rd24f184815cb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48887e5343e4" /><Relationship Type="http://schemas.openxmlformats.org/officeDocument/2006/relationships/notesSlide" Target="/ppt/notesSlides/notesSlide5.xml" Id="Rde1bb498ac8b48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bdf47b6664948" /><Relationship Type="http://schemas.openxmlformats.org/officeDocument/2006/relationships/notesSlide" Target="/ppt/notesSlides/notesSlide6.xml" Id="Ra781472558aa43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a14d1db684d0f" /><Relationship Type="http://schemas.openxmlformats.org/officeDocument/2006/relationships/notesSlide" Target="/ppt/notesSlides/notesSlide7.xml" Id="R58d49cc7166846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8918b63e44230" /><Relationship Type="http://schemas.openxmlformats.org/officeDocument/2006/relationships/notesSlide" Target="/ppt/notesSlides/notesSlide8.xml" Id="R386cd0a70d294e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2004</c:v>
          </c:tx>
          <c:spPr>
            <a:solidFill xmlns:a="http://schemas.openxmlformats.org/drawingml/2006/main">
              <a:srgbClr val="177D78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846.3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846.2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846.2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846.2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30 分钟有效和（下界）</c:v>
              </c:pt>
              <c:pt idx="1">
                <c:v>日值有效和</c:v>
              </c:pt>
              <c:pt idx="2">
                <c:v>月值和</c:v>
              </c:pt>
              <c:pt idx="3">
                <c:v>年值</c:v>
              </c:pt>
            </c:strLit>
          </c:cat>
          <c:val>
            <c:numLit>
              <c:formatCode>0</c:formatCode>
              <c:ptCount val="4"/>
              <c:pt idx="0">
                <c:v>846.3</c:v>
              </c:pt>
              <c:pt idx="1">
                <c:v>846.2</c:v>
              </c:pt>
              <c:pt idx="2">
                <c:v>846.2</c:v>
              </c:pt>
              <c:pt idx="3">
                <c:v>846.2</c:v>
              </c:pt>
            </c:numLit>
          </c:val>
        </c:ser>
        <c:ser>
          <c:idx val="1"/>
          <c:order val="1"/>
          <c:tx>
            <c:v>2007</c:v>
          </c:tx>
          <c:spPr>
            <a:solidFill xmlns:a="http://schemas.openxmlformats.org/drawingml/2006/main">
              <a:srgbClr val="CE7137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535.7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11.16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535.7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solidFill>
                          <a:srgbClr val="18312B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535.7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solidFill>
                        <a:srgbClr val="18312B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30 分钟有效和（下界）</c:v>
              </c:pt>
              <c:pt idx="1">
                <c:v>日值有效和</c:v>
              </c:pt>
              <c:pt idx="2">
                <c:v>月值和</c:v>
              </c:pt>
              <c:pt idx="3">
                <c:v>年值</c:v>
              </c:pt>
            </c:strLit>
          </c:cat>
          <c:val>
            <c:numLit>
              <c:formatCode>0</c:formatCode>
              <c:ptCount val="4"/>
              <c:pt idx="0">
                <c:v>535.7</c:v>
              </c:pt>
              <c:pt idx="1">
                <c:v>11.16</c:v>
              </c:pt>
              <c:pt idx="2">
                <c:v>535.7</c:v>
              </c:pt>
              <c:pt idx="3">
                <c:v>535.7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831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3625D"/>
                    </a:solidFill>
                    <a:latin typeface="Microsoft YaHei"/>
                    <a:ea typeface="Microsoft YaHei"/>
                    <a:cs typeface="Microsoft YaHei"/>
                  </a:rPr>
                  <a:t>年降水量（mm）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3625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8312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缺测半小时数</c:v>
          </c:tx>
          <c:spPr>
            <a:solidFill xmlns:a="http://schemas.openxmlformats.org/drawingml/2006/main">
              <a:srgbClr val="CE7137"/>
            </a:solidFill>
          </c:spPr>
          <c:cat>
            <c:numLit>
              <c:formatCode>General</c:formatCode>
              <c:ptCount val="8"/>
              <c:pt idx="0">
                <c:v>2003</c:v>
              </c:pt>
              <c:pt idx="1">
                <c:v>2004</c:v>
              </c:pt>
              <c:pt idx="2">
                <c:v>2005</c:v>
              </c:pt>
              <c:pt idx="3">
                <c:v>2006</c:v>
              </c:pt>
              <c:pt idx="4">
                <c:v>2007</c:v>
              </c:pt>
              <c:pt idx="5">
                <c:v>2008</c:v>
              </c:pt>
              <c:pt idx="6">
                <c:v>2009</c:v>
              </c:pt>
              <c:pt idx="7">
                <c:v>2010</c:v>
              </c:pt>
            </c:numLit>
          </c:cat>
          <c:val>
            <c:numLit>
              <c:formatCode>0</c:formatCode>
              <c:ptCount val="8"/>
              <c:pt idx="0">
                <c:v>0</c:v>
              </c:pt>
              <c:pt idx="1">
                <c:v>186</c:v>
              </c:pt>
              <c:pt idx="2">
                <c:v>0</c:v>
              </c:pt>
              <c:pt idx="3">
                <c:v>0</c:v>
              </c:pt>
              <c:pt idx="4">
                <c:v>32</c:v>
              </c:pt>
              <c:pt idx="5">
                <c:v>106</c:v>
              </c:pt>
              <c:pt idx="6">
                <c:v>163</c:v>
              </c:pt>
              <c:pt idx="7">
                <c:v>706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1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3625D"/>
                    </a:solidFill>
                    <a:latin typeface="Microsoft YaHei"/>
                    <a:ea typeface="Microsoft YaHei"/>
                    <a:cs typeface="Microsoft YaHei"/>
                  </a:rPr>
                  <a:t>降水缺测记录数（条）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3625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85d35cea641e0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71EE8-FD60-46BC-A6A4-876FD72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8858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17A41-98F1-4690-94E3-856C07C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771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YC ChinaFLUX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气象数据对齐与 WGEN 拟合候选审计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5E3E3-29E9-4109-BAE9-744EA71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rPr>
              <a:t>YC/YCA  ·  2003–2010  ·  最终 Gate 阻塞</a:t>
            </a:r>
          </a:p>
        </p:txBody>
      </p:sp>
    </p:spTree>
    <p:extLst>
      <p:ext uri="{BB962C8B-B14F-4D97-AF65-F5344CB8AC3E}">
        <p14:creationId xmlns:p14="http://schemas.microsoft.com/office/powerpoint/2010/main" val="350516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4A813-0A91-45D5-BFB8-EB8D3AD6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数据来源与审计范围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99BB-FF57-4BA5-B8B4-4546791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C64DF-8F2B-4274-AC1F-DE3FCFC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2143125"/>
                <a:gridCol w="4972050"/>
              </a:tblGrid>
              <a:tr h="70485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产品尺度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年度工作簿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覆盖年份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</a:tr>
              <a:tr h="70485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分钟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2003–2010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日值重建主源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日尺度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2003–2010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独立交叉检查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  <a:tr h="70485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2003–2010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降水聚合核验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年尺度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2003–2010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年度总量核验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CF89-81EA-4D60-8346-9875DDE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4 个 ZIP 全部解析成功，共 32 个年度 XLSX。文件大小、SHA256、内部文件名及覆盖年份见 source_inventory.json。</a:t>
            </a:r>
          </a:p>
        </p:txBody>
      </p:sp>
    </p:spTree>
    <p:extLst>
      <p:ext uri="{BB962C8B-B14F-4D97-AF65-F5344CB8AC3E}">
        <p14:creationId xmlns:p14="http://schemas.microsoft.com/office/powerpoint/2010/main" val="1559313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33F70-0EA2-461A-8C6E-EBF5DB3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降水跨尺度核验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64886-5BA4-43FF-80F5-917677B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9D1A5-E0E5-4785-89FB-78039BC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81050" y="1390650"/>
          <a:ext xmlns:a="http://schemas.openxmlformats.org/drawingml/2006/main" cx="1064895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71a68eb63540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9AC22-F441-44CA-90C0-B4B5D00E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2004：日/月/年均 846.2 mm，旧 WTH 为 67.4 mm。</a:t>
            </a:r>
          </a:p>
          <a:p xmlns:a="http://schemas.openxmlformats.org/drawingml/2006/main">
            <a:pPr algn="l">
              <a:def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2007：日值仅 11.16 mm，其余三尺度约 535.7 mm；日值异常，不用于填补。</a:t>
            </a:r>
          </a:p>
        </p:txBody>
      </p:sp>
    </p:spTree>
    <p:extLst>
      <p:ext uri="{BB962C8B-B14F-4D97-AF65-F5344CB8AC3E}">
        <p14:creationId xmlns:p14="http://schemas.microsoft.com/office/powerpoint/2010/main" val="290433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996D4-6206-4802-9DF0-9484149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半小时完整性与降雨缺口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3D74E-30AB-4993-B719-6E3DE1D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56AE9-D9C6-40B6-A083-52682A80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061480658f467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F416B-1708-4B06-9B8D-88229AAD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八年时间网格连续；温度与 SRAD 无缺测。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D51F-7E0A-4C08-AC90-156D592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降雨缺 1,193 个半小时值，落在 43 天；8 天有可追溯旧观测，35 天仍未解决。2009 年 12 月旧源表无 YCA 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39557-6135-45F0-90B1-FAD0C56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SRAD = Σ(W m⁻²) × 0.0018；以日均辐射 × 0.0864 交叉核验，2,922 天 MAE = 0。</a:t>
            </a:r>
          </a:p>
        </p:txBody>
      </p:sp>
    </p:spTree>
    <p:extLst>
      <p:ext uri="{BB962C8B-B14F-4D97-AF65-F5344CB8AC3E}">
        <p14:creationId xmlns:p14="http://schemas.microsoft.com/office/powerpoint/2010/main" val="96522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9513F-3C2F-4591-844A-3C215BD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新旧逐日比较：差异不等于验证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3B35A-E822-4BA0-9C44-FFE3948B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C6579-A8C1-4D58-B4DC-4439EAF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1114425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1428750"/>
                <a:gridCol w="1476375"/>
                <a:gridCol w="1381125"/>
                <a:gridCol w="1381125"/>
                <a:gridCol w="2333625"/>
              </a:tblGrid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ChinaFLUX 候选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配对日数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MAE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Pearson r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</a:tr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冠层下 TMAX（°C）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−0.692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冠层下 TMIN（°C）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2,557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−0.234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0.710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1.287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0.9927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冠层上 TMAX（°C）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冠层上 TMIN（°C）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2,557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+0.167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0.848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1.298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0.9924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  <a:tr h="619125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SRAD（MJ m⁻² d⁻¹）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44BCA-8714-41A1-93AB-D0B9131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RAIN 比较只含完整 30 分钟日且排除旧源回填，共 2,514 天。旧 WTH 含插补或空白转零的历史值，因此这些统计只描述差异。</a:t>
            </a:r>
          </a:p>
        </p:txBody>
      </p:sp>
    </p:spTree>
    <p:extLst>
      <p:ext uri="{BB962C8B-B14F-4D97-AF65-F5344CB8AC3E}">
        <p14:creationId xmlns:p14="http://schemas.microsoft.com/office/powerpoint/2010/main" val="124916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74753-B0A2-4760-AA9A-1E9B84F2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温度字段与测量高度尚未对应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B8CB-DDC5-44ED-8A13-A80CDE0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D250A-74BB-4757-8141-B6E6879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2476500"/>
                <a:gridCol w="3429000"/>
                <a:gridCol w="2762250"/>
              </a:tblGrid>
              <a:tr h="8890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导出字段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产品定义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高度信息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审计决定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</a:tr>
              <a:tr h="8890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近地面空气温度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冠层下方空气温度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产品列出 1.6 m、2.9 m，未指明此字段对应哪一高度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保留支路，不选规范 TMAX/TMIN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冠层上方空气温度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冠层上方空气温度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产品列出 1.6 m、2.9 m，未指明此字段对应哪一高度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保留支路，不选规范 TMAX/TMIN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CA564-C98D-4825-9441-74543C87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旧站点资料的 1 m / 2 m 记录无法映射到当前两个导出字段。两支路与旧 WTH 的 r 均约 0.99，也不能代替传感器高度证据。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3B582-5E74-4974-BC56-FFE71DCC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4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54535"/>
                </a:solidFill>
                <a:latin typeface="Microsoft YaHei"/>
                <a:ea typeface="Microsoft YaHei"/>
                <a:cs typeface="Microsoft YaHei"/>
              </a:rPr>
              <a:t>因此温度字段映射 Gate 未通过，候选表规范 TMAX/TMIN 留空。</a:t>
            </a:r>
          </a:p>
        </p:txBody>
      </p:sp>
    </p:spTree>
    <p:extLst>
      <p:ext uri="{BB962C8B-B14F-4D97-AF65-F5344CB8AC3E}">
        <p14:creationId xmlns:p14="http://schemas.microsoft.com/office/powerpoint/2010/main" val="865911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B0E3B-AE12-4A16-8D3A-EAD1E13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WGEN 拟合窗口仍未获准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9D3B3-BE9C-46CF-8B20-857C14A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9061-AEE0-4457-9BDA-58080B1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10871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952500"/>
                <a:gridCol w="5238750"/>
                <a:gridCol w="2705100"/>
              </a:tblGrid>
              <a:tr h="9525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年数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数据与缺口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91440" marR="91440" marT="45720" marB="45720" anchor="ctr">
                    <a:solidFill>
                      <a:srgbClr val="1E5A48"/>
                    </a:solidFill>
                  </a:tcPr>
                </a:tc>
              </a:tr>
              <a:tr h="9525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A：2004–2010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原训练年份内；35 天降雨未解决，8 天需标记旧源回填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不可拟合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B：2004–2013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2011–2013 依赖旧源；125 个 SRAD/温度源缺口值曾按月均值预填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83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不可拟合</a:t>
                      </a:r>
                    </a:p>
                  </a:txBody>
                  <a:tcPr marL="91440" marR="91440" marT="45720" marB="45720" anchor="ctr"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4140F-7CC9-42DB-9EE0-5C156B8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782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WeatherMan 的 5–10 年是气候参数记录长度参考，不豁免数据完整性与来源一致性。两方案均未使用 validation/test 年份。</a:t>
            </a:r>
          </a:p>
        </p:txBody>
      </p:sp>
    </p:spTree>
    <p:extLst>
      <p:ext uri="{BB962C8B-B14F-4D97-AF65-F5344CB8AC3E}">
        <p14:creationId xmlns:p14="http://schemas.microsoft.com/office/powerpoint/2010/main" val="489900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8F80D-A553-4D75-8320-B8AFB3B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最终 Gate：暂停 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AE2C-0337-4423-917D-F1EA12F8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E1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02BCE-0D68-4D47-9072-7C927CF5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YC/YCA   |   003_03   |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9158A-9DF7-486A-B426-664E68D6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B54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B54535"/>
                </a:solidFill>
                <a:latin typeface="Microsoft YaHei"/>
                <a:ea typeface="Microsoft YaHei"/>
                <a:cs typeface="Microsoft YaHei"/>
              </a:rPr>
              <a:t>BLOCKED_TEMPERATURE_SENSOR_MAPPING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AF980-F344-4FDE-B2CE-DB5D0EB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E71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E7137"/>
                </a:solidFill>
                <a:latin typeface="Microsoft YaHei"/>
                <a:ea typeface="Microsoft YaHei"/>
                <a:cs typeface="Microsoft YaHei"/>
              </a:rPr>
              <a:t>次级阻塞：BLOCKED_PRECIPITATION_GAPS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3ADCF-302A-448A-9AF9-A21512D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5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5A48"/>
                </a:solidFill>
                <a:latin typeface="Microsoft YaHei"/>
                <a:ea typeface="Microsoft YaHei"/>
                <a:cs typeface="Microsoft YaHei"/>
              </a:rPr>
              <a:t>恢复前需补齐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5D5B0-0747-4DB7-A00A-19B74AA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1. 数据提供方确认两个温度字段的高度配对和统计定义。</a:t>
            </a:r>
          </a:p>
          <a:p xmlns:a="http://schemas.openxmlformats.org/drawingml/2006/main">
            <a:pPr algn="l">
              <a:def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2. 为 35 个降雨缺口取得独立日观测，并解释 ChinaFLUX 与旧源年总量差异。</a:t>
            </a:r>
          </a:p>
          <a:p xmlns:a="http://schemas.openxmlformats.org/drawingml/2006/main">
            <a:pPr algn="l">
              <a:def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312B"/>
                </a:solidFill>
                <a:latin typeface="Microsoft YaHei"/>
                <a:ea typeface="Microsoft YaHei"/>
                <a:cs typeface="Microsoft YaHei"/>
              </a:rPr>
              <a:t>3. 用户确认拟合年份后重新执行完整天气 QC Gate。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C997D-23B2-49FA-AC31-A866F8E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3625D"/>
                </a:solidFill>
                <a:latin typeface="Microsoft YaHei"/>
                <a:ea typeface="Microsoft YaHei"/>
                <a:cs typeface="Microsoft YaHei"/>
              </a:rPr>
              <a:t>本轮未生成正式 WTH / CLI，未运行 DSSAT smoke 或 PPO。</a:t>
            </a:r>
          </a:p>
        </p:txBody>
      </p:sp>
    </p:spTree>
    <p:extLst>
      <p:ext uri="{BB962C8B-B14F-4D97-AF65-F5344CB8AC3E}">
        <p14:creationId xmlns:p14="http://schemas.microsoft.com/office/powerpoint/2010/main" val="720831240"/>
      </p:ext>
    </p:extLst>
  </p:cSld>
</p:sld>
</file>

<file path=ppt/theme/theme1.xml><?xml version="1.0" encoding="utf-8"?>
<a:theme xmlns:a="http://schemas.openxmlformats.org/drawingml/2006/main" name="ChatGPT">
  <a:themeElements>
    <a:clrScheme name="YC Field Audit">
      <a:dk1>
        <a:srgbClr val="10231F"/>
      </a:dk1>
      <a:lt1>
        <a:srgbClr val="FFFFFF"/>
      </a:lt1>
      <a:dk2>
        <a:srgbClr val="18312B"/>
      </a:dk2>
      <a:lt2>
        <a:srgbClr val="D8E1DC"/>
      </a:lt2>
      <a:accent1>
        <a:srgbClr val="1E5A48"/>
      </a:accent1>
      <a:accent2>
        <a:srgbClr val="177D78"/>
      </a:accent2>
      <a:accent3>
        <a:srgbClr val="CE7137"/>
      </a:accent3>
      <a:accent4>
        <a:srgbClr val="B54535"/>
      </a:accent4>
      <a:accent5>
        <a:srgbClr val="A9BE4A"/>
      </a:accent5>
      <a:accent6>
        <a:srgbClr val="5579A4"/>
      </a:accent6>
      <a:hlink>
        <a:srgbClr val="177D78"/>
      </a:hlink>
      <a:folHlink>
        <a:srgbClr val="1E5A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YC Field Audi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2026-09-23T17:11:23.0840000Z</dcterms:created>
  <dcterms:modified xsi:type="dcterms:W3CDTF">2026-09-23T17:11:23.0840000Z</dcterms:modified>
</coreProperties>
</file>