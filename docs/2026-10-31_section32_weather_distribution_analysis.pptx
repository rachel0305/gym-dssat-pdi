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234440"/>
            <a:ext cx="10698480" cy="11430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3400" b="1">
                <a:solidFill>
                  <a:srgbClr val="18314C"/>
                </a:solidFill>
                <a:latin typeface="Microsoft YaHei"/>
              </a:defRPr>
            </a:pPr>
            <a:r>
              <a:t>天气增强改变了天气分布吗？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2468880"/>
            <a:ext cx="9875520" cy="9144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300" b="0">
                <a:solidFill>
                  <a:srgbClr val="2F6F9E"/>
                </a:solidFill>
                <a:latin typeface="Microsoft YaHei"/>
              </a:defRPr>
            </a:pPr>
            <a:r>
              <a:t>Results 3.2 Discussion 证据整理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4892040"/>
            <a:ext cx="10332720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600" b="0">
                <a:solidFill>
                  <a:srgbClr val="4E5B67"/>
                </a:solidFill>
                <a:latin typeface="Microsoft YaHei"/>
              </a:defRPr>
            </a:pPr>
            <a:r>
              <a:t>五站点｜固定 DAP 0–90 窗口｜历史、增强与 2014–2023 评价天气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5989320"/>
            <a:ext cx="1051560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400" b="1">
                <a:solidFill>
                  <a:srgbClr val="31807B"/>
                </a:solidFill>
                <a:latin typeface="Microsoft YaHei"/>
              </a:defRPr>
            </a:pPr>
            <a:r>
              <a:t>结论状态：DISCUSSION_EVIDENCE_PARTIAL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900" b="1">
                <a:solidFill>
                  <a:srgbClr val="18314C"/>
                </a:solidFill>
                <a:latin typeface="Microsoft YaHei"/>
              </a:defRPr>
            </a:pPr>
            <a:r>
              <a:t>问题与数据边界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78992"/>
            <a:ext cx="749808" cy="50292"/>
          </a:xfrm>
          <a:prstGeom prst="rect">
            <a:avLst/>
          </a:prstGeom>
          <a:solidFill>
            <a:srgbClr val="3180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234440"/>
            <a:ext cx="10972800" cy="4572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400" b="0">
                <a:solidFill>
                  <a:srgbClr val="4E5B67"/>
                </a:solidFill>
                <a:latin typeface="Microsoft YaHei"/>
              </a:defRPr>
            </a:pPr>
            <a:r>
              <a:t>核心问题：增加天气多样性，是否带来了更好的评价期天气覆盖？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691640"/>
            <a:ext cx="2286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800" b="1">
                <a:solidFill>
                  <a:srgbClr val="31807B"/>
                </a:solidFill>
                <a:latin typeface="Microsoft YaHei"/>
              </a:defRPr>
            </a:pPr>
            <a:r>
              <a:t>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691640"/>
            <a:ext cx="10469880" cy="8686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800" b="0">
                <a:solidFill>
                  <a:srgbClr val="18314C"/>
                </a:solidFill>
                <a:latin typeface="Microsoft YaHei"/>
              </a:defRPr>
            </a:pPr>
            <a:r>
              <a:t>H：历史训练天气；A：增强训练天气；T：2014–2023评价输入。五站分别追溯来源及质量限制。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651760"/>
            <a:ext cx="2286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800" b="1">
                <a:solidFill>
                  <a:srgbClr val="31807B"/>
                </a:solidFill>
                <a:latin typeface="Microsoft YaHei"/>
              </a:defRPr>
            </a:pPr>
            <a: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651760"/>
            <a:ext cx="10469880" cy="8686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800" b="0">
                <a:solidFill>
                  <a:srgbClr val="18314C"/>
                </a:solidFill>
                <a:latin typeface="Microsoft YaHei"/>
              </a:defRPr>
            </a:pPr>
            <a:r>
              <a:t>统一窗口为播种日至 DAP 90，共91天；比较季节总降水、最长无雨连续日、平均最高温和 SRAD 均值。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611880"/>
            <a:ext cx="2286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800" b="1">
                <a:solidFill>
                  <a:srgbClr val="31807B"/>
                </a:solidFill>
                <a:latin typeface="Microsoft YaHei"/>
              </a:defRPr>
            </a:pPr>
            <a: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611880"/>
            <a:ext cx="10469880" cy="8686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800" b="0">
                <a:solidFill>
                  <a:srgbClr val="18314C"/>
                </a:solidFill>
                <a:latin typeface="Microsoft YaHei"/>
              </a:defRPr>
            </a:pPr>
            <a:r>
              <a:t>天气样本按去重窗口展示；共享天气序列不重复计算成独立气候样本。覆盖率是单变量经验范围描述。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572000"/>
            <a:ext cx="2286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800" b="1">
                <a:solidFill>
                  <a:srgbClr val="31807B"/>
                </a:solidFill>
                <a:latin typeface="Microsoft YaHei"/>
              </a:defRPr>
            </a:pPr>
            <a: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572000"/>
            <a:ext cx="10469880" cy="8686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800" b="0">
                <a:solidFill>
                  <a:srgbClr val="18314C"/>
                </a:solidFill>
                <a:latin typeface="Microsoft YaHei"/>
              </a:defRPr>
            </a:pPr>
            <a:r>
              <a:t>逐站核对实际训练暴露程度：SY/LC为已验证选择库窗口，HL/FQ有完整episode记录，YC为通过验证的78个窗口子集。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900" b="1">
                <a:solidFill>
                  <a:srgbClr val="18314C"/>
                </a:solidFill>
                <a:latin typeface="Microsoft YaHei"/>
              </a:defRPr>
            </a:pPr>
            <a:r>
              <a:t>历史、增强与评价天气分布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78992"/>
            <a:ext cx="749808" cy="50292"/>
          </a:xfrm>
          <a:prstGeom prst="rect">
            <a:avLst/>
          </a:prstGeom>
          <a:solidFill>
            <a:srgbClr val="3180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234440"/>
            <a:ext cx="10972800" cy="4572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00">
                <a:solidFill>
                  <a:srgbClr val="4E5B67"/>
                </a:solidFill>
              </a:defRPr>
            </a:pPr>
            <a:r>
              <a:t>DAP 0–90；各站点独立纵轴；点为去重天气窗口。</a:t>
            </a:r>
          </a:p>
        </p:txBody>
      </p:sp>
      <p:pic>
        <p:nvPicPr>
          <p:cNvPr id="5" name="Picture 4" descr="weather_distribution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4248" y="1353312"/>
            <a:ext cx="8220456" cy="513892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900" b="1">
                <a:solidFill>
                  <a:srgbClr val="18314C"/>
                </a:solidFill>
                <a:latin typeface="Microsoft YaHei"/>
              </a:defRPr>
            </a:pPr>
            <a:r>
              <a:t>五站变化方向不一致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78992"/>
            <a:ext cx="749808" cy="50292"/>
          </a:xfrm>
          <a:prstGeom prst="rect">
            <a:avLst/>
          </a:prstGeom>
          <a:solidFill>
            <a:srgbClr val="3180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234440"/>
            <a:ext cx="10972800" cy="4572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400" b="0">
                <a:solidFill>
                  <a:srgbClr val="4E5B67"/>
                </a:solidFill>
                <a:latin typeface="Microsoft YaHei"/>
              </a:defRPr>
            </a:pPr>
            <a:r>
              <a:t>范围或覆盖改善，并未与产量变化呈现统一对应关系。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828800"/>
          <a:ext cx="10789920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1560"/>
                <a:gridCol w="7772400"/>
                <a:gridCol w="1965960"/>
              </a:tblGrid>
              <a:tr h="58674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站点</a:t>
                      </a:r>
                    </a:p>
                  </a:txBody>
                  <a:tcPr marL="109728" marR="73152" marT="54864" marB="36576" anchor="ctr">
                    <a:solidFill>
                      <a:srgbClr val="18314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天气分布观察（降水示例）</a:t>
                      </a:r>
                    </a:p>
                  </a:txBody>
                  <a:tcPr marL="109728" marR="73152" marT="54864" marB="36576" anchor="ctr">
                    <a:solidFill>
                      <a:srgbClr val="18314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Δ产量 kg ha⁻¹</a:t>
                      </a:r>
                    </a:p>
                  </a:txBody>
                  <a:tcPr marL="109728" marR="73152" marT="54864" marB="36576" anchor="ctr">
                    <a:solidFill>
                      <a:srgbClr val="18314C"/>
                    </a:solidFill>
                  </a:tcPr>
                </a:tc>
              </a:tr>
              <a:tr h="586740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18314C"/>
                          </a:solidFill>
                          <a:latin typeface="Microsoft YaHei"/>
                        </a:defRPr>
                      </a:pPr>
                      <a:r>
                        <a:t>SY</a:t>
                      </a:r>
                    </a:p>
                  </a:txBody>
                  <a:tcPr marL="109728" marR="73152" marT="54864" marB="36576" anchor="ctr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8314C"/>
                          </a:solidFill>
                          <a:latin typeface="Microsoft YaHei"/>
                        </a:defRPr>
                      </a:pPr>
                      <a:r>
                        <a:t>降水范围与SD均收窄；降水覆盖不变</a:t>
                      </a:r>
                    </a:p>
                  </a:txBody>
                  <a:tcPr marL="109728" marR="73152" marT="54864" marB="36576" anchor="ctr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8314C"/>
                          </a:solidFill>
                          <a:latin typeface="Microsoft YaHei"/>
                        </a:defRPr>
                      </a:pPr>
                      <a:r>
                        <a:t>−482</a:t>
                      </a:r>
                    </a:p>
                  </a:txBody>
                  <a:tcPr marL="109728" marR="73152" marT="54864" marB="36576" anchor="ctr">
                    <a:solidFill>
                      <a:srgbClr val="F7F9FB"/>
                    </a:solidFill>
                  </a:tcPr>
                </a:tc>
              </a:tr>
              <a:tr h="586740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18314C"/>
                          </a:solidFill>
                          <a:latin typeface="Microsoft YaHei"/>
                        </a:defRPr>
                      </a:pPr>
                      <a:r>
                        <a:t>HL</a:t>
                      </a:r>
                    </a:p>
                  </a:txBody>
                  <a:tcPr marL="109728" marR="73152" marT="54864" marB="36576" anchor="ctr">
                    <a:solidFill>
                      <a:srgbClr val="EB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8314C"/>
                          </a:solidFill>
                          <a:latin typeface="Microsoft YaHei"/>
                        </a:defRPr>
                      </a:pPr>
                      <a:r>
                        <a:t>降水范围略扩，SD收窄；覆盖 9/10→10/10</a:t>
                      </a:r>
                    </a:p>
                  </a:txBody>
                  <a:tcPr marL="109728" marR="73152" marT="54864" marB="36576" anchor="ctr">
                    <a:solidFill>
                      <a:srgbClr val="EB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8314C"/>
                          </a:solidFill>
                          <a:latin typeface="Microsoft YaHei"/>
                        </a:defRPr>
                      </a:pPr>
                      <a:r>
                        <a:t>−324</a:t>
                      </a:r>
                    </a:p>
                  </a:txBody>
                  <a:tcPr marL="109728" marR="73152" marT="54864" marB="36576" anchor="ctr">
                    <a:solidFill>
                      <a:srgbClr val="EBF1F5"/>
                    </a:solidFill>
                  </a:tcPr>
                </a:tc>
              </a:tr>
              <a:tr h="586740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18314C"/>
                          </a:solidFill>
                          <a:latin typeface="Microsoft YaHei"/>
                        </a:defRPr>
                      </a:pPr>
                      <a:r>
                        <a:t>LC</a:t>
                      </a:r>
                    </a:p>
                  </a:txBody>
                  <a:tcPr marL="109728" marR="73152" marT="54864" marB="36576" anchor="ctr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8314C"/>
                          </a:solidFill>
                          <a:latin typeface="Microsoft YaHei"/>
                        </a:defRPr>
                      </a:pPr>
                      <a:r>
                        <a:t>降水范围与SD收窄；降水覆盖不变</a:t>
                      </a:r>
                    </a:p>
                  </a:txBody>
                  <a:tcPr marL="109728" marR="73152" marT="54864" marB="36576" anchor="ctr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8314C"/>
                          </a:solidFill>
                          <a:latin typeface="Microsoft YaHei"/>
                        </a:defRPr>
                      </a:pPr>
                      <a:r>
                        <a:t>−329</a:t>
                      </a:r>
                    </a:p>
                  </a:txBody>
                  <a:tcPr marL="109728" marR="73152" marT="54864" marB="36576" anchor="ctr">
                    <a:solidFill>
                      <a:srgbClr val="F7F9FB"/>
                    </a:solidFill>
                  </a:tcPr>
                </a:tc>
              </a:tr>
              <a:tr h="586740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18314C"/>
                          </a:solidFill>
                          <a:latin typeface="Microsoft YaHei"/>
                        </a:defRPr>
                      </a:pPr>
                      <a:r>
                        <a:t>YC</a:t>
                      </a:r>
                    </a:p>
                  </a:txBody>
                  <a:tcPr marL="109728" marR="73152" marT="54864" marB="36576" anchor="ctr">
                    <a:solidFill>
                      <a:srgbClr val="EB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8314C"/>
                          </a:solidFill>
                          <a:latin typeface="Microsoft YaHei"/>
                        </a:defRPr>
                      </a:pPr>
                      <a:r>
                        <a:t>降水范围扩展、SD略收窄；覆盖 9/10→7/10</a:t>
                      </a:r>
                    </a:p>
                  </a:txBody>
                  <a:tcPr marL="109728" marR="73152" marT="54864" marB="36576" anchor="ctr">
                    <a:solidFill>
                      <a:srgbClr val="EB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8314C"/>
                          </a:solidFill>
                          <a:latin typeface="Microsoft YaHei"/>
                        </a:defRPr>
                      </a:pPr>
                      <a:r>
                        <a:t>−247</a:t>
                      </a:r>
                    </a:p>
                  </a:txBody>
                  <a:tcPr marL="109728" marR="73152" marT="54864" marB="36576" anchor="ctr">
                    <a:solidFill>
                      <a:srgbClr val="EBF1F5"/>
                    </a:solidFill>
                  </a:tcPr>
                </a:tc>
              </a:tr>
              <a:tr h="586740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18314C"/>
                          </a:solidFill>
                          <a:latin typeface="Microsoft YaHei"/>
                        </a:defRPr>
                      </a:pPr>
                      <a:r>
                        <a:t>FQ</a:t>
                      </a:r>
                    </a:p>
                  </a:txBody>
                  <a:tcPr marL="109728" marR="73152" marT="54864" marB="36576" anchor="ctr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8314C"/>
                          </a:solidFill>
                          <a:latin typeface="Microsoft YaHei"/>
                        </a:defRPr>
                      </a:pPr>
                      <a:r>
                        <a:t>降水范围扩展、SD收窄；覆盖 9/10→10/10</a:t>
                      </a:r>
                    </a:p>
                  </a:txBody>
                  <a:tcPr marL="109728" marR="73152" marT="54864" marB="36576" anchor="ctr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8314C"/>
                          </a:solidFill>
                          <a:latin typeface="Microsoft YaHei"/>
                        </a:defRPr>
                      </a:pPr>
                      <a:r>
                        <a:t>+61</a:t>
                      </a:r>
                    </a:p>
                  </a:txBody>
                  <a:tcPr marL="109728" marR="73152" marT="54864" marB="36576" anchor="ctr"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5669280"/>
            <a:ext cx="1078992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300" b="0">
                <a:solidFill>
                  <a:srgbClr val="4E5B67"/>
                </a:solidFill>
                <a:latin typeface="Microsoft YaHei"/>
              </a:defRPr>
            </a:pPr>
            <a:r>
              <a:t>四项天气指标的完整汇总见 weather_distribution_summary.csv；覆盖数据见 evaluation_weather_coverage.csv。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900" b="1">
                <a:solidFill>
                  <a:srgbClr val="18314C"/>
                </a:solidFill>
                <a:latin typeface="Microsoft YaHei"/>
              </a:defRPr>
            </a:pPr>
            <a:r>
              <a:t>天气覆盖不能单独解释收益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78992"/>
            <a:ext cx="749808" cy="50292"/>
          </a:xfrm>
          <a:prstGeom prst="rect">
            <a:avLst/>
          </a:prstGeom>
          <a:solidFill>
            <a:srgbClr val="3180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234440"/>
            <a:ext cx="10972800" cy="4572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400" b="0">
                <a:solidFill>
                  <a:srgbClr val="4E5B67"/>
                </a:solidFill>
                <a:latin typeface="Microsoft YaHei"/>
              </a:defRPr>
            </a:pPr>
            <a:r>
              <a:t>现有证据能提出讨论方向，不能确认因果机制。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691640"/>
            <a:ext cx="2286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800" b="1">
                <a:solidFill>
                  <a:srgbClr val="31807B"/>
                </a:solidFill>
                <a:latin typeface="Microsoft YaHei"/>
              </a:defRPr>
            </a:pPr>
            <a:r>
              <a:t>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691640"/>
            <a:ext cx="10469880" cy="8686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800" b="0">
                <a:solidFill>
                  <a:srgbClr val="18314C"/>
                </a:solidFill>
                <a:latin typeface="Microsoft YaHei"/>
              </a:defRPr>
            </a:pPr>
            <a:r>
              <a:t>增强组的经验范围、离散程度和评价期覆盖在站点间变化不同；范围扩大与评价覆盖改善并非同一件事。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651760"/>
            <a:ext cx="2286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800" b="1">
                <a:solidFill>
                  <a:srgbClr val="31807B"/>
                </a:solidFill>
                <a:latin typeface="Microsoft YaHei"/>
              </a:defRPr>
            </a:pPr>
            <a: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651760"/>
            <a:ext cx="10469880" cy="8686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800" b="0">
                <a:solidFill>
                  <a:srgbClr val="18314C"/>
                </a:solidFill>
                <a:latin typeface="Microsoft YaHei"/>
              </a:defRPr>
            </a:pPr>
            <a:r>
              <a:t>五站的产量变化方向几乎一致为负，但FQ略正；天气覆盖的变化模式无法解释这种跨站产量差异。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611880"/>
            <a:ext cx="2286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800" b="1">
                <a:solidFill>
                  <a:srgbClr val="31807B"/>
                </a:solidFill>
                <a:latin typeface="Microsoft YaHei"/>
              </a:defRPr>
            </a:pPr>
            <a: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611880"/>
            <a:ext cx="10469880" cy="8686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800" b="0">
                <a:solidFill>
                  <a:srgbClr val="18314C"/>
                </a:solidFill>
                <a:latin typeface="Microsoft YaHei"/>
              </a:defRPr>
            </a:pPr>
            <a:r>
              <a:t>可支持的谨慎表述：增加天气输入本身不足以保证更好的跨年管理表现；分布覆盖改善没有稳定转化为产量收益。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572000"/>
            <a:ext cx="2286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800" b="1">
                <a:solidFill>
                  <a:srgbClr val="31807B"/>
                </a:solidFill>
                <a:latin typeface="Microsoft YaHei"/>
              </a:defRPr>
            </a:pPr>
            <a: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572000"/>
            <a:ext cx="10469880" cy="8686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800" b="0">
                <a:solidFill>
                  <a:srgbClr val="18314C"/>
                </a:solidFill>
                <a:latin typeface="Microsoft YaHei"/>
              </a:defRPr>
            </a:pPr>
            <a:r>
              <a:t>仍待验证：PPO是否利用新增天气信息、训练优化难度、奖励目标限制，以及具体水氮动作如何影响产量。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900" b="1">
                <a:solidFill>
                  <a:srgbClr val="18314C"/>
                </a:solidFill>
                <a:latin typeface="Microsoft YaHei"/>
              </a:defRPr>
            </a:pPr>
            <a:r>
              <a:t>Discussion可以推进，机制结论需保留边界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78992"/>
            <a:ext cx="749808" cy="50292"/>
          </a:xfrm>
          <a:prstGeom prst="rect">
            <a:avLst/>
          </a:prstGeom>
          <a:solidFill>
            <a:srgbClr val="3180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645920"/>
            <a:ext cx="2286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800" b="1">
                <a:solidFill>
                  <a:srgbClr val="31807B"/>
                </a:solidFill>
                <a:latin typeface="Microsoft YaHei"/>
              </a:defRPr>
            </a:pPr>
            <a:r>
              <a:t>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645920"/>
            <a:ext cx="10469880" cy="8686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800" b="0">
                <a:solidFill>
                  <a:srgbClr val="18314C"/>
                </a:solidFill>
                <a:latin typeface="Microsoft YaHei"/>
              </a:defRPr>
            </a:pPr>
            <a:r>
              <a:t>统计窗口仅覆盖 DAP 0–90，不代表全生育季天气；晚季天气尚未纳入。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606040"/>
            <a:ext cx="2286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800" b="1">
                <a:solidFill>
                  <a:srgbClr val="31807B"/>
                </a:solidFill>
                <a:latin typeface="Microsoft YaHei"/>
              </a:defRPr>
            </a:pPr>
            <a: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06040"/>
            <a:ext cx="10469880" cy="8686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800" b="0">
                <a:solidFill>
                  <a:srgbClr val="18314C"/>
                </a:solidFill>
                <a:latin typeface="Microsoft YaHei"/>
              </a:defRPr>
            </a:pPr>
            <a:r>
              <a:t>实际暴露证据不完全一致：SY/LC没有完整逐步遭遇轨迹，YC仅有78个验证样本；FQ2018采用既有修订输入。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566160"/>
            <a:ext cx="2286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800" b="1">
                <a:solidFill>
                  <a:srgbClr val="31807B"/>
                </a:solidFill>
                <a:latin typeface="Microsoft YaHei"/>
              </a:defRPr>
            </a:pPr>
            <a: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566160"/>
            <a:ext cx="10469880" cy="8686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800" b="0">
                <a:solidFill>
                  <a:srgbClr val="18314C"/>
                </a:solidFill>
                <a:latin typeface="Microsoft YaHei"/>
              </a:defRPr>
            </a:pPr>
            <a:r>
              <a:t>天气来源包含实测、插补或生成样本；本分析按原记录区分，不能将其统一称为独立观测气候。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526280"/>
            <a:ext cx="2286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800" b="1">
                <a:solidFill>
                  <a:srgbClr val="31807B"/>
                </a:solidFill>
                <a:latin typeface="Microsoft YaHei"/>
              </a:defRPr>
            </a:pPr>
            <a: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526280"/>
            <a:ext cx="10469880" cy="8686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800" b="0">
                <a:solidFill>
                  <a:srgbClr val="18314C"/>
                </a:solidFill>
                <a:latin typeface="Microsoft YaHei"/>
              </a:defRPr>
            </a:pPr>
            <a:r>
              <a:t>结论状态为 DISCUSSION_EVIDENCE_PARTIAL：可以写天气分布事实、与产量并列的描述性关系和证据限制；无需因此追加训练或模拟。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989320"/>
            <a:ext cx="10515600" cy="4114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600" b="1">
                <a:solidFill>
                  <a:srgbClr val="31807B"/>
                </a:solidFill>
                <a:latin typeface="Microsoft YaHei"/>
              </a:defRPr>
            </a:pPr>
            <a:r>
              <a:t>建议进入Discussion写作；不将天气覆盖作为天气增强收益的因果证明。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