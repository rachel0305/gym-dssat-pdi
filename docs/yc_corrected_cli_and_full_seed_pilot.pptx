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2162aa25a4a27" /><Relationship Type="http://schemas.openxmlformats.org/officeDocument/2006/relationships/extended-properties" Target="/docProps/app.xml" Id="R8713ad610208496c" /><Relationship Type="http://schemas.openxmlformats.org/officeDocument/2006/relationships/officeDocument" Target="/ppt/presentation.xml" Id="R180ac659bb13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877be2fa9402d"/>
  </p:sldMasterIdLst>
  <p:notesMasterIdLst>
    <p:notesMasterId xmlns:r="http://schemas.openxmlformats.org/officeDocument/2006/relationships" r:id="R93d757d50d134bdd"/>
  </p:notesMasterIdLst>
  <p:sldIdLst>
    <p:sldId xmlns:r="http://schemas.openxmlformats.org/officeDocument/2006/relationships" id="256" r:id="R7a5a8f59b2054b80"/>
    <p:sldId xmlns:r="http://schemas.openxmlformats.org/officeDocument/2006/relationships" id="257" r:id="Re0c0ca239c2847c0"/>
    <p:sldId xmlns:r="http://schemas.openxmlformats.org/officeDocument/2006/relationships" id="258" r:id="R80f05e747535408e"/>
    <p:sldId xmlns:r="http://schemas.openxmlformats.org/officeDocument/2006/relationships" id="259" r:id="Rc583c68d128c4fc3"/>
    <p:sldId xmlns:r="http://schemas.openxmlformats.org/officeDocument/2006/relationships" id="260" r:id="Rc3fb255a27bd4c04"/>
    <p:sldId xmlns:r="http://schemas.openxmlformats.org/officeDocument/2006/relationships" id="261" r:id="Rd3a847fe45354bac"/>
    <p:sldId xmlns:r="http://schemas.openxmlformats.org/officeDocument/2006/relationships" id="262" r:id="Rd234795b8023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52ca44f0e4a6f" /><Relationship Type="http://schemas.openxmlformats.org/officeDocument/2006/relationships/slideMaster" Target="/ppt/slideMasters/slideMaster1.xml" Id="Rca8877be2fa9402d" /><Relationship Type="http://schemas.openxmlformats.org/officeDocument/2006/relationships/notesMaster" Target="/ppt/notesMasters/notesMaster1.xml" Id="R93d757d50d134bdd" /><Relationship Type="http://schemas.openxmlformats.org/officeDocument/2006/relationships/presProps" Target="/ppt/presProps.xml" Id="Ra9b445ea107b46c2" /><Relationship Type="http://schemas.openxmlformats.org/officeDocument/2006/relationships/tableStyles" Target="/ppt/tableStyles.xml" Id="Re766f7b001704ba6" /><Relationship Type="http://schemas.openxmlformats.org/officeDocument/2006/relationships/slide" Target="/ppt/slides/slide1.xml" Id="R7a5a8f59b2054b80" /><Relationship Type="http://schemas.openxmlformats.org/officeDocument/2006/relationships/slide" Target="/ppt/slides/slide2.xml" Id="Re0c0ca239c2847c0" /><Relationship Type="http://schemas.openxmlformats.org/officeDocument/2006/relationships/slide" Target="/ppt/slides/slide3.xml" Id="R80f05e747535408e" /><Relationship Type="http://schemas.openxmlformats.org/officeDocument/2006/relationships/slide" Target="/ppt/slides/slide4.xml" Id="Rc583c68d128c4fc3" /><Relationship Type="http://schemas.openxmlformats.org/officeDocument/2006/relationships/slide" Target="/ppt/slides/slide5.xml" Id="Rc3fb255a27bd4c04" /><Relationship Type="http://schemas.openxmlformats.org/officeDocument/2006/relationships/slide" Target="/ppt/slides/slide6.xml" Id="Rd3a847fe45354bac" /><Relationship Type="http://schemas.openxmlformats.org/officeDocument/2006/relationships/slide" Target="/ppt/slides/slide7.xml" Id="Rd234795b8023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0d39b62ca24a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c85ba5b6b4baf" /><Relationship Type="http://schemas.openxmlformats.org/officeDocument/2006/relationships/notesMaster" Target="/ppt/notesMasters/notesMaster1.xml" Id="R58faabda110b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7cd3fdc8394eef" /><Relationship Type="http://schemas.openxmlformats.org/officeDocument/2006/relationships/notesMaster" Target="/ppt/notesMasters/notesMaster1.xml" Id="Rf0e600c9d0e3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29f58f0eb4822" /><Relationship Type="http://schemas.openxmlformats.org/officeDocument/2006/relationships/notesMaster" Target="/ppt/notesMasters/notesMaster1.xml" Id="R7ecc911b98c0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40a5c1625f42d3" /><Relationship Type="http://schemas.openxmlformats.org/officeDocument/2006/relationships/notesMaster" Target="/ppt/notesMasters/notesMaster1.xml" Id="R93a04dc71a67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a0c1ee319241e3" /><Relationship Type="http://schemas.openxmlformats.org/officeDocument/2006/relationships/notesMaster" Target="/ppt/notesMasters/notesMaster1.xml" Id="R9a4154943c3d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514deb63c451d" /><Relationship Type="http://schemas.openxmlformats.org/officeDocument/2006/relationships/notesMaster" Target="/ppt/notesMasters/notesMaster1.xml" Id="R1da540e6693645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5ebd8238ea4eb4" /><Relationship Type="http://schemas.openxmlformats.org/officeDocument/2006/relationships/notesMaster" Target="/ppt/notesMasters/notesMaster1.xml" Id="R401963ce73144c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证据：results/yc_wgen_cli_pilot/003_06_05_02/final/final_cli_schema_check.json；formal CLI 与 results/yc_wgen_cli_pilot/003_06_05_01/candidate/CNYC_parsefix_01.CLI SHA256 相同。测试命令和具体结果见 docs/yc_corrected_cli_and_full_seed_pilot.md。字体为本机运行时解析的设计字体：Arial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hash：frozen weather 4B8FFE9E881D0A0743921B78B9C0E0EBFB1D2D645C5AA9737948B2B088ED7B34；formal CLI 65CF134600A5881706A5D435E1A09B276ED92A21FA5ABE2E18AAF63AF1E3A929；历史错误 CLI 5ABF5D7BB97EFAAE5E8361ABB4C773E1554B58116CBCA2213E75DCFF838285F0。来源：本任务 final_cli_metadata.json、formal_cli_comparison.json。没有使用 2014–2023 数据进行拟合。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来源：results/yc_wgen_cli_pilot/003_06_05_02/runtime/formal_seed_pilot_provenance.json、validation/seed_input_consistency.json。每次 PDI rseed1 与目标 weather_seed 一致，六次 runtime FileX 哈希一致；仅 PDI 中每次启动自动分配的本地 ZeroMQ 端口变化，端口归一化后配置一致。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来源：results/yc_wgen_cli_pilot/003_06_05_02/reproducibility_check.json。完整规范化 CSV 两份 SHA256 都为 D9CD9926AE4382BA24783E498A928ED25F5EA92F1C60D1B3C7034448AAE5C29D；比较字段包含日期、DOY 和四个天气变量。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完整序列哈希及 10 组 pairwise 各字段差异计数见 results/yc_wgen_cli_pilot/003_06_05_02/seed_diversity_check.json。逐日天气文件为 generated_weather/seed_101_run_a.csv、seed_102.csv 至 seed_105.csv；seed_101_run_b.csv 与 101a 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来源：weather_summary_by_seed.csv、physical_sanity_check.json、validation/runtime_warning_inventory.json。统计窗口是每次 DSSAT 运行期间（116–120 日），不是年度统计。TRAIN climatology comparison 仅使用冻结 2004–2013 天气且不设调参阈值。Runtime WARNING.OUT 每次都有缺少经纬度/海拔、PHOTO 模式兼容转换、CYCRDin/CXCRDin/CELEVin 字段传递警告；INFO.OUT 另提示 STONES 和 ADCOEF 使用默认值。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判定口径来自任务说明 003_06_05_02。实验未使用 validation fitting，未修改 wet-day definition，未训练 PPO，未修改其他站点。建议下一阶段先完整天气分布 QC 与单季 DSSAT crop-output smoke，再根据 smoke 结果决定后续工作。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6fa4af2d1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8351d3c9b42ea" /><Relationship Type="http://schemas.openxmlformats.org/officeDocument/2006/relationships/slideLayout" Target="/ppt/slideLayouts/slideLayout1.xml" Id="R3b800ebd594f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00ebd594f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698bcb3f84a11" /><Relationship Type="http://schemas.openxmlformats.org/officeDocument/2006/relationships/notesSlide" Target="/ppt/notesSlides/notesSlide1.xml" Id="Rf07a717c2a8f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8e722b15c4d8c" /><Relationship Type="http://schemas.openxmlformats.org/officeDocument/2006/relationships/notesSlide" Target="/ppt/notesSlides/notesSlide2.xml" Id="R941a6fe4bd2841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21ea7696447b" /><Relationship Type="http://schemas.openxmlformats.org/officeDocument/2006/relationships/notesSlide" Target="/ppt/notesSlides/notesSlide3.xml" Id="Rd41817d86a9c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2a9b3c627419d" /><Relationship Type="http://schemas.openxmlformats.org/officeDocument/2006/relationships/notesSlide" Target="/ppt/notesSlides/notesSlide4.xml" Id="R4e1207999673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a98c366d34561" /><Relationship Type="http://schemas.openxmlformats.org/officeDocument/2006/relationships/notesSlide" Target="/ppt/notesSlides/notesSlide5.xml" Id="R1b1db0ea8912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735f98df94526" /><Relationship Type="http://schemas.openxmlformats.org/officeDocument/2006/relationships/chart" Target="/ppt/slides/charts/chart1.xml" Id="R09cdb45adb6f44e2" /><Relationship Type="http://schemas.openxmlformats.org/officeDocument/2006/relationships/notesSlide" Target="/ppt/notesSlides/notesSlide6.xml" Id="Rf8bd1d57b5c845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296ad9fc74509" /><Relationship Type="http://schemas.openxmlformats.org/officeDocument/2006/relationships/notesSlide" Target="/ppt/notesSlides/notesSlide7.xml" Id="R0b7a7726959a430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累计降雨 (mm)</c:v>
          </c:tx>
          <c:spPr>
            <a:solidFill xmlns:a="http://schemas.openxmlformats.org/drawingml/2006/main">
              <a:srgbClr val="356B54"/>
            </a:solidFill>
          </c:spPr>
          <c:cat>
            <c:numLit>
              <c:formatCode>General</c:formatCode>
              <c:ptCount val="5"/>
              <c:pt idx="0">
                <c:v>101</c:v>
              </c:pt>
              <c:pt idx="1">
                <c:v>102</c:v>
              </c:pt>
              <c:pt idx="2">
                <c:v>103</c:v>
              </c:pt>
              <c:pt idx="3">
                <c:v>104</c:v>
              </c:pt>
              <c:pt idx="4">
                <c:v>105</c:v>
              </c:pt>
            </c:numLit>
          </c:cat>
          <c:val>
            <c:numLit>
              <c:formatCode>General</c:formatCode>
              <c:ptCount val="5"/>
              <c:pt idx="0">
                <c:v>507.73</c:v>
              </c:pt>
              <c:pt idx="1">
                <c:v>509.51</c:v>
              </c:pt>
              <c:pt idx="2">
                <c:v>466.44</c:v>
              </c:pt>
              <c:pt idx="3">
                <c:v>290.1</c:v>
              </c:pt>
              <c:pt idx="4">
                <c:v>483.08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6C0FF-7D66-4ECE-872C-054B154B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正式 corrected 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DDA9B-276F-4EA7-9D81-672392E7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332B5-A3B4-40A5-8312-6195437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CAD01-6BB8-440B-9CA6-F67738F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CORRECTED_CLI_READY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422DD-E451-4752-A9D2-E8EF52C0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修复 formatter 的固定宽度序列化后，正式输出与 parsefix 候选逐字节一致。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07327-8083-4144-BF8F-8AF72220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I6 + 14 × (1X,F5.0)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53194-FB7F-4B9F-906D-D19817A8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12 个月 WGEN 行  |  每行 90 字符  |  15 列（含月份）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9036D-1BC1-42E2-BF03-9D16EAE8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CLI formatter + seed-pilot 分析回归：27 / 27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15E89-ABDE-45B2-8622-46C8AA6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6 次 runtime 未再出现 WGENIN 5010。</a:t>
            </a:r>
          </a:p>
        </p:txBody>
      </p:sp>
    </p:spTree>
    <p:extLst>
      <p:ext uri="{BB962C8B-B14F-4D97-AF65-F5344CB8AC3E}">
        <p14:creationId xmlns:p14="http://schemas.microsoft.com/office/powerpoint/2010/main" val="1388717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F3FB-8319-41F0-BC83-14BCFF3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冻结输入与 CLI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3CEF2-342E-4531-95C7-3801BC1B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AF8C2-EB73-47F7-BB20-1B62E176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训练天气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2004–2013 · 3,653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SHA256 核验通过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正式 CLI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12 月 · 90 字符/月行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与 parsefix 字节一致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旧错误 CLI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003_06_04 历史文件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原样保留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D033E-912C-4797-B884-0B86206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05C"/>
                </a:solidFill>
                <a:latin typeface="Arial"/>
                <a:ea typeface="Arial"/>
                <a:cs typeface="Arial"/>
              </a:rPr>
              <a:t>Frozen weather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92DE8-22CB-477A-9886-A5F4799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4B8FFE9E881D…B088ED7B34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A15E9-AF37-4A03-B111-6C3462A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05C"/>
                </a:solidFill>
                <a:latin typeface="Arial"/>
                <a:ea typeface="Arial"/>
                <a:cs typeface="Arial"/>
              </a:rPr>
              <a:t>Formal CNYC.CLI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B0BB0-3161-43BA-8993-D34D405F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34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65CF134600A5…AF1E3A929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AC500-9F38-4CE1-BE73-CD3064D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54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543D"/>
                </a:solidFill>
                <a:latin typeface="Arial"/>
                <a:ea typeface="Arial"/>
                <a:cs typeface="Arial"/>
              </a:rPr>
              <a:t>Validation weather 未参与拟合；RAIN &gt; 0.0 mm 定义保持不变。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244593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10186-E83E-44E9-BC3C-88168F5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六次串行 WGEN pilot 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3F601-227C-411A-8F21-B2ECC205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EE077-CA50-4E0A-8452-CB325139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运行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weather_seed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101a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重复性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101b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重复性 B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seed_102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跨 seed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seed_103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跨 seed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seed_104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跨 seed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seed_105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跨 seed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004B0-2C22-40F9-9C50-14FC064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运行条件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95808-F2C2-4F2E-954B-76E8D5E0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YC · treatment 1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WTHER=W · WSTA=CNYC0801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DSSAT 4.8.0.024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同一正式 CLI / FileX / soil / cultivar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8BF61-07B6-45FE-AFD0-CD1C375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seed 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A4DB3-40A4-4CA4-846A-7EEF5AF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weather_seed 明确注入 PDI rseed1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Gym seed=None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ppo_seed=NOT_APPLICABLE</a:t>
            </a:r>
          </a:p>
          <a:p xmlns:a="http://schemas.openxmlformats.org/drawingml/2006/main">
            <a:pPr>
              <a:defRPr sz="16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未运行 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24C36-39EC-4652-A7DA-F7706FD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串行峰值进程树内存：131.54 MB</a:t>
            </a:r>
          </a:p>
        </p:txBody>
      </p:sp>
    </p:spTree>
    <p:extLst>
      <p:ext uri="{BB962C8B-B14F-4D97-AF65-F5344CB8AC3E}">
        <p14:creationId xmlns:p14="http://schemas.microsoft.com/office/powerpoint/2010/main" val="1542628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5F2B6-32F7-401F-B991-84FF55D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Seed 101：完整序列可复现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6AEC7-3F65-4A03-A778-F176873F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E6A3E-C580-418B-8ADA-1EEA2BE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2269D-1054-40B7-B42D-1DCCEDB1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101a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D781C-E58D-4F24-80FA-6E7BFEB7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101b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0B076-F31B-4578-A966-B47B5F7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2008-06-01 → 2008-09-28  ·  120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E6651-6056-4903-8541-3646D293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2008-06-01 → 2008-09-28  ·  120 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CB404-D71C-4774-B910-134E35FA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06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D9CD9926AE4382BA24783E498A928ED25F5EA92F1C60D1B3C7034448AAE5C29D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7EF37-BF89-4C9B-A9B3-1BF3B66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506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D9CD9926AE4382BA24783E498A928ED25F5EA92F1C60D1B3C7034448AAE5C29D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893E4-A36B-47ED-8646-2FBF8750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DATE / DOY / RAIN / SRAD / TMAX / TMIN 完全一致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0343F-E13C-4D13-8EF0-9783D9D7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first_difference_if_any = null</a:t>
            </a:r>
          </a:p>
        </p:txBody>
      </p:sp>
    </p:spTree>
    <p:extLst>
      <p:ext uri="{BB962C8B-B14F-4D97-AF65-F5344CB8AC3E}">
        <p14:creationId xmlns:p14="http://schemas.microsoft.com/office/powerpoint/2010/main" val="634017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81B5B-C8AE-4CA3-8CCA-2B6779C1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Seed 101–105：五条不同天气序列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DD6C5-3521-4A87-A9F0-3B0C209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0DCFD-A54E-410D-9B38-A9381DBC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捕获日数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序列 hash 前缀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不同 seed</a:t>
                      </a:r>
                    </a:p>
                  </a:txBody>
                  <a:tcPr marL="91440" marR="91440" marT="45720" marB="45720">
                    <a:solidFill>
                      <a:srgbClr val="222B2A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D9CD9926AE43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102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240C34531DC8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DC5C2EAA31F9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7E6D92914D38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5F7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118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94E881EBFFFF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222B2A"/>
                          </a:solidFill>
                          <a:latin typeface="Arial"/>
                          <a:ea typeface="Arial"/>
                          <a:cs typeface="Arial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F7038-4ADE-41F7-AB53-A709277C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10 / 10 pairwise 比较不同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EC062-689C-4220-9CA0-4C5C97F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逐变量差异按共同日期计数；不同运行的末日随 DSSAT 单季终止日而变化。</a:t>
            </a:r>
          </a:p>
        </p:txBody>
      </p:sp>
    </p:spTree>
    <p:extLst>
      <p:ext uri="{BB962C8B-B14F-4D97-AF65-F5344CB8AC3E}">
        <p14:creationId xmlns:p14="http://schemas.microsoft.com/office/powerpoint/2010/main" val="1049177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77228-9D36-4CD2-B499-F4913D4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Simulation-period 天气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1257-5D67-4528-8705-F1036FA2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BA2AD-E66F-42D2-ACA3-AA2C33B1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7CFA6-D8F3-47C9-B744-3C9CB9E2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六条序列全部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9BB86-72FA-401C-AEF7-626E4236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日期连续 · DOY 对齐 · 无重复日 · 数值有限</a:t>
            </a:r>
          </a:p>
          <a:p xmlns:a="http://schemas.openxmlformats.org/drawingml/2006/main">
            <a:pPr>
              <a:defRPr sz="157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RAIN ≥ 0 · SRAD ≥ 0 · TMAX ≥ TMIN · 非全零降雨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A4D5-580D-4DDC-88B1-E30C894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05C"/>
                </a:solidFill>
                <a:latin typeface="Arial"/>
                <a:ea typeface="Arial"/>
                <a:cs typeface="Arial"/>
              </a:rPr>
              <a:t>累计降雨量（mm）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829300" y="1809750"/>
          <a:ext xmlns:a="http://schemas.openxmlformats.org/drawingml/2006/main" cx="5476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cdb45adb6f44e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32E2-1D2B-4A55-BEE9-F360837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雨日 22–37 日  ·  最大日雨量 51.05–97.32 mm</a:t>
            </a:r>
          </a:p>
          <a:p xmlns:a="http://schemas.openxmlformats.org/drawingml/2006/main">
            <a:pPr>
              <a:defRPr sz="150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均值 Tmax 30.61–32.11°C  ·  均值 Tmin 19.98–21.08°C</a:t>
            </a:r>
          </a:p>
          <a:p xmlns:a="http://schemas.openxmlformats.org/drawingml/2006/main">
            <a:pPr>
              <a:defRPr sz="1500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均值 SRAD 16.01–17.03 MJ/m²/d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C70DC-BB58-4E14-9B36-D87F5FD5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2004–2013 仅作描述性气候参考；不用于调参。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D97D9-1790-4AC0-915B-26D8E55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54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543D"/>
                </a:solidFill>
                <a:latin typeface="Arial"/>
                <a:ea typeface="Arial"/>
                <a:cs typeface="Arial"/>
              </a:rPr>
              <a:t>WARNING.OUT 的站点元数据 / cultivar 字段提示须在 crop-output smoke 评估。</a:t>
            </a:r>
          </a:p>
        </p:txBody>
      </p:sp>
    </p:spTree>
    <p:extLst>
      <p:ext uri="{BB962C8B-B14F-4D97-AF65-F5344CB8AC3E}">
        <p14:creationId xmlns:p14="http://schemas.microsoft.com/office/powerpoint/2010/main" val="151424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60113-6E25-4598-AC48-AED40C21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Pilot 判定与下一阶段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D374D-1239-45BD-8C1E-47218FD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5C"/>
                </a:solidFill>
                <a:latin typeface="Arial"/>
                <a:ea typeface="Arial"/>
                <a:cs typeface="Arial"/>
              </a:rPr>
              <a:t>YC  |  WGEN seed pilot  |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9F11E-F952-401F-A5BC-B5A99F48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4"/>
          </a:solidFill>
          <a:ln xmlns:a="http://schemas.openxmlformats.org/drawingml/2006/main" w="0">
            <a:solidFill>
              <a:srgbClr val="356B5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3647F-7623-459D-99B0-E158F9D3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6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56B54"/>
                </a:solidFill>
                <a:latin typeface="Arial"/>
                <a:ea typeface="Arial"/>
                <a:cs typeface="Arial"/>
              </a:rPr>
              <a:t>WGEN_SEED_PILOT_PASS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8FEB2-3372-4056-B745-1F834A3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Gate A 通过：正式 CLI schema 正确，并与 parsefix 数值/字节一致。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E6DF0-9910-461D-9C5A-8EEFF29F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B2A"/>
                </a:solidFill>
                <a:latin typeface="Arial"/>
                <a:ea typeface="Arial"/>
                <a:cs typeface="Arial"/>
              </a:rPr>
              <a:t>Gate B 通过：6/6 runtime PASS；101 重现；5/5 序列不同；天气 QC PASS。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C6BFA-DA46-464F-928F-E70EACD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E71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E7184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6122B-4F45-4244-9EF3-FEF0CC6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22B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B2A"/>
                </a:solidFill>
                <a:latin typeface="Arial"/>
                <a:ea typeface="Arial"/>
                <a:cs typeface="Arial"/>
              </a:rPr>
              <a:t>003_06_06_yc_wgen_weather_qc_and_dssat_smoke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6732B-D94B-41AE-9E8A-2ADECC95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54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543D"/>
                </a:solidFill>
                <a:latin typeface="Arial"/>
                <a:ea typeface="Arial"/>
                <a:cs typeface="Arial"/>
              </a:rPr>
              <a:t>先处理或解释 runtime 元数据警告，再检查作物生长、产量及水氮状态。</a:t>
            </a:r>
          </a:p>
          <a:p xmlns:a="http://schemas.openxmlformats.org/drawingml/2006/main">
            <a:pPr>
              <a:defRPr sz="1575" b="0">
                <a:solidFill>
                  <a:srgbClr val="B954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543D"/>
                </a:solidFill>
                <a:latin typeface="Arial"/>
                <a:ea typeface="Arial"/>
                <a:cs typeface="Arial"/>
              </a:rPr>
              <a:t>本轮结果不等于 crop-output 验证通过，也不授权 PPO 长训。</a:t>
            </a:r>
          </a:p>
        </p:txBody>
      </p:sp>
    </p:spTree>
    <p:extLst>
      <p:ext uri="{BB962C8B-B14F-4D97-AF65-F5344CB8AC3E}">
        <p14:creationId xmlns:p14="http://schemas.microsoft.com/office/powerpoint/2010/main" val="47217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2026-09-25T03:09:15.6180000Z</dcterms:created>
  <dcterms:modified xsi:type="dcterms:W3CDTF">2026-09-25T03:09:15.6180000Z</dcterms:modified>
</coreProperties>
</file>