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6" r:id="rId3"/>
    <p:sldId id="257" r:id="rId4"/>
    <p:sldId id="258" r:id="rId6"/>
    <p:sldId id="259" r:id="rId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30" d="100"/>
          <a:sy n="30" d="100"/>
        </p:scale>
        <p:origin x="336" y="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viewProps" Target="viewProps.xml"/><Relationship Id="rId8" Type="http://schemas.openxmlformats.org/officeDocument/2006/relationships/presProps" Target="presProps.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0" Type="http://schemas.openxmlformats.org/officeDocument/2006/relationships/tableStyles" Target="tableStyles.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这个数值记得</a:t>
            </a:r>
            <a:r>
              <a:rPr lang="zh-CN" altLang="en-US"/>
              <a:t>改一下</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07A0AD1E-801F-4352-A493-410DB39E3597}"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2491E17-C12C-4E89-B753-EE113A8DDE3A}"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07A0AD1E-801F-4352-A493-410DB39E3597}"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2491E17-C12C-4E89-B753-EE113A8DDE3A}"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07A0AD1E-801F-4352-A493-410DB39E3597}"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2491E17-C12C-4E89-B753-EE113A8DDE3A}"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07A0AD1E-801F-4352-A493-410DB39E3597}"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2491E17-C12C-4E89-B753-EE113A8DDE3A}"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07A0AD1E-801F-4352-A493-410DB39E3597}"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A2491E17-C12C-4E89-B753-EE113A8DDE3A}"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07A0AD1E-801F-4352-A493-410DB39E3597}"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2491E17-C12C-4E89-B753-EE113A8DDE3A}"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7A0AD1E-801F-4352-A493-410DB39E3597}"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2491E17-C12C-4E89-B753-EE113A8DDE3A}"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07A0AD1E-801F-4352-A493-410DB39E3597}"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2491E17-C12C-4E89-B753-EE113A8DDE3A}"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07A0AD1E-801F-4352-A493-410DB39E3597}"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2491E17-C12C-4E89-B753-EE113A8DDE3A}"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07A0AD1E-801F-4352-A493-410DB39E3597}"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2491E17-C12C-4E89-B753-EE113A8DDE3A}"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07A0AD1E-801F-4352-A493-410DB39E3597}"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2491E17-C12C-4E89-B753-EE113A8DDE3A}"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7A0AD1E-801F-4352-A493-410DB39E3597}"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2491E17-C12C-4E89-B753-EE113A8DDE3A}"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82600" y="279400"/>
            <a:ext cx="11176000" cy="477054"/>
          </a:xfrm>
          <a:prstGeom prst="rect">
            <a:avLst/>
          </a:prstGeom>
          <a:noFill/>
        </p:spPr>
        <p:txBody>
          <a:bodyPr vert="horz" wrap="square" rtlCol="0">
            <a:spAutoFit/>
          </a:bodyPr>
          <a:lstStyle/>
          <a:p>
            <a:r>
              <a:rPr lang="zh-CN" altLang="en-US" sz="2500" b="1">
                <a:latin typeface="微软雅黑" panose="020B0503020204020204" pitchFamily="34" charset="-122"/>
              </a:rPr>
              <a:t>雨养或弱灌溉需求情景小结</a:t>
            </a:r>
            <a:endParaRPr lang="zh-CN" altLang="en-US" sz="2500" b="1">
              <a:latin typeface="微软雅黑" panose="020B0503020204020204" pitchFamily="34" charset="-122"/>
            </a:endParaRPr>
          </a:p>
        </p:txBody>
      </p:sp>
      <p:sp>
        <p:nvSpPr>
          <p:cNvPr id="3" name="文本框 2"/>
          <p:cNvSpPr txBox="1"/>
          <p:nvPr/>
        </p:nvSpPr>
        <p:spPr>
          <a:xfrm>
            <a:off x="508000" y="863600"/>
            <a:ext cx="10922000" cy="261610"/>
          </a:xfrm>
          <a:prstGeom prst="rect">
            <a:avLst/>
          </a:prstGeom>
          <a:noFill/>
        </p:spPr>
        <p:txBody>
          <a:bodyPr vert="horz" wrap="square" rtlCol="0">
            <a:spAutoFit/>
          </a:bodyPr>
          <a:lstStyle/>
          <a:p>
            <a:r>
              <a:rPr lang="zh-CN" altLang="en-US" sz="1100">
                <a:latin typeface="微软雅黑" panose="020B0503020204020204" pitchFamily="34" charset="-122"/>
              </a:rPr>
              <a:t>五站点 </a:t>
            </a:r>
            <a:r>
              <a:rPr lang="en-US" altLang="zh-CN" sz="1100">
                <a:latin typeface="微软雅黑" panose="020B0503020204020204" pitchFamily="34" charset="-122"/>
              </a:rPr>
              <a:t>all </a:t>
            </a:r>
            <a:r>
              <a:rPr lang="zh-CN" altLang="en-US" sz="1100">
                <a:latin typeface="微软雅黑" panose="020B0503020204020204" pitchFamily="34" charset="-122"/>
              </a:rPr>
              <a:t>模式水分</a:t>
            </a:r>
            <a:r>
              <a:rPr lang="en-US" altLang="zh-CN" sz="1100">
                <a:latin typeface="微软雅黑" panose="020B0503020204020204" pitchFamily="34" charset="-122"/>
              </a:rPr>
              <a:t>/</a:t>
            </a:r>
            <a:r>
              <a:rPr lang="zh-CN" altLang="en-US" sz="1100">
                <a:latin typeface="微软雅黑" panose="020B0503020204020204" pitchFamily="34" charset="-122"/>
              </a:rPr>
              <a:t>氮素胁迫诊断，可作为论文讨论材料</a:t>
            </a:r>
            <a:endParaRPr lang="zh-CN" altLang="en-US" sz="1100">
              <a:latin typeface="微软雅黑" panose="020B0503020204020204" pitchFamily="34" charset="-122"/>
            </a:endParaRPr>
          </a:p>
        </p:txBody>
      </p:sp>
      <p:sp>
        <p:nvSpPr>
          <p:cNvPr id="4" name="文本框 3"/>
          <p:cNvSpPr txBox="1"/>
          <p:nvPr/>
        </p:nvSpPr>
        <p:spPr>
          <a:xfrm>
            <a:off x="698500" y="1524000"/>
            <a:ext cx="10795000" cy="1077218"/>
          </a:xfrm>
          <a:prstGeom prst="rect">
            <a:avLst/>
          </a:prstGeom>
          <a:noFill/>
        </p:spPr>
        <p:txBody>
          <a:bodyPr vert="horz" wrap="square" rtlCol="0">
            <a:spAutoFit/>
          </a:bodyPr>
          <a:lstStyle/>
          <a:p>
            <a:r>
              <a:rPr lang="en-US" altLang="zh-CN" sz="1600">
                <a:latin typeface="微软雅黑" panose="020B0503020204020204" pitchFamily="34" charset="-122"/>
              </a:rPr>
              <a:t>• </a:t>
            </a:r>
            <a:r>
              <a:rPr lang="zh-CN" altLang="en-US" sz="1600">
                <a:latin typeface="微软雅黑" panose="020B0503020204020204" pitchFamily="34" charset="-122"/>
              </a:rPr>
              <a:t>五站点实测年份中，多数站点 </a:t>
            </a:r>
            <a:r>
              <a:rPr lang="en-US" altLang="zh-CN" sz="1600">
                <a:latin typeface="微软雅黑" panose="020B0503020204020204" pitchFamily="34" charset="-122"/>
              </a:rPr>
              <a:t>PRCP </a:t>
            </a:r>
            <a:r>
              <a:rPr lang="zh-CN" altLang="en-US" sz="1600">
                <a:latin typeface="微软雅黑" panose="020B0503020204020204" pitchFamily="34" charset="-122"/>
              </a:rPr>
              <a:t>与 </a:t>
            </a:r>
            <a:r>
              <a:rPr lang="en-US" altLang="zh-CN" sz="1600">
                <a:latin typeface="微软雅黑" panose="020B0503020204020204" pitchFamily="34" charset="-122"/>
              </a:rPr>
              <a:t>ETCP </a:t>
            </a:r>
            <a:r>
              <a:rPr lang="zh-CN" altLang="en-US" sz="1600">
                <a:latin typeface="微软雅黑" panose="020B0503020204020204" pitchFamily="34" charset="-122"/>
              </a:rPr>
              <a:t>接近平衡或降雨充足；海伦虽年尺度亏缺，但 </a:t>
            </a:r>
            <a:r>
              <a:rPr lang="en-US" altLang="zh-CN" sz="1600">
                <a:latin typeface="微软雅黑" panose="020B0503020204020204" pitchFamily="34" charset="-122"/>
              </a:rPr>
              <a:t>all </a:t>
            </a:r>
            <a:r>
              <a:rPr lang="zh-CN" altLang="en-US" sz="1600">
                <a:latin typeface="微软雅黑" panose="020B0503020204020204" pitchFamily="34" charset="-122"/>
              </a:rPr>
              <a:t>模式日尺度 </a:t>
            </a:r>
            <a:r>
              <a:rPr lang="en-US" altLang="zh-CN" sz="1600">
                <a:latin typeface="微软雅黑" panose="020B0503020204020204" pitchFamily="34" charset="-122"/>
              </a:rPr>
              <a:t>swfac </a:t>
            </a:r>
            <a:r>
              <a:rPr lang="zh-CN" altLang="en-US" sz="1600">
                <a:latin typeface="微软雅黑" panose="020B0503020204020204" pitchFamily="34" charset="-122"/>
              </a:rPr>
              <a:t>未显示明显水分胁迫。</a:t>
            </a:r>
            <a:endParaRPr lang="zh-CN" altLang="en-US" sz="1600">
              <a:latin typeface="微软雅黑" panose="020B0503020204020204" pitchFamily="34" charset="-122"/>
            </a:endParaRPr>
          </a:p>
          <a:p>
            <a:r>
              <a:rPr lang="en-US" altLang="zh-CN" sz="1600">
                <a:latin typeface="微软雅黑" panose="020B0503020204020204" pitchFamily="34" charset="-122"/>
              </a:rPr>
              <a:t>• </a:t>
            </a:r>
            <a:r>
              <a:rPr lang="zh-CN" altLang="en-US" sz="1600">
                <a:latin typeface="微软雅黑" panose="020B0503020204020204" pitchFamily="34" charset="-122"/>
              </a:rPr>
              <a:t>在这些情景下，</a:t>
            </a:r>
            <a:r>
              <a:rPr lang="en-US" altLang="zh-CN" sz="1600">
                <a:latin typeface="微软雅黑" panose="020B0503020204020204" pitchFamily="34" charset="-122"/>
              </a:rPr>
              <a:t>PPO </a:t>
            </a:r>
            <a:r>
              <a:rPr lang="zh-CN" altLang="en-US" sz="1600">
                <a:latin typeface="微软雅黑" panose="020B0503020204020204" pitchFamily="34" charset="-122"/>
              </a:rPr>
              <a:t>若学习到减少灌溉或接近不灌溉，并不一定是失败；它可能是在识别灌水边际收益很低的年份。</a:t>
            </a:r>
            <a:endParaRPr lang="zh-CN" altLang="en-US" sz="1600">
              <a:latin typeface="微软雅黑" panose="020B0503020204020204" pitchFamily="34" charset="-122"/>
            </a:endParaRPr>
          </a:p>
          <a:p>
            <a:r>
              <a:rPr lang="en-US" altLang="zh-CN" sz="1600">
                <a:latin typeface="微软雅黑" panose="020B0503020204020204" pitchFamily="34" charset="-122"/>
              </a:rPr>
              <a:t>• </a:t>
            </a:r>
            <a:r>
              <a:rPr lang="zh-CN" altLang="en-US" sz="1600">
                <a:latin typeface="微软雅黑" panose="020B0503020204020204" pitchFamily="34" charset="-122"/>
              </a:rPr>
              <a:t>因此当前五站点更适合作为雨养或弱灌溉需求情景，用于证明模型不会为了灌溉而灌溉，具备节水倾向。</a:t>
            </a:r>
            <a:endParaRPr lang="zh-CN" altLang="en-US" sz="1600">
              <a:latin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82600" y="279400"/>
            <a:ext cx="11176000" cy="477054"/>
          </a:xfrm>
          <a:prstGeom prst="rect">
            <a:avLst/>
          </a:prstGeom>
          <a:noFill/>
        </p:spPr>
        <p:txBody>
          <a:bodyPr vert="horz" wrap="square" rtlCol="0">
            <a:spAutoFit/>
          </a:bodyPr>
          <a:lstStyle/>
          <a:p>
            <a:r>
              <a:rPr lang="zh-CN" altLang="en-US" sz="2500" b="1">
                <a:latin typeface="微软雅黑" panose="020B0503020204020204" pitchFamily="34" charset="-122"/>
              </a:rPr>
              <a:t>诊断依据</a:t>
            </a:r>
            <a:endParaRPr lang="zh-CN" altLang="en-US" sz="2500" b="1">
              <a:latin typeface="微软雅黑" panose="020B0503020204020204" pitchFamily="34" charset="-122"/>
            </a:endParaRPr>
          </a:p>
        </p:txBody>
      </p:sp>
      <p:graphicFrame>
        <p:nvGraphicFramePr>
          <p:cNvPr id="3" name="表格 2"/>
          <p:cNvGraphicFramePr>
            <a:graphicFrameLocks noGrp="1"/>
          </p:cNvGraphicFramePr>
          <p:nvPr/>
        </p:nvGraphicFramePr>
        <p:xfrm>
          <a:off x="381000" y="1333500"/>
          <a:ext cx="11430000" cy="4191000"/>
        </p:xfrm>
        <a:graphic>
          <a:graphicData uri="http://schemas.openxmlformats.org/drawingml/2006/table">
            <a:tbl>
              <a:tblPr firstRow="1" bandRow="1">
                <a:tableStyleId>{5C22544A-7EE6-4342-B048-85BDC9FD1C3A}</a:tableStyleId>
              </a:tblPr>
              <a:tblGrid>
                <a:gridCol w="1428750"/>
                <a:gridCol w="1428750"/>
                <a:gridCol w="1428750"/>
                <a:gridCol w="1428750"/>
                <a:gridCol w="1428750"/>
                <a:gridCol w="1428750"/>
                <a:gridCol w="1428750"/>
                <a:gridCol w="1428750"/>
              </a:tblGrid>
              <a:tr h="523875">
                <a:tc>
                  <a:txBody>
                    <a:bodyPr/>
                    <a:lstStyle/>
                    <a:p>
                      <a:pPr algn="ctr"/>
                      <a:r>
                        <a:rPr lang="zh-CN" altLang="en-US" sz="1800" b="1">
                          <a:latin typeface="微软雅黑" panose="020B0503020204020204" pitchFamily="34" charset="-122"/>
                        </a:rPr>
                        <a:t>站点</a:t>
                      </a:r>
                      <a:endParaRPr lang="zh-CN" altLang="en-US" sz="1800" b="1">
                        <a:latin typeface="微软雅黑" panose="020B0503020204020204" pitchFamily="34" charset="-122"/>
                      </a:endParaRPr>
                    </a:p>
                  </a:txBody>
                  <a:tcPr anchor="ctr" anchorCtr="0"/>
                </a:tc>
                <a:tc>
                  <a:txBody>
                    <a:bodyPr/>
                    <a:lstStyle/>
                    <a:p>
                      <a:pPr algn="ctr"/>
                      <a:r>
                        <a:rPr lang="zh-CN" altLang="en-US" sz="1800" b="1">
                          <a:latin typeface="微软雅黑" panose="020B0503020204020204" pitchFamily="34" charset="-122"/>
                        </a:rPr>
                        <a:t>策略</a:t>
                      </a:r>
                      <a:endParaRPr lang="zh-CN" altLang="en-US" sz="1800" b="1">
                        <a:latin typeface="微软雅黑" panose="020B0503020204020204" pitchFamily="34" charset="-122"/>
                      </a:endParaRPr>
                    </a:p>
                  </a:txBody>
                  <a:tcPr anchor="ctr" anchorCtr="0"/>
                </a:tc>
                <a:tc>
                  <a:txBody>
                    <a:bodyPr/>
                    <a:lstStyle/>
                    <a:p>
                      <a:pPr algn="ctr"/>
                      <a:r>
                        <a:rPr lang="en-US" altLang="zh-CN" sz="1800" b="1">
                          <a:latin typeface="微软雅黑" panose="020B0503020204020204" pitchFamily="34" charset="-122"/>
                        </a:rPr>
                        <a:t>P-E</a:t>
                      </a:r>
                      <a:endParaRPr lang="en-US" altLang="zh-CN" sz="1800" b="1">
                        <a:latin typeface="微软雅黑" panose="020B0503020204020204" pitchFamily="34" charset="-122"/>
                      </a:endParaRPr>
                    </a:p>
                  </a:txBody>
                  <a:tcPr anchor="ctr" anchorCtr="0"/>
                </a:tc>
                <a:tc>
                  <a:txBody>
                    <a:bodyPr/>
                    <a:lstStyle/>
                    <a:p>
                      <a:pPr algn="ctr"/>
                      <a:r>
                        <a:rPr lang="en-US" altLang="zh-CN" sz="1800" b="1">
                          <a:latin typeface="微软雅黑" panose="020B0503020204020204" pitchFamily="34" charset="-122"/>
                        </a:rPr>
                        <a:t>swfac</a:t>
                      </a:r>
                      <a:r>
                        <a:rPr lang="zh-CN" altLang="en-US" sz="1800" b="1">
                          <a:latin typeface="微软雅黑" panose="020B0503020204020204" pitchFamily="34" charset="-122"/>
                        </a:rPr>
                        <a:t>天数</a:t>
                      </a:r>
                      <a:endParaRPr lang="zh-CN" altLang="en-US" sz="1800" b="1">
                        <a:latin typeface="微软雅黑" panose="020B0503020204020204" pitchFamily="34" charset="-122"/>
                      </a:endParaRPr>
                    </a:p>
                  </a:txBody>
                  <a:tcPr anchor="ctr" anchorCtr="0"/>
                </a:tc>
                <a:tc>
                  <a:txBody>
                    <a:bodyPr/>
                    <a:lstStyle/>
                    <a:p>
                      <a:pPr algn="ctr"/>
                      <a:r>
                        <a:rPr lang="en-US" altLang="zh-CN" sz="1800" b="1">
                          <a:latin typeface="微软雅黑" panose="020B0503020204020204" pitchFamily="34" charset="-122"/>
                        </a:rPr>
                        <a:t>nstres</a:t>
                      </a:r>
                      <a:r>
                        <a:rPr lang="zh-CN" altLang="en-US" sz="1800" b="1">
                          <a:latin typeface="微软雅黑" panose="020B0503020204020204" pitchFamily="34" charset="-122"/>
                        </a:rPr>
                        <a:t>天数</a:t>
                      </a:r>
                      <a:endParaRPr lang="zh-CN" altLang="en-US" sz="1800" b="1">
                        <a:latin typeface="微软雅黑" panose="020B0503020204020204" pitchFamily="34" charset="-122"/>
                      </a:endParaRPr>
                    </a:p>
                  </a:txBody>
                  <a:tcPr anchor="ctr" anchorCtr="0"/>
                </a:tc>
                <a:tc>
                  <a:txBody>
                    <a:bodyPr/>
                    <a:lstStyle/>
                    <a:p>
                      <a:pPr algn="ctr"/>
                      <a:r>
                        <a:rPr lang="zh-CN" altLang="en-US" sz="1800" b="1">
                          <a:latin typeface="微软雅黑" panose="020B0503020204020204" pitchFamily="34" charset="-122"/>
                        </a:rPr>
                        <a:t>产量</a:t>
                      </a:r>
                      <a:endParaRPr lang="zh-CN" altLang="en-US" sz="1800" b="1">
                        <a:latin typeface="微软雅黑" panose="020B0503020204020204" pitchFamily="34" charset="-122"/>
                      </a:endParaRPr>
                    </a:p>
                  </a:txBody>
                  <a:tcPr anchor="ctr" anchorCtr="0"/>
                </a:tc>
                <a:tc>
                  <a:txBody>
                    <a:bodyPr/>
                    <a:lstStyle/>
                    <a:p>
                      <a:pPr algn="ctr"/>
                      <a:r>
                        <a:rPr lang="zh-CN" altLang="en-US" sz="1800" b="1">
                          <a:latin typeface="微软雅黑" panose="020B0503020204020204" pitchFamily="34" charset="-122"/>
                        </a:rPr>
                        <a:t>施肥</a:t>
                      </a:r>
                      <a:endParaRPr lang="zh-CN" altLang="en-US" sz="1800" b="1">
                        <a:latin typeface="微软雅黑" panose="020B0503020204020204" pitchFamily="34" charset="-122"/>
                      </a:endParaRPr>
                    </a:p>
                  </a:txBody>
                  <a:tcPr anchor="ctr" anchorCtr="0"/>
                </a:tc>
                <a:tc>
                  <a:txBody>
                    <a:bodyPr/>
                    <a:lstStyle/>
                    <a:p>
                      <a:pPr algn="ctr"/>
                      <a:r>
                        <a:rPr lang="zh-CN" altLang="en-US" sz="1800" b="1">
                          <a:latin typeface="微软雅黑" panose="020B0503020204020204" pitchFamily="34" charset="-122"/>
                        </a:rPr>
                        <a:t>灌水</a:t>
                      </a:r>
                      <a:endParaRPr lang="zh-CN" altLang="en-US" sz="1800" b="1">
                        <a:latin typeface="微软雅黑" panose="020B0503020204020204" pitchFamily="34" charset="-122"/>
                      </a:endParaRPr>
                    </a:p>
                  </a:txBody>
                  <a:tcPr anchor="ctr" anchorCtr="0"/>
                </a:tc>
              </a:tr>
              <a:tr h="523875">
                <a:tc>
                  <a:txBody>
                    <a:bodyPr/>
                    <a:lstStyle/>
                    <a:p>
                      <a:pPr algn="ctr"/>
                      <a:r>
                        <a:rPr lang="en-US" altLang="zh-CN" sz="1800">
                          <a:latin typeface="微软雅黑" panose="020B0503020204020204" pitchFamily="34" charset="-122"/>
                        </a:rPr>
                        <a:t>HL</a:t>
                      </a:r>
                      <a:endParaRPr lang="en-US" altLang="zh-CN" sz="1800">
                        <a:latin typeface="微软雅黑" panose="020B0503020204020204" pitchFamily="34" charset="-122"/>
                      </a:endParaRPr>
                    </a:p>
                  </a:txBody>
                  <a:tcPr anchor="ctr" anchorCtr="0"/>
                </a:tc>
                <a:tc>
                  <a:txBody>
                    <a:bodyPr/>
                    <a:lstStyle/>
                    <a:p>
                      <a:pPr algn="ctr"/>
                      <a:r>
                        <a:rPr lang="en-US" altLang="zh-CN" sz="1800">
                          <a:latin typeface="微软雅黑" panose="020B0503020204020204" pitchFamily="34" charset="-122"/>
                        </a:rPr>
                        <a:t>null</a:t>
                      </a:r>
                      <a:endParaRPr lang="en-US" altLang="zh-CN" sz="1800">
                        <a:latin typeface="微软雅黑" panose="020B0503020204020204" pitchFamily="34" charset="-122"/>
                      </a:endParaRPr>
                    </a:p>
                  </a:txBody>
                  <a:tcPr anchor="ctr" anchorCtr="0"/>
                </a:tc>
                <a:tc>
                  <a:txBody>
                    <a:bodyPr/>
                    <a:lstStyle/>
                    <a:p>
                      <a:pPr algn="ctr"/>
                      <a:r>
                        <a:rPr lang="en-US" altLang="zh-CN" sz="1800">
                          <a:latin typeface="微软雅黑" panose="020B0503020204020204" pitchFamily="34" charset="-122"/>
                        </a:rPr>
                        <a:t>-150.4</a:t>
                      </a:r>
                      <a:endParaRPr lang="en-US" altLang="zh-CN" sz="1800">
                        <a:latin typeface="微软雅黑" panose="020B0503020204020204" pitchFamily="34" charset="-122"/>
                      </a:endParaRPr>
                    </a:p>
                  </a:txBody>
                  <a:tcPr anchor="ctr" anchorCtr="0"/>
                </a:tc>
                <a:tc>
                  <a:txBody>
                    <a:bodyPr/>
                    <a:lstStyle/>
                    <a:p>
                      <a:pPr algn="ctr"/>
                      <a:r>
                        <a:rPr lang="en-US" altLang="zh-CN" sz="1800">
                          <a:latin typeface="微软雅黑" panose="020B0503020204020204" pitchFamily="34" charset="-122"/>
                        </a:rPr>
                        <a:t>0</a:t>
                      </a:r>
                      <a:endParaRPr lang="en-US" altLang="zh-CN" sz="1800">
                        <a:latin typeface="微软雅黑" panose="020B0503020204020204" pitchFamily="34" charset="-122"/>
                      </a:endParaRPr>
                    </a:p>
                  </a:txBody>
                  <a:tcPr anchor="ctr" anchorCtr="0"/>
                </a:tc>
                <a:tc>
                  <a:txBody>
                    <a:bodyPr/>
                    <a:lstStyle/>
                    <a:p>
                      <a:pPr algn="ctr"/>
                      <a:r>
                        <a:rPr lang="en-US" altLang="zh-CN" sz="1800">
                          <a:latin typeface="微软雅黑" panose="020B0503020204020204" pitchFamily="34" charset="-122"/>
                        </a:rPr>
                        <a:t>0</a:t>
                      </a:r>
                      <a:endParaRPr lang="en-US" altLang="zh-CN" sz="1800">
                        <a:latin typeface="微软雅黑" panose="020B0503020204020204" pitchFamily="34" charset="-122"/>
                      </a:endParaRPr>
                    </a:p>
                  </a:txBody>
                  <a:tcPr anchor="ctr" anchorCtr="0"/>
                </a:tc>
                <a:tc>
                  <a:txBody>
                    <a:bodyPr/>
                    <a:lstStyle/>
                    <a:p>
                      <a:pPr algn="ctr"/>
                      <a:r>
                        <a:rPr lang="en-US" altLang="zh-CN" sz="1800">
                          <a:latin typeface="微软雅黑" panose="020B0503020204020204" pitchFamily="34" charset="-122"/>
                        </a:rPr>
                        <a:t>438.56</a:t>
                      </a:r>
                      <a:endParaRPr lang="en-US" altLang="zh-CN" sz="1800">
                        <a:latin typeface="微软雅黑" panose="020B0503020204020204" pitchFamily="34" charset="-122"/>
                      </a:endParaRPr>
                    </a:p>
                  </a:txBody>
                  <a:tcPr anchor="ctr" anchorCtr="0"/>
                </a:tc>
                <a:tc>
                  <a:txBody>
                    <a:bodyPr/>
                    <a:lstStyle/>
                    <a:p>
                      <a:pPr algn="ctr"/>
                      <a:r>
                        <a:rPr lang="en-US" altLang="zh-CN" sz="1800">
                          <a:latin typeface="微软雅黑" panose="020B0503020204020204" pitchFamily="34" charset="-122"/>
                        </a:rPr>
                        <a:t>0</a:t>
                      </a:r>
                      <a:endParaRPr lang="en-US" altLang="zh-CN" sz="1800">
                        <a:latin typeface="微软雅黑" panose="020B0503020204020204" pitchFamily="34" charset="-122"/>
                      </a:endParaRPr>
                    </a:p>
                  </a:txBody>
                  <a:tcPr anchor="ctr" anchorCtr="0"/>
                </a:tc>
                <a:tc>
                  <a:txBody>
                    <a:bodyPr/>
                    <a:lstStyle/>
                    <a:p>
                      <a:pPr algn="ctr"/>
                      <a:r>
                        <a:rPr lang="en-US" altLang="zh-CN" sz="1800">
                          <a:latin typeface="微软雅黑" panose="020B0503020204020204" pitchFamily="34" charset="-122"/>
                        </a:rPr>
                        <a:t>0</a:t>
                      </a:r>
                      <a:endParaRPr lang="en-US" altLang="zh-CN" sz="1800">
                        <a:latin typeface="微软雅黑" panose="020B0503020204020204" pitchFamily="34" charset="-122"/>
                      </a:endParaRPr>
                    </a:p>
                  </a:txBody>
                  <a:tcPr anchor="ctr" anchorCtr="0"/>
                </a:tc>
              </a:tr>
              <a:tr h="523875">
                <a:tc>
                  <a:txBody>
                    <a:bodyPr/>
                    <a:lstStyle/>
                    <a:p>
                      <a:pPr algn="ctr"/>
                      <a:r>
                        <a:rPr lang="en-US" altLang="zh-CN" sz="1800">
                          <a:latin typeface="微软雅黑" panose="020B0503020204020204" pitchFamily="34" charset="-122"/>
                        </a:rPr>
                        <a:t>HL</a:t>
                      </a:r>
                      <a:endParaRPr lang="en-US" altLang="zh-CN" sz="1800">
                        <a:latin typeface="微软雅黑" panose="020B0503020204020204" pitchFamily="34" charset="-122"/>
                      </a:endParaRPr>
                    </a:p>
                  </a:txBody>
                  <a:tcPr anchor="ctr" anchorCtr="0"/>
                </a:tc>
                <a:tc>
                  <a:txBody>
                    <a:bodyPr/>
                    <a:lstStyle/>
                    <a:p>
                      <a:pPr algn="ctr"/>
                      <a:r>
                        <a:rPr lang="en-US" altLang="zh-CN" sz="1800">
                          <a:latin typeface="微软雅黑" panose="020B0503020204020204" pitchFamily="34" charset="-122"/>
                        </a:rPr>
                        <a:t>expert</a:t>
                      </a:r>
                      <a:endParaRPr lang="en-US" altLang="zh-CN" sz="1800">
                        <a:latin typeface="微软雅黑" panose="020B0503020204020204" pitchFamily="34" charset="-122"/>
                      </a:endParaRPr>
                    </a:p>
                  </a:txBody>
                  <a:tcPr anchor="ctr" anchorCtr="0"/>
                </a:tc>
                <a:tc>
                  <a:txBody>
                    <a:bodyPr/>
                    <a:lstStyle/>
                    <a:p>
                      <a:pPr algn="ctr"/>
                      <a:r>
                        <a:rPr lang="en-US" altLang="zh-CN" sz="1800">
                          <a:latin typeface="微软雅黑" panose="020B0503020204020204" pitchFamily="34" charset="-122"/>
                        </a:rPr>
                        <a:t>-150.4</a:t>
                      </a:r>
                      <a:endParaRPr lang="en-US" altLang="zh-CN" sz="1800">
                        <a:latin typeface="微软雅黑" panose="020B0503020204020204" pitchFamily="34" charset="-122"/>
                      </a:endParaRPr>
                    </a:p>
                  </a:txBody>
                  <a:tcPr anchor="ctr" anchorCtr="0"/>
                </a:tc>
                <a:tc>
                  <a:txBody>
                    <a:bodyPr/>
                    <a:lstStyle/>
                    <a:p>
                      <a:pPr algn="ctr"/>
                      <a:r>
                        <a:rPr lang="en-US" altLang="zh-CN" sz="1800">
                          <a:latin typeface="微软雅黑" panose="020B0503020204020204" pitchFamily="34" charset="-122"/>
                        </a:rPr>
                        <a:t>0</a:t>
                      </a:r>
                      <a:endParaRPr lang="en-US" altLang="zh-CN" sz="1800">
                        <a:latin typeface="微软雅黑" panose="020B0503020204020204" pitchFamily="34" charset="-122"/>
                      </a:endParaRPr>
                    </a:p>
                  </a:txBody>
                  <a:tcPr anchor="ctr" anchorCtr="0"/>
                </a:tc>
                <a:tc>
                  <a:txBody>
                    <a:bodyPr/>
                    <a:lstStyle/>
                    <a:p>
                      <a:pPr algn="ctr"/>
                      <a:r>
                        <a:rPr lang="en-US" altLang="zh-CN" sz="1800">
                          <a:latin typeface="微软雅黑" panose="020B0503020204020204" pitchFamily="34" charset="-122"/>
                        </a:rPr>
                        <a:t>0</a:t>
                      </a:r>
                      <a:endParaRPr lang="en-US" altLang="zh-CN" sz="1800">
                        <a:latin typeface="微软雅黑" panose="020B0503020204020204" pitchFamily="34" charset="-122"/>
                      </a:endParaRPr>
                    </a:p>
                  </a:txBody>
                  <a:tcPr anchor="ctr" anchorCtr="0"/>
                </a:tc>
                <a:tc>
                  <a:txBody>
                    <a:bodyPr/>
                    <a:lstStyle/>
                    <a:p>
                      <a:pPr algn="ctr"/>
                      <a:r>
                        <a:rPr lang="en-US" altLang="zh-CN" sz="1800">
                          <a:latin typeface="微软雅黑" panose="020B0503020204020204" pitchFamily="34" charset="-122"/>
                        </a:rPr>
                        <a:t>6414.69</a:t>
                      </a:r>
                      <a:endParaRPr lang="en-US" altLang="zh-CN" sz="1800">
                        <a:latin typeface="微软雅黑" panose="020B0503020204020204" pitchFamily="34" charset="-122"/>
                      </a:endParaRPr>
                    </a:p>
                  </a:txBody>
                  <a:tcPr anchor="ctr" anchorCtr="0"/>
                </a:tc>
                <a:tc>
                  <a:txBody>
                    <a:bodyPr/>
                    <a:lstStyle/>
                    <a:p>
                      <a:pPr algn="ctr"/>
                      <a:r>
                        <a:rPr lang="en-US" altLang="zh-CN" sz="1800">
                          <a:latin typeface="微软雅黑" panose="020B0503020204020204" pitchFamily="34" charset="-122"/>
                        </a:rPr>
                        <a:t>165</a:t>
                      </a:r>
                      <a:endParaRPr lang="en-US" altLang="zh-CN" sz="1800">
                        <a:latin typeface="微软雅黑" panose="020B0503020204020204" pitchFamily="34" charset="-122"/>
                      </a:endParaRPr>
                    </a:p>
                  </a:txBody>
                  <a:tcPr anchor="ctr" anchorCtr="0"/>
                </a:tc>
                <a:tc>
                  <a:txBody>
                    <a:bodyPr/>
                    <a:lstStyle/>
                    <a:p>
                      <a:pPr algn="ctr"/>
                      <a:r>
                        <a:rPr lang="en-US" altLang="zh-CN" sz="1800">
                          <a:latin typeface="微软雅黑" panose="020B0503020204020204" pitchFamily="34" charset="-122"/>
                        </a:rPr>
                        <a:t>30</a:t>
                      </a:r>
                      <a:endParaRPr lang="en-US" altLang="zh-CN" sz="1800">
                        <a:latin typeface="微软雅黑" panose="020B0503020204020204" pitchFamily="34" charset="-122"/>
                      </a:endParaRPr>
                    </a:p>
                  </a:txBody>
                  <a:tcPr anchor="ctr" anchorCtr="0"/>
                </a:tc>
              </a:tr>
              <a:tr h="523875">
                <a:tc>
                  <a:txBody>
                    <a:bodyPr/>
                    <a:lstStyle/>
                    <a:p>
                      <a:pPr algn="ctr"/>
                      <a:r>
                        <a:rPr lang="en-US" altLang="zh-CN" sz="1800">
                          <a:latin typeface="微软雅黑" panose="020B0503020204020204" pitchFamily="34" charset="-122"/>
                        </a:rPr>
                        <a:t>SY</a:t>
                      </a:r>
                      <a:endParaRPr lang="en-US" altLang="zh-CN" sz="1800">
                        <a:latin typeface="微软雅黑" panose="020B0503020204020204" pitchFamily="34" charset="-122"/>
                      </a:endParaRPr>
                    </a:p>
                  </a:txBody>
                  <a:tcPr anchor="ctr" anchorCtr="0"/>
                </a:tc>
                <a:tc>
                  <a:txBody>
                    <a:bodyPr/>
                    <a:lstStyle/>
                    <a:p>
                      <a:pPr algn="ctr"/>
                      <a:r>
                        <a:rPr lang="en-US" altLang="zh-CN" sz="1800">
                          <a:latin typeface="微软雅黑" panose="020B0503020204020204" pitchFamily="34" charset="-122"/>
                        </a:rPr>
                        <a:t>null</a:t>
                      </a:r>
                      <a:endParaRPr lang="en-US" altLang="zh-CN" sz="1800">
                        <a:latin typeface="微软雅黑" panose="020B0503020204020204" pitchFamily="34" charset="-122"/>
                      </a:endParaRPr>
                    </a:p>
                  </a:txBody>
                  <a:tcPr anchor="ctr" anchorCtr="0"/>
                </a:tc>
                <a:tc>
                  <a:txBody>
                    <a:bodyPr/>
                    <a:lstStyle/>
                    <a:p>
                      <a:pPr algn="ctr"/>
                      <a:r>
                        <a:rPr lang="en-US" altLang="zh-CN" sz="1800">
                          <a:latin typeface="微软雅黑" panose="020B0503020204020204" pitchFamily="34" charset="-122"/>
                        </a:rPr>
                        <a:t>231.3</a:t>
                      </a:r>
                      <a:endParaRPr lang="en-US" altLang="zh-CN" sz="1800">
                        <a:latin typeface="微软雅黑" panose="020B0503020204020204" pitchFamily="34" charset="-122"/>
                      </a:endParaRPr>
                    </a:p>
                  </a:txBody>
                  <a:tcPr anchor="ctr" anchorCtr="0"/>
                </a:tc>
                <a:tc>
                  <a:txBody>
                    <a:bodyPr/>
                    <a:lstStyle/>
                    <a:p>
                      <a:pPr algn="ctr"/>
                      <a:r>
                        <a:rPr lang="en-US" altLang="zh-CN" sz="1800">
                          <a:latin typeface="微软雅黑" panose="020B0503020204020204" pitchFamily="34" charset="-122"/>
                        </a:rPr>
                        <a:t>0</a:t>
                      </a:r>
                      <a:endParaRPr lang="en-US" altLang="zh-CN" sz="1800">
                        <a:latin typeface="微软雅黑" panose="020B0503020204020204" pitchFamily="34" charset="-122"/>
                      </a:endParaRPr>
                    </a:p>
                  </a:txBody>
                  <a:tcPr anchor="ctr" anchorCtr="0"/>
                </a:tc>
                <a:tc>
                  <a:txBody>
                    <a:bodyPr/>
                    <a:lstStyle/>
                    <a:p>
                      <a:pPr algn="ctr"/>
                      <a:r>
                        <a:rPr lang="en-US" altLang="zh-CN" sz="1800">
                          <a:latin typeface="微软雅黑" panose="020B0503020204020204" pitchFamily="34" charset="-122"/>
                        </a:rPr>
                        <a:t>0</a:t>
                      </a:r>
                      <a:endParaRPr lang="en-US" altLang="zh-CN" sz="1800">
                        <a:latin typeface="微软雅黑" panose="020B0503020204020204" pitchFamily="34" charset="-122"/>
                      </a:endParaRPr>
                    </a:p>
                  </a:txBody>
                  <a:tcPr anchor="ctr" anchorCtr="0"/>
                </a:tc>
                <a:tc>
                  <a:txBody>
                    <a:bodyPr/>
                    <a:lstStyle/>
                    <a:p>
                      <a:pPr algn="ctr"/>
                      <a:r>
                        <a:rPr lang="en-US" altLang="zh-CN" sz="1800">
                          <a:latin typeface="微软雅黑" panose="020B0503020204020204" pitchFamily="34" charset="-122"/>
                        </a:rPr>
                        <a:t>3394.86</a:t>
                      </a:r>
                      <a:endParaRPr lang="en-US" altLang="zh-CN" sz="1800">
                        <a:latin typeface="微软雅黑" panose="020B0503020204020204" pitchFamily="34" charset="-122"/>
                      </a:endParaRPr>
                    </a:p>
                  </a:txBody>
                  <a:tcPr anchor="ctr" anchorCtr="0"/>
                </a:tc>
                <a:tc>
                  <a:txBody>
                    <a:bodyPr/>
                    <a:lstStyle/>
                    <a:p>
                      <a:pPr algn="ctr"/>
                      <a:r>
                        <a:rPr lang="en-US" altLang="zh-CN" sz="1800">
                          <a:latin typeface="微软雅黑" panose="020B0503020204020204" pitchFamily="34" charset="-122"/>
                        </a:rPr>
                        <a:t>0</a:t>
                      </a:r>
                      <a:endParaRPr lang="en-US" altLang="zh-CN" sz="1800">
                        <a:latin typeface="微软雅黑" panose="020B0503020204020204" pitchFamily="34" charset="-122"/>
                      </a:endParaRPr>
                    </a:p>
                  </a:txBody>
                  <a:tcPr anchor="ctr" anchorCtr="0"/>
                </a:tc>
                <a:tc>
                  <a:txBody>
                    <a:bodyPr/>
                    <a:lstStyle/>
                    <a:p>
                      <a:pPr algn="ctr"/>
                      <a:r>
                        <a:rPr lang="en-US" altLang="zh-CN" sz="1800">
                          <a:latin typeface="微软雅黑" panose="020B0503020204020204" pitchFamily="34" charset="-122"/>
                        </a:rPr>
                        <a:t>0</a:t>
                      </a:r>
                      <a:endParaRPr lang="en-US" altLang="zh-CN" sz="1800">
                        <a:latin typeface="微软雅黑" panose="020B0503020204020204" pitchFamily="34" charset="-122"/>
                      </a:endParaRPr>
                    </a:p>
                  </a:txBody>
                  <a:tcPr anchor="ctr" anchorCtr="0"/>
                </a:tc>
              </a:tr>
              <a:tr h="523875">
                <a:tc>
                  <a:txBody>
                    <a:bodyPr/>
                    <a:lstStyle/>
                    <a:p>
                      <a:pPr algn="ctr"/>
                      <a:r>
                        <a:rPr lang="en-US" altLang="zh-CN" sz="1800">
                          <a:latin typeface="微软雅黑" panose="020B0503020204020204" pitchFamily="34" charset="-122"/>
                        </a:rPr>
                        <a:t>FQ</a:t>
                      </a:r>
                      <a:endParaRPr lang="en-US" altLang="zh-CN" sz="1800">
                        <a:latin typeface="微软雅黑" panose="020B0503020204020204" pitchFamily="34" charset="-122"/>
                      </a:endParaRPr>
                    </a:p>
                  </a:txBody>
                  <a:tcPr anchor="ctr" anchorCtr="0"/>
                </a:tc>
                <a:tc>
                  <a:txBody>
                    <a:bodyPr/>
                    <a:lstStyle/>
                    <a:p>
                      <a:pPr algn="ctr"/>
                      <a:r>
                        <a:rPr lang="en-US" altLang="zh-CN" sz="1800">
                          <a:latin typeface="微软雅黑" panose="020B0503020204020204" pitchFamily="34" charset="-122"/>
                        </a:rPr>
                        <a:t>null</a:t>
                      </a:r>
                      <a:endParaRPr lang="en-US" altLang="zh-CN" sz="1800">
                        <a:latin typeface="微软雅黑" panose="020B0503020204020204" pitchFamily="34" charset="-122"/>
                      </a:endParaRPr>
                    </a:p>
                  </a:txBody>
                  <a:tcPr anchor="ctr" anchorCtr="0"/>
                </a:tc>
                <a:tc>
                  <a:txBody>
                    <a:bodyPr/>
                    <a:lstStyle/>
                    <a:p>
                      <a:pPr algn="ctr"/>
                      <a:r>
                        <a:rPr lang="en-US" altLang="zh-CN" sz="1800">
                          <a:latin typeface="微软雅黑" panose="020B0503020204020204" pitchFamily="34" charset="-122"/>
                        </a:rPr>
                        <a:t>69.6</a:t>
                      </a:r>
                      <a:endParaRPr lang="en-US" altLang="zh-CN" sz="1800">
                        <a:latin typeface="微软雅黑" panose="020B0503020204020204" pitchFamily="34" charset="-122"/>
                      </a:endParaRPr>
                    </a:p>
                  </a:txBody>
                  <a:tcPr anchor="ctr" anchorCtr="0"/>
                </a:tc>
                <a:tc>
                  <a:txBody>
                    <a:bodyPr/>
                    <a:lstStyle/>
                    <a:p>
                      <a:pPr algn="ctr"/>
                      <a:r>
                        <a:rPr lang="en-US" altLang="zh-CN" sz="1800">
                          <a:latin typeface="微软雅黑" panose="020B0503020204020204" pitchFamily="34" charset="-122"/>
                        </a:rPr>
                        <a:t>0</a:t>
                      </a:r>
                      <a:endParaRPr lang="en-US" altLang="zh-CN" sz="1800">
                        <a:latin typeface="微软雅黑" panose="020B0503020204020204" pitchFamily="34" charset="-122"/>
                      </a:endParaRPr>
                    </a:p>
                  </a:txBody>
                  <a:tcPr anchor="ctr" anchorCtr="0"/>
                </a:tc>
                <a:tc>
                  <a:txBody>
                    <a:bodyPr/>
                    <a:lstStyle/>
                    <a:p>
                      <a:pPr algn="ctr"/>
                      <a:r>
                        <a:rPr lang="en-US" altLang="zh-CN" sz="1800">
                          <a:latin typeface="微软雅黑" panose="020B0503020204020204" pitchFamily="34" charset="-122"/>
                        </a:rPr>
                        <a:t>0</a:t>
                      </a:r>
                      <a:endParaRPr lang="en-US" altLang="zh-CN" sz="1800">
                        <a:latin typeface="微软雅黑" panose="020B0503020204020204" pitchFamily="34" charset="-122"/>
                      </a:endParaRPr>
                    </a:p>
                  </a:txBody>
                  <a:tcPr anchor="ctr" anchorCtr="0"/>
                </a:tc>
                <a:tc>
                  <a:txBody>
                    <a:bodyPr/>
                    <a:lstStyle/>
                    <a:p>
                      <a:pPr algn="ctr"/>
                      <a:r>
                        <a:rPr lang="en-US" altLang="zh-CN" sz="1800">
                          <a:latin typeface="微软雅黑" panose="020B0503020204020204" pitchFamily="34" charset="-122"/>
                        </a:rPr>
                        <a:t>2723.05</a:t>
                      </a:r>
                      <a:endParaRPr lang="en-US" altLang="zh-CN" sz="1800">
                        <a:latin typeface="微软雅黑" panose="020B0503020204020204" pitchFamily="34" charset="-122"/>
                      </a:endParaRPr>
                    </a:p>
                  </a:txBody>
                  <a:tcPr anchor="ctr" anchorCtr="0"/>
                </a:tc>
                <a:tc>
                  <a:txBody>
                    <a:bodyPr/>
                    <a:lstStyle/>
                    <a:p>
                      <a:pPr algn="ctr"/>
                      <a:r>
                        <a:rPr lang="en-US" altLang="zh-CN" sz="1800">
                          <a:latin typeface="微软雅黑" panose="020B0503020204020204" pitchFamily="34" charset="-122"/>
                        </a:rPr>
                        <a:t>0</a:t>
                      </a:r>
                      <a:endParaRPr lang="en-US" altLang="zh-CN" sz="1800">
                        <a:latin typeface="微软雅黑" panose="020B0503020204020204" pitchFamily="34" charset="-122"/>
                      </a:endParaRPr>
                    </a:p>
                  </a:txBody>
                  <a:tcPr anchor="ctr" anchorCtr="0"/>
                </a:tc>
                <a:tc>
                  <a:txBody>
                    <a:bodyPr/>
                    <a:lstStyle/>
                    <a:p>
                      <a:pPr algn="ctr"/>
                      <a:r>
                        <a:rPr lang="en-US" altLang="zh-CN" sz="1800">
                          <a:latin typeface="微软雅黑" panose="020B0503020204020204" pitchFamily="34" charset="-122"/>
                        </a:rPr>
                        <a:t>0</a:t>
                      </a:r>
                      <a:endParaRPr lang="en-US" altLang="zh-CN" sz="1800">
                        <a:latin typeface="微软雅黑" panose="020B0503020204020204" pitchFamily="34" charset="-122"/>
                      </a:endParaRPr>
                    </a:p>
                  </a:txBody>
                  <a:tcPr anchor="ctr" anchorCtr="0"/>
                </a:tc>
              </a:tr>
              <a:tr h="523875">
                <a:tc>
                  <a:txBody>
                    <a:bodyPr/>
                    <a:lstStyle/>
                    <a:p>
                      <a:pPr algn="ctr"/>
                      <a:r>
                        <a:rPr lang="en-US" altLang="zh-CN" sz="1800">
                          <a:latin typeface="微软雅黑" panose="020B0503020204020204" pitchFamily="34" charset="-122"/>
                        </a:rPr>
                        <a:t>FQ</a:t>
                      </a:r>
                      <a:endParaRPr lang="en-US" altLang="zh-CN" sz="1800">
                        <a:latin typeface="微软雅黑" panose="020B0503020204020204" pitchFamily="34" charset="-122"/>
                      </a:endParaRPr>
                    </a:p>
                  </a:txBody>
                  <a:tcPr anchor="ctr" anchorCtr="0"/>
                </a:tc>
                <a:tc>
                  <a:txBody>
                    <a:bodyPr/>
                    <a:lstStyle/>
                    <a:p>
                      <a:pPr algn="ctr"/>
                      <a:r>
                        <a:rPr lang="en-US" altLang="zh-CN" sz="1800">
                          <a:latin typeface="微软雅黑" panose="020B0503020204020204" pitchFamily="34" charset="-122"/>
                        </a:rPr>
                        <a:t>expert</a:t>
                      </a:r>
                      <a:endParaRPr lang="en-US" altLang="zh-CN" sz="1800">
                        <a:latin typeface="微软雅黑" panose="020B0503020204020204" pitchFamily="34" charset="-122"/>
                      </a:endParaRPr>
                    </a:p>
                  </a:txBody>
                  <a:tcPr anchor="ctr" anchorCtr="0"/>
                </a:tc>
                <a:tc>
                  <a:txBody>
                    <a:bodyPr/>
                    <a:lstStyle/>
                    <a:p>
                      <a:pPr algn="ctr"/>
                      <a:r>
                        <a:rPr lang="en-US" altLang="zh-CN" sz="1800">
                          <a:latin typeface="微软雅黑" panose="020B0503020204020204" pitchFamily="34" charset="-122"/>
                        </a:rPr>
                        <a:t>69.6</a:t>
                      </a:r>
                      <a:endParaRPr lang="en-US" altLang="zh-CN" sz="1800">
                        <a:latin typeface="微软雅黑" panose="020B0503020204020204" pitchFamily="34" charset="-122"/>
                      </a:endParaRPr>
                    </a:p>
                  </a:txBody>
                  <a:tcPr anchor="ctr" anchorCtr="0"/>
                </a:tc>
                <a:tc>
                  <a:txBody>
                    <a:bodyPr/>
                    <a:lstStyle/>
                    <a:p>
                      <a:pPr algn="ctr"/>
                      <a:r>
                        <a:rPr lang="en-US" altLang="zh-CN" sz="1800">
                          <a:latin typeface="微软雅黑" panose="020B0503020204020204" pitchFamily="34" charset="-122"/>
                        </a:rPr>
                        <a:t>0</a:t>
                      </a:r>
                      <a:endParaRPr lang="en-US" altLang="zh-CN" sz="1800">
                        <a:latin typeface="微软雅黑" panose="020B0503020204020204" pitchFamily="34" charset="-122"/>
                      </a:endParaRPr>
                    </a:p>
                  </a:txBody>
                  <a:tcPr anchor="ctr" anchorCtr="0"/>
                </a:tc>
                <a:tc>
                  <a:txBody>
                    <a:bodyPr/>
                    <a:lstStyle/>
                    <a:p>
                      <a:pPr algn="ctr"/>
                      <a:r>
                        <a:rPr lang="en-US" altLang="zh-CN" sz="1800">
                          <a:latin typeface="微软雅黑" panose="020B0503020204020204" pitchFamily="34" charset="-122"/>
                        </a:rPr>
                        <a:t>0</a:t>
                      </a:r>
                      <a:endParaRPr lang="en-US" altLang="zh-CN" sz="1800">
                        <a:latin typeface="微软雅黑" panose="020B0503020204020204" pitchFamily="34" charset="-122"/>
                      </a:endParaRPr>
                    </a:p>
                  </a:txBody>
                  <a:tcPr anchor="ctr" anchorCtr="0"/>
                </a:tc>
                <a:tc>
                  <a:txBody>
                    <a:bodyPr/>
                    <a:lstStyle/>
                    <a:p>
                      <a:pPr algn="ctr"/>
                      <a:r>
                        <a:rPr lang="en-US" altLang="zh-CN" sz="1800">
                          <a:latin typeface="微软雅黑" panose="020B0503020204020204" pitchFamily="34" charset="-122"/>
                        </a:rPr>
                        <a:t>7134.93</a:t>
                      </a:r>
                      <a:endParaRPr lang="en-US" altLang="zh-CN" sz="1800">
                        <a:latin typeface="微软雅黑" panose="020B0503020204020204" pitchFamily="34" charset="-122"/>
                      </a:endParaRPr>
                    </a:p>
                  </a:txBody>
                  <a:tcPr anchor="ctr" anchorCtr="0"/>
                </a:tc>
                <a:tc>
                  <a:txBody>
                    <a:bodyPr/>
                    <a:lstStyle/>
                    <a:p>
                      <a:pPr algn="ctr"/>
                      <a:r>
                        <a:rPr lang="en-US" altLang="zh-CN" sz="1800">
                          <a:latin typeface="微软雅黑" panose="020B0503020204020204" pitchFamily="34" charset="-122"/>
                        </a:rPr>
                        <a:t>165</a:t>
                      </a:r>
                      <a:endParaRPr lang="en-US" altLang="zh-CN" sz="1800">
                        <a:latin typeface="微软雅黑" panose="020B0503020204020204" pitchFamily="34" charset="-122"/>
                      </a:endParaRPr>
                    </a:p>
                  </a:txBody>
                  <a:tcPr anchor="ctr" anchorCtr="0"/>
                </a:tc>
                <a:tc>
                  <a:txBody>
                    <a:bodyPr/>
                    <a:lstStyle/>
                    <a:p>
                      <a:pPr algn="ctr"/>
                      <a:r>
                        <a:rPr lang="en-US" altLang="zh-CN" sz="1800">
                          <a:latin typeface="微软雅黑" panose="020B0503020204020204" pitchFamily="34" charset="-122"/>
                        </a:rPr>
                        <a:t>30</a:t>
                      </a:r>
                      <a:endParaRPr lang="en-US" altLang="zh-CN" sz="1800">
                        <a:latin typeface="微软雅黑" panose="020B0503020204020204" pitchFamily="34" charset="-122"/>
                      </a:endParaRPr>
                    </a:p>
                  </a:txBody>
                  <a:tcPr anchor="ctr" anchorCtr="0"/>
                </a:tc>
              </a:tr>
              <a:tr h="523875">
                <a:tc>
                  <a:txBody>
                    <a:bodyPr/>
                    <a:lstStyle/>
                    <a:p>
                      <a:pPr algn="ctr"/>
                      <a:r>
                        <a:rPr lang="en-US" altLang="zh-CN" sz="1800">
                          <a:latin typeface="微软雅黑" panose="020B0503020204020204" pitchFamily="34" charset="-122"/>
                        </a:rPr>
                        <a:t>YC</a:t>
                      </a:r>
                      <a:endParaRPr lang="en-US" altLang="zh-CN" sz="1800">
                        <a:latin typeface="微软雅黑" panose="020B0503020204020204" pitchFamily="34" charset="-122"/>
                      </a:endParaRPr>
                    </a:p>
                  </a:txBody>
                  <a:tcPr anchor="ctr" anchorCtr="0"/>
                </a:tc>
                <a:tc>
                  <a:txBody>
                    <a:bodyPr/>
                    <a:lstStyle/>
                    <a:p>
                      <a:pPr algn="ctr"/>
                      <a:r>
                        <a:rPr lang="en-US" altLang="zh-CN" sz="1800">
                          <a:latin typeface="微软雅黑" panose="020B0503020204020204" pitchFamily="34" charset="-122"/>
                        </a:rPr>
                        <a:t>null</a:t>
                      </a:r>
                      <a:endParaRPr lang="en-US" altLang="zh-CN" sz="1800">
                        <a:latin typeface="微软雅黑" panose="020B0503020204020204" pitchFamily="34" charset="-122"/>
                      </a:endParaRPr>
                    </a:p>
                  </a:txBody>
                  <a:tcPr anchor="ctr" anchorCtr="0"/>
                </a:tc>
                <a:tc>
                  <a:txBody>
                    <a:bodyPr/>
                    <a:lstStyle/>
                    <a:p>
                      <a:pPr algn="ctr"/>
                      <a:r>
                        <a:rPr lang="en-US" altLang="zh-CN" sz="1800">
                          <a:latin typeface="微软雅黑" panose="020B0503020204020204" pitchFamily="34" charset="-122"/>
                        </a:rPr>
                        <a:t>7.1</a:t>
                      </a:r>
                      <a:endParaRPr lang="en-US" altLang="zh-CN" sz="1800">
                        <a:latin typeface="微软雅黑" panose="020B0503020204020204" pitchFamily="34" charset="-122"/>
                      </a:endParaRPr>
                    </a:p>
                  </a:txBody>
                  <a:tcPr anchor="ctr" anchorCtr="0"/>
                </a:tc>
                <a:tc>
                  <a:txBody>
                    <a:bodyPr/>
                    <a:lstStyle/>
                    <a:p>
                      <a:pPr algn="ctr"/>
                      <a:r>
                        <a:rPr lang="en-US" altLang="zh-CN" sz="1800">
                          <a:latin typeface="微软雅黑" panose="020B0503020204020204" pitchFamily="34" charset="-122"/>
                        </a:rPr>
                        <a:t>0</a:t>
                      </a:r>
                      <a:endParaRPr lang="en-US" altLang="zh-CN" sz="1800">
                        <a:latin typeface="微软雅黑" panose="020B0503020204020204" pitchFamily="34" charset="-122"/>
                      </a:endParaRPr>
                    </a:p>
                  </a:txBody>
                  <a:tcPr anchor="ctr" anchorCtr="0"/>
                </a:tc>
                <a:tc>
                  <a:txBody>
                    <a:bodyPr/>
                    <a:lstStyle/>
                    <a:p>
                      <a:pPr algn="ctr"/>
                      <a:r>
                        <a:rPr lang="en-US" altLang="zh-CN" sz="1800">
                          <a:latin typeface="微软雅黑" panose="020B0503020204020204" pitchFamily="34" charset="-122"/>
                        </a:rPr>
                        <a:t>0</a:t>
                      </a:r>
                      <a:endParaRPr lang="en-US" altLang="zh-CN" sz="1800">
                        <a:latin typeface="微软雅黑" panose="020B0503020204020204" pitchFamily="34" charset="-122"/>
                      </a:endParaRPr>
                    </a:p>
                  </a:txBody>
                  <a:tcPr anchor="ctr" anchorCtr="0"/>
                </a:tc>
                <a:tc>
                  <a:txBody>
                    <a:bodyPr/>
                    <a:lstStyle/>
                    <a:p>
                      <a:pPr algn="ctr"/>
                      <a:r>
                        <a:rPr lang="en-US" altLang="zh-CN" sz="1800">
                          <a:latin typeface="微软雅黑" panose="020B0503020204020204" pitchFamily="34" charset="-122"/>
                        </a:rPr>
                        <a:t>1451.2</a:t>
                      </a:r>
                      <a:endParaRPr lang="en-US" altLang="zh-CN" sz="1800">
                        <a:latin typeface="微软雅黑" panose="020B0503020204020204" pitchFamily="34" charset="-122"/>
                      </a:endParaRPr>
                    </a:p>
                  </a:txBody>
                  <a:tcPr anchor="ctr" anchorCtr="0"/>
                </a:tc>
                <a:tc>
                  <a:txBody>
                    <a:bodyPr/>
                    <a:lstStyle/>
                    <a:p>
                      <a:pPr algn="ctr"/>
                      <a:r>
                        <a:rPr lang="en-US" altLang="zh-CN" sz="1800">
                          <a:latin typeface="微软雅黑" panose="020B0503020204020204" pitchFamily="34" charset="-122"/>
                        </a:rPr>
                        <a:t>0</a:t>
                      </a:r>
                      <a:endParaRPr lang="en-US" altLang="zh-CN" sz="1800">
                        <a:latin typeface="微软雅黑" panose="020B0503020204020204" pitchFamily="34" charset="-122"/>
                      </a:endParaRPr>
                    </a:p>
                  </a:txBody>
                  <a:tcPr anchor="ctr" anchorCtr="0"/>
                </a:tc>
                <a:tc>
                  <a:txBody>
                    <a:bodyPr/>
                    <a:lstStyle/>
                    <a:p>
                      <a:pPr algn="ctr"/>
                      <a:r>
                        <a:rPr lang="en-US" altLang="zh-CN" sz="1800">
                          <a:latin typeface="微软雅黑" panose="020B0503020204020204" pitchFamily="34" charset="-122"/>
                        </a:rPr>
                        <a:t>0</a:t>
                      </a:r>
                      <a:endParaRPr lang="en-US" altLang="zh-CN" sz="1800">
                        <a:latin typeface="微软雅黑" panose="020B0503020204020204" pitchFamily="34" charset="-122"/>
                      </a:endParaRPr>
                    </a:p>
                  </a:txBody>
                  <a:tcPr anchor="ctr" anchorCtr="0"/>
                </a:tc>
              </a:tr>
              <a:tr h="523875">
                <a:tc>
                  <a:txBody>
                    <a:bodyPr/>
                    <a:lstStyle/>
                    <a:p>
                      <a:pPr algn="ctr"/>
                      <a:r>
                        <a:rPr lang="en-US" altLang="zh-CN" sz="1800">
                          <a:latin typeface="微软雅黑" panose="020B0503020204020204" pitchFamily="34" charset="-122"/>
                        </a:rPr>
                        <a:t>YC</a:t>
                      </a:r>
                      <a:endParaRPr lang="en-US" altLang="zh-CN" sz="1800">
                        <a:latin typeface="微软雅黑" panose="020B0503020204020204" pitchFamily="34" charset="-122"/>
                      </a:endParaRPr>
                    </a:p>
                  </a:txBody>
                  <a:tcPr anchor="ctr" anchorCtr="0"/>
                </a:tc>
                <a:tc>
                  <a:txBody>
                    <a:bodyPr/>
                    <a:lstStyle/>
                    <a:p>
                      <a:pPr algn="ctr"/>
                      <a:r>
                        <a:rPr lang="en-US" altLang="zh-CN" sz="1800">
                          <a:latin typeface="微软雅黑" panose="020B0503020204020204" pitchFamily="34" charset="-122"/>
                        </a:rPr>
                        <a:t>expert</a:t>
                      </a:r>
                      <a:endParaRPr lang="en-US" altLang="zh-CN" sz="1800">
                        <a:latin typeface="微软雅黑" panose="020B0503020204020204" pitchFamily="34" charset="-122"/>
                      </a:endParaRPr>
                    </a:p>
                  </a:txBody>
                  <a:tcPr anchor="ctr" anchorCtr="0"/>
                </a:tc>
                <a:tc>
                  <a:txBody>
                    <a:bodyPr/>
                    <a:lstStyle/>
                    <a:p>
                      <a:pPr algn="ctr"/>
                      <a:r>
                        <a:rPr lang="en-US" altLang="zh-CN" sz="1800">
                          <a:latin typeface="微软雅黑" panose="020B0503020204020204" pitchFamily="34" charset="-122"/>
                        </a:rPr>
                        <a:t>7.1</a:t>
                      </a:r>
                      <a:endParaRPr lang="en-US" altLang="zh-CN" sz="1800">
                        <a:latin typeface="微软雅黑" panose="020B0503020204020204" pitchFamily="34" charset="-122"/>
                      </a:endParaRPr>
                    </a:p>
                  </a:txBody>
                  <a:tcPr anchor="ctr" anchorCtr="0"/>
                </a:tc>
                <a:tc>
                  <a:txBody>
                    <a:bodyPr/>
                    <a:lstStyle/>
                    <a:p>
                      <a:pPr algn="ctr"/>
                      <a:r>
                        <a:rPr lang="en-US" altLang="zh-CN" sz="1800">
                          <a:latin typeface="微软雅黑" panose="020B0503020204020204" pitchFamily="34" charset="-122"/>
                        </a:rPr>
                        <a:t>0</a:t>
                      </a:r>
                      <a:endParaRPr lang="en-US" altLang="zh-CN" sz="1800">
                        <a:latin typeface="微软雅黑" panose="020B0503020204020204" pitchFamily="34" charset="-122"/>
                      </a:endParaRPr>
                    </a:p>
                  </a:txBody>
                  <a:tcPr anchor="ctr" anchorCtr="0"/>
                </a:tc>
                <a:tc>
                  <a:txBody>
                    <a:bodyPr/>
                    <a:lstStyle/>
                    <a:p>
                      <a:pPr algn="ctr"/>
                      <a:r>
                        <a:rPr lang="en-US" altLang="zh-CN" sz="1800">
                          <a:latin typeface="微软雅黑" panose="020B0503020204020204" pitchFamily="34" charset="-122"/>
                        </a:rPr>
                        <a:t>0</a:t>
                      </a:r>
                      <a:endParaRPr lang="en-US" altLang="zh-CN" sz="1800">
                        <a:latin typeface="微软雅黑" panose="020B0503020204020204" pitchFamily="34" charset="-122"/>
                      </a:endParaRPr>
                    </a:p>
                  </a:txBody>
                  <a:tcPr anchor="ctr" anchorCtr="0"/>
                </a:tc>
                <a:tc>
                  <a:txBody>
                    <a:bodyPr/>
                    <a:lstStyle/>
                    <a:p>
                      <a:pPr algn="ctr"/>
                      <a:r>
                        <a:rPr lang="en-US" altLang="zh-CN" sz="1800">
                          <a:latin typeface="微软雅黑" panose="020B0503020204020204" pitchFamily="34" charset="-122"/>
                        </a:rPr>
                        <a:t>7581.78</a:t>
                      </a:r>
                      <a:endParaRPr lang="en-US" altLang="zh-CN" sz="1800">
                        <a:latin typeface="微软雅黑" panose="020B0503020204020204" pitchFamily="34" charset="-122"/>
                      </a:endParaRPr>
                    </a:p>
                  </a:txBody>
                  <a:tcPr anchor="ctr" anchorCtr="0"/>
                </a:tc>
                <a:tc>
                  <a:txBody>
                    <a:bodyPr/>
                    <a:lstStyle/>
                    <a:p>
                      <a:pPr algn="ctr"/>
                      <a:r>
                        <a:rPr lang="en-US" altLang="zh-CN" sz="1800">
                          <a:latin typeface="微软雅黑" panose="020B0503020204020204" pitchFamily="34" charset="-122"/>
                        </a:rPr>
                        <a:t>165</a:t>
                      </a:r>
                      <a:endParaRPr lang="en-US" altLang="zh-CN" sz="1800">
                        <a:latin typeface="微软雅黑" panose="020B0503020204020204" pitchFamily="34" charset="-122"/>
                      </a:endParaRPr>
                    </a:p>
                  </a:txBody>
                  <a:tcPr anchor="ctr" anchorCtr="0"/>
                </a:tc>
                <a:tc>
                  <a:txBody>
                    <a:bodyPr/>
                    <a:lstStyle/>
                    <a:p>
                      <a:pPr algn="ctr"/>
                      <a:r>
                        <a:rPr lang="en-US" altLang="zh-CN" sz="1800">
                          <a:latin typeface="微软雅黑" panose="020B0503020204020204" pitchFamily="34" charset="-122"/>
                        </a:rPr>
                        <a:t>30</a:t>
                      </a:r>
                      <a:endParaRPr lang="en-US" altLang="zh-CN" sz="1800">
                        <a:latin typeface="微软雅黑" panose="020B0503020204020204" pitchFamily="34" charset="-122"/>
                      </a:endParaRPr>
                    </a:p>
                  </a:txBody>
                  <a:tcPr anchor="ctr" anchorCtr="0"/>
                </a:tc>
              </a:tr>
            </a:tbl>
          </a:graphicData>
        </a:graphic>
      </p:graphicFrame>
      <p:sp>
        <p:nvSpPr>
          <p:cNvPr id="4" name="文本框 3"/>
          <p:cNvSpPr txBox="1"/>
          <p:nvPr/>
        </p:nvSpPr>
        <p:spPr>
          <a:xfrm>
            <a:off x="635000" y="5778500"/>
            <a:ext cx="10795000" cy="276999"/>
          </a:xfrm>
          <a:prstGeom prst="rect">
            <a:avLst/>
          </a:prstGeom>
          <a:noFill/>
        </p:spPr>
        <p:txBody>
          <a:bodyPr vert="horz" wrap="square" rtlCol="0">
            <a:spAutoFit/>
          </a:bodyPr>
          <a:lstStyle/>
          <a:p>
            <a:r>
              <a:rPr lang="zh-CN" altLang="en-US" sz="1200">
                <a:latin typeface="微软雅黑" panose="020B0503020204020204" pitchFamily="34" charset="-122"/>
              </a:rPr>
              <a:t>说明：当前 </a:t>
            </a:r>
            <a:r>
              <a:rPr lang="en-US" altLang="zh-CN" sz="1200">
                <a:latin typeface="微软雅黑" panose="020B0503020204020204" pitchFamily="34" charset="-122"/>
              </a:rPr>
              <a:t>maize all </a:t>
            </a:r>
            <a:r>
              <a:rPr lang="zh-CN" altLang="en-US" sz="1200">
                <a:latin typeface="微软雅黑" panose="020B0503020204020204" pitchFamily="34" charset="-122"/>
              </a:rPr>
              <a:t>模式中 </a:t>
            </a:r>
            <a:r>
              <a:rPr lang="en-US" altLang="zh-CN" sz="1200">
                <a:latin typeface="微软雅黑" panose="020B0503020204020204" pitchFamily="34" charset="-122"/>
              </a:rPr>
              <a:t>swfac/nstres </a:t>
            </a:r>
            <a:r>
              <a:rPr lang="zh-CN" altLang="en-US" sz="1200">
                <a:latin typeface="微软雅黑" panose="020B0503020204020204" pitchFamily="34" charset="-122"/>
              </a:rPr>
              <a:t>已按 </a:t>
            </a:r>
            <a:r>
              <a:rPr lang="en-US" altLang="zh-CN" sz="1200">
                <a:latin typeface="微软雅黑" panose="020B0503020204020204" pitchFamily="34" charset="-122"/>
              </a:rPr>
              <a:t>1-</a:t>
            </a:r>
            <a:r>
              <a:rPr lang="zh-CN" altLang="en-US" sz="1200">
                <a:latin typeface="微软雅黑" panose="020B0503020204020204" pitchFamily="34" charset="-122"/>
              </a:rPr>
              <a:t>原值处理，数值越大代表胁迫越强；</a:t>
            </a:r>
            <a:r>
              <a:rPr lang="en-US" altLang="zh-CN" sz="1200">
                <a:latin typeface="微软雅黑" panose="020B0503020204020204" pitchFamily="34" charset="-122"/>
              </a:rPr>
              <a:t>turfac </a:t>
            </a:r>
            <a:r>
              <a:rPr lang="zh-CN" altLang="en-US" sz="1200">
                <a:latin typeface="微软雅黑" panose="020B0503020204020204" pitchFamily="34" charset="-122"/>
              </a:rPr>
              <a:t>暂未安全暴露。</a:t>
            </a:r>
            <a:endParaRPr lang="zh-CN" altLang="en-US" sz="1200">
              <a:latin typeface="微软雅黑" panose="020B0503020204020204" pitchFamily="3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82600" y="279400"/>
            <a:ext cx="11176000" cy="477054"/>
          </a:xfrm>
          <a:prstGeom prst="rect">
            <a:avLst/>
          </a:prstGeom>
          <a:noFill/>
        </p:spPr>
        <p:txBody>
          <a:bodyPr vert="horz" wrap="square" rtlCol="0">
            <a:spAutoFit/>
          </a:bodyPr>
          <a:lstStyle/>
          <a:p>
            <a:r>
              <a:rPr lang="zh-CN" altLang="en-US" sz="2500" b="1">
                <a:latin typeface="微软雅黑" panose="020B0503020204020204" pitchFamily="34" charset="-122"/>
              </a:rPr>
              <a:t>论文可写结论</a:t>
            </a:r>
            <a:endParaRPr lang="zh-CN" altLang="en-US" sz="2500" b="1">
              <a:latin typeface="微软雅黑" panose="020B0503020204020204" pitchFamily="34" charset="-122"/>
            </a:endParaRPr>
          </a:p>
        </p:txBody>
      </p:sp>
      <p:sp>
        <p:nvSpPr>
          <p:cNvPr id="3" name="文本框 2"/>
          <p:cNvSpPr txBox="1"/>
          <p:nvPr/>
        </p:nvSpPr>
        <p:spPr>
          <a:xfrm>
            <a:off x="698500" y="1460500"/>
            <a:ext cx="10795000" cy="1246495"/>
          </a:xfrm>
          <a:prstGeom prst="rect">
            <a:avLst/>
          </a:prstGeom>
          <a:noFill/>
        </p:spPr>
        <p:txBody>
          <a:bodyPr vert="horz" wrap="square" rtlCol="0">
            <a:spAutoFit/>
          </a:bodyPr>
          <a:lstStyle/>
          <a:p>
            <a:r>
              <a:rPr lang="en-US" altLang="zh-CN" sz="1500">
                <a:latin typeface="微软雅黑" panose="020B0503020204020204" pitchFamily="34" charset="-122"/>
              </a:rPr>
              <a:t>• </a:t>
            </a:r>
            <a:r>
              <a:rPr lang="zh-CN" altLang="en-US" sz="1500">
                <a:latin typeface="微软雅黑" panose="020B0503020204020204" pitchFamily="34" charset="-122"/>
              </a:rPr>
              <a:t>本研究首先在五个典型站点年份上检验模型对水分与氮素状态的响应。结果表明，当前年份下水分胁迫指标 </a:t>
            </a:r>
            <a:r>
              <a:rPr lang="en-US" altLang="zh-CN" sz="1500">
                <a:latin typeface="微软雅黑" panose="020B0503020204020204" pitchFamily="34" charset="-122"/>
              </a:rPr>
              <a:t>swfac </a:t>
            </a:r>
            <a:r>
              <a:rPr lang="zh-CN" altLang="en-US" sz="1500">
                <a:latin typeface="微软雅黑" panose="020B0503020204020204" pitchFamily="34" charset="-122"/>
              </a:rPr>
              <a:t>基本接近 </a:t>
            </a:r>
            <a:r>
              <a:rPr lang="en-US" altLang="zh-CN" sz="1500">
                <a:latin typeface="微软雅黑" panose="020B0503020204020204" pitchFamily="34" charset="-122"/>
              </a:rPr>
              <a:t>0</a:t>
            </a:r>
            <a:r>
              <a:rPr lang="zh-CN" altLang="en-US" sz="1500">
                <a:latin typeface="微软雅黑" panose="020B0503020204020204" pitchFamily="34" charset="-122"/>
              </a:rPr>
              <a:t>，灌溉收益有限。</a:t>
            </a:r>
            <a:endParaRPr lang="zh-CN" altLang="en-US" sz="1500">
              <a:latin typeface="微软雅黑" panose="020B0503020204020204" pitchFamily="34" charset="-122"/>
            </a:endParaRPr>
          </a:p>
          <a:p>
            <a:r>
              <a:rPr lang="en-US" altLang="zh-CN" sz="1500">
                <a:latin typeface="微软雅黑" panose="020B0503020204020204" pitchFamily="34" charset="-122"/>
              </a:rPr>
              <a:t>• </a:t>
            </a:r>
            <a:r>
              <a:rPr lang="zh-CN" altLang="en-US" sz="1500">
                <a:latin typeface="微软雅黑" panose="020B0503020204020204" pitchFamily="34" charset="-122"/>
              </a:rPr>
              <a:t>相比之下，不施肥或低施肥情景下 </a:t>
            </a:r>
            <a:r>
              <a:rPr lang="en-US" altLang="zh-CN" sz="1500">
                <a:latin typeface="微软雅黑" panose="020B0503020204020204" pitchFamily="34" charset="-122"/>
              </a:rPr>
              <a:t>nstres </a:t>
            </a:r>
            <a:r>
              <a:rPr lang="zh-CN" altLang="en-US" sz="1500">
                <a:latin typeface="微软雅黑" panose="020B0503020204020204" pitchFamily="34" charset="-122"/>
              </a:rPr>
              <a:t>明显升高，说明氮素管理是当前数据中更主要的限制因子。</a:t>
            </a:r>
            <a:endParaRPr lang="zh-CN" altLang="en-US" sz="1500">
              <a:latin typeface="微软雅黑" panose="020B0503020204020204" pitchFamily="34" charset="-122"/>
            </a:endParaRPr>
          </a:p>
          <a:p>
            <a:r>
              <a:rPr lang="en-US" altLang="zh-CN" sz="1500">
                <a:latin typeface="微软雅黑" panose="020B0503020204020204" pitchFamily="34" charset="-122"/>
              </a:rPr>
              <a:t>• </a:t>
            </a:r>
            <a:r>
              <a:rPr lang="zh-CN" altLang="en-US" sz="1500">
                <a:latin typeface="微软雅黑" panose="020B0503020204020204" pitchFamily="34" charset="-122"/>
              </a:rPr>
              <a:t>因此，</a:t>
            </a:r>
            <a:r>
              <a:rPr lang="en-US" altLang="zh-CN" sz="1500">
                <a:latin typeface="微软雅黑" panose="020B0503020204020204" pitchFamily="34" charset="-122"/>
              </a:rPr>
              <a:t>PPO </a:t>
            </a:r>
            <a:r>
              <a:rPr lang="zh-CN" altLang="en-US" sz="1500">
                <a:latin typeface="微软雅黑" panose="020B0503020204020204" pitchFamily="34" charset="-122"/>
              </a:rPr>
              <a:t>在这些年份中倾向降低灌水量是合理的节水响应，而非模型未能学习灌溉；真正的灌溉能力应在干旱年份或构造干旱情景中进一步验证。</a:t>
            </a:r>
            <a:endParaRPr lang="zh-CN" altLang="en-US" sz="1500">
              <a:latin typeface="微软雅黑" panose="020B0503020204020204" pitchFamily="3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82600" y="279400"/>
            <a:ext cx="11176000" cy="477054"/>
          </a:xfrm>
          <a:prstGeom prst="rect">
            <a:avLst/>
          </a:prstGeom>
          <a:noFill/>
        </p:spPr>
        <p:txBody>
          <a:bodyPr vert="horz" wrap="square" rtlCol="0">
            <a:spAutoFit/>
          </a:bodyPr>
          <a:lstStyle/>
          <a:p>
            <a:r>
              <a:rPr lang="zh-CN" altLang="en-US" sz="2500" b="1">
                <a:latin typeface="微软雅黑" panose="020B0503020204020204" pitchFamily="34" charset="-122"/>
              </a:rPr>
              <a:t>后续实验设计</a:t>
            </a:r>
            <a:endParaRPr lang="zh-CN" altLang="en-US" sz="2500" b="1">
              <a:latin typeface="微软雅黑" panose="020B0503020204020204" pitchFamily="34" charset="-122"/>
            </a:endParaRPr>
          </a:p>
        </p:txBody>
      </p:sp>
      <p:sp>
        <p:nvSpPr>
          <p:cNvPr id="3" name="文本框 2"/>
          <p:cNvSpPr txBox="1"/>
          <p:nvPr/>
        </p:nvSpPr>
        <p:spPr>
          <a:xfrm>
            <a:off x="698500" y="1460500"/>
            <a:ext cx="10795000" cy="1015663"/>
          </a:xfrm>
          <a:prstGeom prst="rect">
            <a:avLst/>
          </a:prstGeom>
          <a:noFill/>
        </p:spPr>
        <p:txBody>
          <a:bodyPr vert="horz" wrap="square" rtlCol="0">
            <a:spAutoFit/>
          </a:bodyPr>
          <a:lstStyle/>
          <a:p>
            <a:r>
              <a:rPr lang="en-US" altLang="zh-CN" sz="1500">
                <a:latin typeface="微软雅黑" panose="020B0503020204020204" pitchFamily="34" charset="-122"/>
              </a:rPr>
              <a:t>• </a:t>
            </a:r>
            <a:r>
              <a:rPr lang="zh-CN" altLang="en-US" sz="1500">
                <a:latin typeface="微软雅黑" panose="020B0503020204020204" pitchFamily="34" charset="-122"/>
              </a:rPr>
              <a:t>真实数据路线：继续搜集干旱年份 </a:t>
            </a:r>
            <a:r>
              <a:rPr lang="en-US" altLang="zh-CN" sz="1500">
                <a:latin typeface="微软雅黑" panose="020B0503020204020204" pitchFamily="34" charset="-122"/>
              </a:rPr>
              <a:t>WTH</a:t>
            </a:r>
            <a:r>
              <a:rPr lang="zh-CN" altLang="en-US" sz="1500">
                <a:latin typeface="微软雅黑" panose="020B0503020204020204" pitchFamily="34" charset="-122"/>
              </a:rPr>
              <a:t>，优先选择 </a:t>
            </a:r>
            <a:r>
              <a:rPr lang="en-US" altLang="zh-CN" sz="1500">
                <a:latin typeface="微软雅黑" panose="020B0503020204020204" pitchFamily="34" charset="-122"/>
              </a:rPr>
              <a:t>PRCP </a:t>
            </a:r>
            <a:r>
              <a:rPr lang="zh-CN" altLang="en-US" sz="1500">
                <a:latin typeface="微软雅黑" panose="020B0503020204020204" pitchFamily="34" charset="-122"/>
              </a:rPr>
              <a:t>显著低于 </a:t>
            </a:r>
            <a:r>
              <a:rPr lang="en-US" altLang="zh-CN" sz="1500">
                <a:latin typeface="微软雅黑" panose="020B0503020204020204" pitchFamily="34" charset="-122"/>
              </a:rPr>
              <a:t>ETCP </a:t>
            </a:r>
            <a:r>
              <a:rPr lang="zh-CN" altLang="en-US" sz="1500">
                <a:latin typeface="微软雅黑" panose="020B0503020204020204" pitchFamily="34" charset="-122"/>
              </a:rPr>
              <a:t>且关键生育期降雨不足的站点年份。</a:t>
            </a:r>
            <a:endParaRPr lang="zh-CN" altLang="en-US" sz="1500">
              <a:latin typeface="微软雅黑" panose="020B0503020204020204" pitchFamily="34" charset="-122"/>
            </a:endParaRPr>
          </a:p>
          <a:p>
            <a:r>
              <a:rPr lang="en-US" altLang="zh-CN" sz="1500">
                <a:latin typeface="微软雅黑" panose="020B0503020204020204" pitchFamily="34" charset="-122"/>
              </a:rPr>
              <a:t>• </a:t>
            </a:r>
            <a:r>
              <a:rPr lang="zh-CN" altLang="en-US" sz="1500">
                <a:latin typeface="微软雅黑" panose="020B0503020204020204" pitchFamily="34" charset="-122"/>
              </a:rPr>
              <a:t>调试路线：在原始 </a:t>
            </a:r>
            <a:r>
              <a:rPr lang="en-US" altLang="zh-CN" sz="1500">
                <a:latin typeface="微软雅黑" panose="020B0503020204020204" pitchFamily="34" charset="-122"/>
              </a:rPr>
              <a:t>WTH </a:t>
            </a:r>
            <a:r>
              <a:rPr lang="zh-CN" altLang="en-US" sz="1500">
                <a:latin typeface="微软雅黑" panose="020B0503020204020204" pitchFamily="34" charset="-122"/>
              </a:rPr>
              <a:t>基础上构造降雨缩放情景，例如 </a:t>
            </a:r>
            <a:r>
              <a:rPr lang="en-US" altLang="zh-CN" sz="1500">
                <a:latin typeface="微软雅黑" panose="020B0503020204020204" pitchFamily="34" charset="-122"/>
              </a:rPr>
              <a:t>80%</a:t>
            </a:r>
            <a:r>
              <a:rPr lang="zh-CN" altLang="en-US" sz="1500">
                <a:latin typeface="微软雅黑" panose="020B0503020204020204" pitchFamily="34" charset="-122"/>
              </a:rPr>
              <a:t>、</a:t>
            </a:r>
            <a:r>
              <a:rPr lang="en-US" altLang="zh-CN" sz="1500">
                <a:latin typeface="微软雅黑" panose="020B0503020204020204" pitchFamily="34" charset="-122"/>
              </a:rPr>
              <a:t>60%</a:t>
            </a:r>
            <a:r>
              <a:rPr lang="zh-CN" altLang="en-US" sz="1500">
                <a:latin typeface="微软雅黑" panose="020B0503020204020204" pitchFamily="34" charset="-122"/>
              </a:rPr>
              <a:t>、</a:t>
            </a:r>
            <a:r>
              <a:rPr lang="en-US" altLang="zh-CN" sz="1500">
                <a:latin typeface="微软雅黑" panose="020B0503020204020204" pitchFamily="34" charset="-122"/>
              </a:rPr>
              <a:t>40% </a:t>
            </a:r>
            <a:r>
              <a:rPr lang="zh-CN" altLang="en-US" sz="1500">
                <a:latin typeface="微软雅黑" panose="020B0503020204020204" pitchFamily="34" charset="-122"/>
              </a:rPr>
              <a:t>降雨，用于验证 </a:t>
            </a:r>
            <a:r>
              <a:rPr lang="en-US" altLang="zh-CN" sz="1500">
                <a:latin typeface="微软雅黑" panose="020B0503020204020204" pitchFamily="34" charset="-122"/>
              </a:rPr>
              <a:t>all </a:t>
            </a:r>
            <a:r>
              <a:rPr lang="zh-CN" altLang="en-US" sz="1500">
                <a:latin typeface="微软雅黑" panose="020B0503020204020204" pitchFamily="34" charset="-122"/>
              </a:rPr>
              <a:t>模式是否在水分胁迫增强时主动灌溉。</a:t>
            </a:r>
            <a:endParaRPr lang="zh-CN" altLang="en-US" sz="1500">
              <a:latin typeface="微软雅黑" panose="020B0503020204020204" pitchFamily="34" charset="-122"/>
            </a:endParaRPr>
          </a:p>
          <a:p>
            <a:r>
              <a:rPr lang="en-US" altLang="zh-CN" sz="1500">
                <a:latin typeface="微软雅黑" panose="020B0503020204020204" pitchFamily="34" charset="-122"/>
              </a:rPr>
              <a:t>• </a:t>
            </a:r>
            <a:r>
              <a:rPr lang="zh-CN" altLang="en-US" sz="1500">
                <a:latin typeface="微软雅黑" panose="020B0503020204020204" pitchFamily="34" charset="-122"/>
              </a:rPr>
              <a:t>论文表述：历史天气可作为完美预报输入；后续可将未来 </a:t>
            </a:r>
            <a:r>
              <a:rPr lang="en-US" altLang="zh-CN" sz="1500">
                <a:latin typeface="微软雅黑" panose="020B0503020204020204" pitchFamily="34" charset="-122"/>
              </a:rPr>
              <a:t>3/7/14 </a:t>
            </a:r>
            <a:r>
              <a:rPr lang="zh-CN" altLang="en-US" sz="1500">
                <a:latin typeface="微软雅黑" panose="020B0503020204020204" pitchFamily="34" charset="-122"/>
              </a:rPr>
              <a:t>天降雨、温度、辐射统计接入 </a:t>
            </a:r>
            <a:r>
              <a:rPr lang="en-US" altLang="zh-CN" sz="1500">
                <a:latin typeface="微软雅黑" panose="020B0503020204020204" pitchFamily="34" charset="-122"/>
              </a:rPr>
              <a:t>observation</a:t>
            </a:r>
            <a:r>
              <a:rPr lang="zh-CN" altLang="en-US" sz="1500">
                <a:latin typeface="微软雅黑" panose="020B0503020204020204" pitchFamily="34" charset="-122"/>
              </a:rPr>
              <a:t>。</a:t>
            </a:r>
            <a:endParaRPr lang="zh-CN" altLang="en-US" sz="1500">
              <a:latin typeface="微软雅黑" panose="020B0503020204020204" pitchFamily="34" charset="-122"/>
            </a:endParaRP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874</Words>
  <Application>WPS 演示</Application>
  <PresentationFormat>宽屏</PresentationFormat>
  <Paragraphs>152</Paragraphs>
  <Slides>4</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4</vt:i4>
      </vt:variant>
    </vt:vector>
  </HeadingPairs>
  <TitlesOfParts>
    <vt:vector size="13" baseType="lpstr">
      <vt:lpstr>Arial</vt:lpstr>
      <vt:lpstr>宋体</vt:lpstr>
      <vt:lpstr>Wingdings</vt:lpstr>
      <vt:lpstr>微软雅黑</vt:lpstr>
      <vt:lpstr>等线</vt:lpstr>
      <vt:lpstr>Arial Unicode MS</vt:lpstr>
      <vt:lpstr>等线 Light</vt:lpstr>
      <vt:lpstr>Calibri</vt:lpstr>
      <vt:lpstr>Office 主题​​</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雨秋 杜</dc:creator>
  <cp:lastModifiedBy>网美目目分</cp:lastModifiedBy>
  <cp:revision>3</cp:revision>
  <dcterms:created xsi:type="dcterms:W3CDTF">2026-06-01T13:21:00Z</dcterms:created>
  <dcterms:modified xsi:type="dcterms:W3CDTF">2026-06-01T13:37:29Z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6E94062695D34E87AE2388A8D9D8BBC0_12</vt:lpwstr>
  </property>
  <property fmtid="{D5CDD505-2E9C-101B-9397-08002B2CF9AE}" pid="3" name="KSOProductBuildVer">
    <vt:lpwstr>2052-12.1.0.26375</vt:lpwstr>
  </property>
</Properties>
</file>