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0" d="100"/>
          <a:sy n="30" d="100"/>
        </p:scale>
        <p:origin x="336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E520C-B6F2-45E7-A9A1-41917738A6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4501A-A5B1-4550-9F5A-DE6124B04E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E520C-B6F2-45E7-A9A1-41917738A6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4501A-A5B1-4550-9F5A-DE6124B04E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E520C-B6F2-45E7-A9A1-41917738A6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4501A-A5B1-4550-9F5A-DE6124B04E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E520C-B6F2-45E7-A9A1-41917738A6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4501A-A5B1-4550-9F5A-DE6124B04E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E520C-B6F2-45E7-A9A1-41917738A6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4501A-A5B1-4550-9F5A-DE6124B04E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E520C-B6F2-45E7-A9A1-41917738A6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4501A-A5B1-4550-9F5A-DE6124B04E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E520C-B6F2-45E7-A9A1-41917738A6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4501A-A5B1-4550-9F5A-DE6124B04E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E520C-B6F2-45E7-A9A1-41917738A6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4501A-A5B1-4550-9F5A-DE6124B04E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E520C-B6F2-45E7-A9A1-41917738A6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4501A-A5B1-4550-9F5A-DE6124B04E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E520C-B6F2-45E7-A9A1-41917738A6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4501A-A5B1-4550-9F5A-DE6124B04E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E520C-B6F2-45E7-A9A1-41917738A6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4501A-A5B1-4550-9F5A-DE6124B04E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2E520C-B6F2-45E7-A9A1-41917738A6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74501A-A5B1-4550-9F5A-DE6124B04E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82600" y="279400"/>
            <a:ext cx="11176000" cy="4770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500" b="1">
                <a:latin typeface="微软雅黑" panose="020B0503020204020204" pitchFamily="34" charset="-122"/>
              </a:rPr>
              <a:t>水氮管理优化试验记录</a:t>
            </a:r>
            <a:endParaRPr lang="zh-CN" altLang="en-US" sz="2500" b="1">
              <a:latin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08000" y="863600"/>
            <a:ext cx="10922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>
                <a:latin typeface="微软雅黑" panose="020B0503020204020204" pitchFamily="34" charset="-122"/>
              </a:rPr>
              <a:t>DSSAT-PDI + PPO</a:t>
            </a:r>
            <a:r>
              <a:rPr lang="zh-CN" altLang="en-US" sz="1100">
                <a:latin typeface="微软雅黑" panose="020B0503020204020204" pitchFamily="34" charset="-122"/>
              </a:rPr>
              <a:t>；施肥 </a:t>
            </a:r>
            <a:r>
              <a:rPr lang="en-US" altLang="zh-CN" sz="1100">
                <a:latin typeface="微软雅黑" panose="020B0503020204020204" pitchFamily="34" charset="-122"/>
              </a:rPr>
              <a:t>reward </a:t>
            </a:r>
            <a:r>
              <a:rPr lang="zh-CN" altLang="en-US" sz="1100">
                <a:latin typeface="微软雅黑" panose="020B0503020204020204" pitchFamily="34" charset="-122"/>
              </a:rPr>
              <a:t>参数扫描、</a:t>
            </a:r>
            <a:r>
              <a:rPr lang="en-US" altLang="zh-CN" sz="1100">
                <a:latin typeface="微软雅黑" panose="020B0503020204020204" pitchFamily="34" charset="-122"/>
              </a:rPr>
              <a:t>all </a:t>
            </a:r>
            <a:r>
              <a:rPr lang="zh-CN" altLang="en-US" sz="1100">
                <a:latin typeface="微软雅黑" panose="020B0503020204020204" pitchFamily="34" charset="-122"/>
              </a:rPr>
              <a:t>模式、水分诊断路线</a:t>
            </a:r>
            <a:endParaRPr lang="zh-CN" altLang="en-US" sz="1100">
              <a:latin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98500" y="1587500"/>
            <a:ext cx="10414000" cy="113877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700">
                <a:latin typeface="微软雅黑" panose="020B0503020204020204" pitchFamily="34" charset="-122"/>
              </a:rPr>
              <a:t>• </a:t>
            </a:r>
            <a:r>
              <a:rPr lang="zh-CN" altLang="en-US" sz="1700">
                <a:latin typeface="微软雅黑" panose="020B0503020204020204" pitchFamily="34" charset="-122"/>
              </a:rPr>
              <a:t>目标：选择高 </a:t>
            </a:r>
            <a:r>
              <a:rPr lang="en-US" altLang="zh-CN" sz="1700">
                <a:latin typeface="微软雅黑" panose="020B0503020204020204" pitchFamily="34" charset="-122"/>
              </a:rPr>
              <a:t>TRNU</a:t>
            </a:r>
            <a:r>
              <a:rPr lang="zh-CN" altLang="en-US" sz="1700">
                <a:latin typeface="微软雅黑" panose="020B0503020204020204" pitchFamily="34" charset="-122"/>
              </a:rPr>
              <a:t>、高产量、低施肥、低灌水的 </a:t>
            </a:r>
            <a:r>
              <a:rPr lang="en-US" altLang="zh-CN" sz="1700">
                <a:latin typeface="微软雅黑" panose="020B0503020204020204" pitchFamily="34" charset="-122"/>
              </a:rPr>
              <a:t>reward </a:t>
            </a:r>
            <a:r>
              <a:rPr lang="zh-CN" altLang="en-US" sz="1700">
                <a:latin typeface="微软雅黑" panose="020B0503020204020204" pitchFamily="34" charset="-122"/>
              </a:rPr>
              <a:t>参数，并为后续天气预报驱动的水氮联合优化打基础。</a:t>
            </a:r>
            <a:endParaRPr lang="zh-CN" altLang="en-US" sz="1700">
              <a:latin typeface="微软雅黑" panose="020B0503020204020204" pitchFamily="34" charset="-122"/>
            </a:endParaRPr>
          </a:p>
          <a:p>
            <a:r>
              <a:rPr lang="en-US" altLang="zh-CN" sz="1700">
                <a:latin typeface="微软雅黑" panose="020B0503020204020204" pitchFamily="34" charset="-122"/>
              </a:rPr>
              <a:t>• </a:t>
            </a:r>
            <a:r>
              <a:rPr lang="zh-CN" altLang="en-US" sz="1700">
                <a:latin typeface="微软雅黑" panose="020B0503020204020204" pitchFamily="34" charset="-122"/>
              </a:rPr>
              <a:t>当前主线：先在海伦站 </a:t>
            </a:r>
            <a:r>
              <a:rPr lang="en-US" altLang="zh-CN" sz="1700">
                <a:latin typeface="微软雅黑" panose="020B0503020204020204" pitchFamily="34" charset="-122"/>
              </a:rPr>
              <a:t>2007 </a:t>
            </a:r>
            <a:r>
              <a:rPr lang="zh-CN" altLang="en-US" sz="1700">
                <a:latin typeface="微软雅黑" panose="020B0503020204020204" pitchFamily="34" charset="-122"/>
              </a:rPr>
              <a:t>年玉米数据上打通流程，再扩展到沈阳、禹城、栾城、封丘等站点。</a:t>
            </a:r>
            <a:endParaRPr lang="zh-CN" altLang="en-US" sz="1700">
              <a:latin typeface="微软雅黑" panose="020B0503020204020204" pitchFamily="34" charset="-122"/>
            </a:endParaRPr>
          </a:p>
          <a:p>
            <a:r>
              <a:rPr lang="en-US" altLang="zh-CN" sz="1700">
                <a:latin typeface="微软雅黑" panose="020B0503020204020204" pitchFamily="34" charset="-122"/>
              </a:rPr>
              <a:t>• </a:t>
            </a:r>
            <a:r>
              <a:rPr lang="zh-CN" altLang="en-US" sz="1700">
                <a:latin typeface="微软雅黑" panose="020B0503020204020204" pitchFamily="34" charset="-122"/>
              </a:rPr>
              <a:t>记录原则：保留原始脚本，新增脚本承载新功能；重要中间结果、图、</a:t>
            </a:r>
            <a:r>
              <a:rPr lang="en-US" altLang="zh-CN" sz="1700">
                <a:latin typeface="微软雅黑" panose="020B0503020204020204" pitchFamily="34" charset="-122"/>
              </a:rPr>
              <a:t>PPT </a:t>
            </a:r>
            <a:r>
              <a:rPr lang="zh-CN" altLang="en-US" sz="1700">
                <a:latin typeface="微软雅黑" panose="020B0503020204020204" pitchFamily="34" charset="-122"/>
              </a:rPr>
              <a:t>和诊断表同步到 </a:t>
            </a:r>
            <a:r>
              <a:rPr lang="en-US" altLang="zh-CN" sz="1700">
                <a:latin typeface="微软雅黑" panose="020B0503020204020204" pitchFamily="34" charset="-122"/>
              </a:rPr>
              <a:t>GitHub</a:t>
            </a:r>
            <a:r>
              <a:rPr lang="zh-CN" altLang="en-US" sz="1700">
                <a:latin typeface="微软雅黑" panose="020B0503020204020204" pitchFamily="34" charset="-122"/>
              </a:rPr>
              <a:t>。</a:t>
            </a:r>
            <a:endParaRPr lang="zh-CN" altLang="en-US" sz="1700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82600" y="279400"/>
            <a:ext cx="11176000" cy="4770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500" b="1">
                <a:latin typeface="微软雅黑" panose="020B0503020204020204" pitchFamily="34" charset="-122"/>
              </a:rPr>
              <a:t>已完成尝试总览</a:t>
            </a:r>
            <a:endParaRPr lang="zh-CN" altLang="en-US" sz="2500" b="1">
              <a:latin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8500" y="1333500"/>
            <a:ext cx="10795000" cy="16004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400">
                <a:latin typeface="微软雅黑" panose="020B0503020204020204" pitchFamily="34" charset="-122"/>
              </a:rPr>
              <a:t>• </a:t>
            </a:r>
            <a:r>
              <a:rPr lang="zh-CN" altLang="en-US" sz="1400">
                <a:latin typeface="微软雅黑" panose="020B0503020204020204" pitchFamily="34" charset="-122"/>
              </a:rPr>
              <a:t>施肥 </a:t>
            </a:r>
            <a:r>
              <a:rPr lang="en-US" altLang="zh-CN" sz="1400">
                <a:latin typeface="微软雅黑" panose="020B0503020204020204" pitchFamily="34" charset="-122"/>
              </a:rPr>
              <a:t>reward</a:t>
            </a:r>
            <a:r>
              <a:rPr lang="zh-CN" altLang="en-US" sz="1400">
                <a:latin typeface="微软雅黑" panose="020B0503020204020204" pitchFamily="34" charset="-122"/>
              </a:rPr>
              <a:t>：原始 </a:t>
            </a:r>
            <a:r>
              <a:rPr lang="en-US" altLang="zh-CN" sz="1400">
                <a:latin typeface="微软雅黑" panose="020B0503020204020204" pitchFamily="34" charset="-122"/>
              </a:rPr>
              <a:t>maize </a:t>
            </a:r>
            <a:r>
              <a:rPr lang="zh-CN" altLang="en-US" sz="1400">
                <a:latin typeface="微软雅黑" panose="020B0503020204020204" pitchFamily="34" charset="-122"/>
              </a:rPr>
              <a:t>参数为 </a:t>
            </a:r>
            <a:r>
              <a:rPr lang="en-US" altLang="zh-CN" sz="1400">
                <a:latin typeface="微软雅黑" panose="020B0503020204020204" pitchFamily="34" charset="-122"/>
              </a:rPr>
              <a:t>coef=1.0</a:t>
            </a:r>
            <a:r>
              <a:rPr lang="zh-CN" altLang="en-US" sz="1400">
                <a:latin typeface="微软雅黑" panose="020B0503020204020204" pitchFamily="34" charset="-122"/>
              </a:rPr>
              <a:t>、</a:t>
            </a:r>
            <a:r>
              <a:rPr lang="en-US" altLang="zh-CN" sz="1400">
                <a:latin typeface="微软雅黑" panose="020B0503020204020204" pitchFamily="34" charset="-122"/>
              </a:rPr>
              <a:t>penality=0.5</a:t>
            </a:r>
            <a:r>
              <a:rPr lang="zh-CN" altLang="en-US" sz="1400">
                <a:latin typeface="微软雅黑" panose="020B0503020204020204" pitchFamily="34" charset="-122"/>
              </a:rPr>
              <a:t>；后续做 </a:t>
            </a:r>
            <a:r>
              <a:rPr lang="en-US" altLang="zh-CN" sz="1400">
                <a:latin typeface="微软雅黑" panose="020B0503020204020204" pitchFamily="34" charset="-122"/>
              </a:rPr>
              <a:t>coef/penality </a:t>
            </a:r>
            <a:r>
              <a:rPr lang="zh-CN" altLang="en-US" sz="1400">
                <a:latin typeface="微软雅黑" panose="020B0503020204020204" pitchFamily="34" charset="-122"/>
              </a:rPr>
              <a:t>扫描，并补充 </a:t>
            </a:r>
            <a:r>
              <a:rPr lang="en-US" altLang="zh-CN" sz="1400">
                <a:latin typeface="微软雅黑" panose="020B0503020204020204" pitchFamily="34" charset="-122"/>
              </a:rPr>
              <a:t>TRNU </a:t>
            </a:r>
            <a:r>
              <a:rPr lang="zh-CN" altLang="en-US" sz="1400">
                <a:latin typeface="微软雅黑" panose="020B0503020204020204" pitchFamily="34" charset="-122"/>
              </a:rPr>
              <a:t>打印、</a:t>
            </a:r>
            <a:r>
              <a:rPr lang="en-US" altLang="zh-CN" sz="1400">
                <a:latin typeface="微软雅黑" panose="020B0503020204020204" pitchFamily="34" charset="-122"/>
              </a:rPr>
              <a:t>CSV </a:t>
            </a:r>
            <a:r>
              <a:rPr lang="zh-CN" altLang="en-US" sz="1400">
                <a:latin typeface="微软雅黑" panose="020B0503020204020204" pitchFamily="34" charset="-122"/>
              </a:rPr>
              <a:t>保存和 </a:t>
            </a:r>
            <a:r>
              <a:rPr lang="en-US" altLang="zh-CN" sz="1400">
                <a:latin typeface="微软雅黑" panose="020B0503020204020204" pitchFamily="34" charset="-122"/>
              </a:rPr>
              <a:t>plot_hl.py </a:t>
            </a:r>
            <a:r>
              <a:rPr lang="zh-CN" altLang="en-US" sz="1400">
                <a:latin typeface="微软雅黑" panose="020B0503020204020204" pitchFamily="34" charset="-122"/>
              </a:rPr>
              <a:t>统计。</a:t>
            </a:r>
            <a:endParaRPr lang="zh-CN" altLang="en-US" sz="1400">
              <a:latin typeface="微软雅黑" panose="020B0503020204020204" pitchFamily="34" charset="-122"/>
            </a:endParaRPr>
          </a:p>
          <a:p>
            <a:r>
              <a:rPr lang="en-US" altLang="zh-CN" sz="1400">
                <a:latin typeface="微软雅黑" panose="020B0503020204020204" pitchFamily="34" charset="-122"/>
              </a:rPr>
              <a:t>• 1000 episode </a:t>
            </a:r>
            <a:r>
              <a:rPr lang="zh-CN" altLang="en-US" sz="1400">
                <a:latin typeface="微软雅黑" panose="020B0503020204020204" pitchFamily="34" charset="-122"/>
              </a:rPr>
              <a:t>评估：生成 </a:t>
            </a:r>
            <a:r>
              <a:rPr lang="en-US" altLang="zh-CN" sz="1400">
                <a:latin typeface="微软雅黑" panose="020B0503020204020204" pitchFamily="34" charset="-122"/>
              </a:rPr>
              <a:t>PPO</a:t>
            </a:r>
            <a:r>
              <a:rPr lang="zh-CN" altLang="en-US" sz="1400">
                <a:latin typeface="微软雅黑" panose="020B0503020204020204" pitchFamily="34" charset="-122"/>
              </a:rPr>
              <a:t>、</a:t>
            </a:r>
            <a:r>
              <a:rPr lang="en-US" altLang="zh-CN" sz="1400">
                <a:latin typeface="微软雅黑" panose="020B0503020204020204" pitchFamily="34" charset="-122"/>
              </a:rPr>
              <a:t>Null</a:t>
            </a:r>
            <a:r>
              <a:rPr lang="zh-CN" altLang="en-US" sz="1400">
                <a:latin typeface="微软雅黑" panose="020B0503020204020204" pitchFamily="34" charset="-122"/>
              </a:rPr>
              <a:t>、</a:t>
            </a:r>
            <a:r>
              <a:rPr lang="en-US" altLang="zh-CN" sz="1400">
                <a:latin typeface="微软雅黑" panose="020B0503020204020204" pitchFamily="34" charset="-122"/>
              </a:rPr>
              <a:t>Expert </a:t>
            </a:r>
            <a:r>
              <a:rPr lang="zh-CN" altLang="en-US" sz="1400">
                <a:latin typeface="微软雅黑" panose="020B0503020204020204" pitchFamily="34" charset="-122"/>
              </a:rPr>
              <a:t>三种模式的 </a:t>
            </a:r>
            <a:r>
              <a:rPr lang="en-US" altLang="zh-CN" sz="1400">
                <a:latin typeface="微软雅黑" panose="020B0503020204020204" pitchFamily="34" charset="-122"/>
              </a:rPr>
              <a:t>evaluation_histories.pkl</a:t>
            </a:r>
            <a:r>
              <a:rPr lang="zh-CN" altLang="en-US" sz="1400">
                <a:latin typeface="微软雅黑" panose="020B0503020204020204" pitchFamily="34" charset="-122"/>
              </a:rPr>
              <a:t>，并按 </a:t>
            </a:r>
            <a:r>
              <a:rPr lang="en-US" altLang="zh-CN" sz="1400">
                <a:latin typeface="微软雅黑" panose="020B0503020204020204" pitchFamily="34" charset="-122"/>
              </a:rPr>
              <a:t>plot_hl.py </a:t>
            </a:r>
            <a:r>
              <a:rPr lang="zh-CN" altLang="en-US" sz="1400">
                <a:latin typeface="微软雅黑" panose="020B0503020204020204" pitchFamily="34" charset="-122"/>
              </a:rPr>
              <a:t>原样式重绘施肥量与 </a:t>
            </a:r>
            <a:r>
              <a:rPr lang="en-US" altLang="zh-CN" sz="1400">
                <a:latin typeface="微软雅黑" panose="020B0503020204020204" pitchFamily="34" charset="-122"/>
              </a:rPr>
              <a:t>reward </a:t>
            </a:r>
            <a:r>
              <a:rPr lang="zh-CN" altLang="en-US" sz="1400">
                <a:latin typeface="微软雅黑" panose="020B0503020204020204" pitchFamily="34" charset="-122"/>
              </a:rPr>
              <a:t>图。</a:t>
            </a:r>
            <a:endParaRPr lang="zh-CN" altLang="en-US" sz="1400">
              <a:latin typeface="微软雅黑" panose="020B0503020204020204" pitchFamily="34" charset="-122"/>
            </a:endParaRPr>
          </a:p>
          <a:p>
            <a:r>
              <a:rPr lang="en-US" altLang="zh-CN" sz="1400">
                <a:latin typeface="微软雅黑" panose="020B0503020204020204" pitchFamily="34" charset="-122"/>
              </a:rPr>
              <a:t>• OOM </a:t>
            </a:r>
            <a:r>
              <a:rPr lang="zh-CN" altLang="en-US" sz="1400">
                <a:latin typeface="微软雅黑" panose="020B0503020204020204" pitchFamily="34" charset="-122"/>
              </a:rPr>
              <a:t>处理：改成逐组合、逐进程运行，减少一次性加载历史；必要时分批评估和重启 </a:t>
            </a:r>
            <a:r>
              <a:rPr lang="en-US" altLang="zh-CN" sz="1400">
                <a:latin typeface="微软雅黑" panose="020B0503020204020204" pitchFamily="34" charset="-122"/>
              </a:rPr>
              <a:t>Python </a:t>
            </a:r>
            <a:r>
              <a:rPr lang="zh-CN" altLang="en-US" sz="1400">
                <a:latin typeface="微软雅黑" panose="020B0503020204020204" pitchFamily="34" charset="-122"/>
              </a:rPr>
              <a:t>进程。</a:t>
            </a:r>
            <a:endParaRPr lang="zh-CN" altLang="en-US" sz="1400">
              <a:latin typeface="微软雅黑" panose="020B0503020204020204" pitchFamily="34" charset="-122"/>
            </a:endParaRPr>
          </a:p>
          <a:p>
            <a:r>
              <a:rPr lang="en-US" altLang="zh-CN" sz="1400">
                <a:latin typeface="微软雅黑" panose="020B0503020204020204" pitchFamily="34" charset="-122"/>
              </a:rPr>
              <a:t>• all </a:t>
            </a:r>
            <a:r>
              <a:rPr lang="zh-CN" altLang="en-US" sz="1400">
                <a:latin typeface="微软雅黑" panose="020B0503020204020204" pitchFamily="34" charset="-122"/>
              </a:rPr>
              <a:t>模式：先备份关键代码，再新增 </a:t>
            </a:r>
            <a:r>
              <a:rPr lang="en-US" altLang="zh-CN" sz="1400">
                <a:latin typeface="微软雅黑" panose="020B0503020204020204" pitchFamily="34" charset="-122"/>
              </a:rPr>
              <a:t>train_hl_all.py/evaluate_hl_all.py/plot_hl_all.py </a:t>
            </a:r>
            <a:r>
              <a:rPr lang="zh-CN" altLang="en-US" sz="1400">
                <a:latin typeface="微软雅黑" panose="020B0503020204020204" pitchFamily="34" charset="-122"/>
              </a:rPr>
              <a:t>相关流程，打通水氮联合动作。</a:t>
            </a:r>
            <a:endParaRPr lang="zh-CN" altLang="en-US" sz="1400">
              <a:latin typeface="微软雅黑" panose="020B0503020204020204" pitchFamily="34" charset="-122"/>
            </a:endParaRPr>
          </a:p>
          <a:p>
            <a:r>
              <a:rPr lang="en-US" altLang="zh-CN" sz="1400">
                <a:latin typeface="微软雅黑" panose="020B0503020204020204" pitchFamily="34" charset="-122"/>
              </a:rPr>
              <a:t>• GitHub </a:t>
            </a:r>
            <a:r>
              <a:rPr lang="zh-CN" altLang="en-US" sz="1400">
                <a:latin typeface="微软雅黑" panose="020B0503020204020204" pitchFamily="34" charset="-122"/>
              </a:rPr>
              <a:t>备份：已把 </a:t>
            </a:r>
            <a:r>
              <a:rPr lang="en-US" altLang="zh-CN" sz="1400">
                <a:latin typeface="微软雅黑" panose="020B0503020204020204" pitchFamily="34" charset="-122"/>
              </a:rPr>
              <a:t>reward sweep</a:t>
            </a:r>
            <a:r>
              <a:rPr lang="zh-CN" altLang="en-US" sz="1400">
                <a:latin typeface="微软雅黑" panose="020B0503020204020204" pitchFamily="34" charset="-122"/>
              </a:rPr>
              <a:t>、</a:t>
            </a:r>
            <a:r>
              <a:rPr lang="en-US" altLang="zh-CN" sz="1400">
                <a:latin typeface="微软雅黑" panose="020B0503020204020204" pitchFamily="34" charset="-122"/>
              </a:rPr>
              <a:t>all sweep</a:t>
            </a:r>
            <a:r>
              <a:rPr lang="zh-CN" altLang="en-US" sz="1400">
                <a:latin typeface="微软雅黑" panose="020B0503020204020204" pitchFamily="34" charset="-122"/>
              </a:rPr>
              <a:t>、</a:t>
            </a:r>
            <a:r>
              <a:rPr lang="en-US" altLang="zh-CN" sz="1400">
                <a:latin typeface="微软雅黑" panose="020B0503020204020204" pitchFamily="34" charset="-122"/>
              </a:rPr>
              <a:t>PPT</a:t>
            </a:r>
            <a:r>
              <a:rPr lang="zh-CN" altLang="en-US" sz="1400">
                <a:latin typeface="微软雅黑" panose="020B0503020204020204" pitchFamily="34" charset="-122"/>
              </a:rPr>
              <a:t>、诊断脚本等多轮结果推送到 </a:t>
            </a:r>
            <a:r>
              <a:rPr lang="en-US" altLang="zh-CN" sz="1400">
                <a:latin typeface="微软雅黑" panose="020B0503020204020204" pitchFamily="34" charset="-122"/>
              </a:rPr>
              <a:t>codex-reward-sweep-backup </a:t>
            </a:r>
            <a:r>
              <a:rPr lang="zh-CN" altLang="en-US" sz="1400">
                <a:latin typeface="微软雅黑" panose="020B0503020204020204" pitchFamily="34" charset="-122"/>
              </a:rPr>
              <a:t>分支。</a:t>
            </a:r>
            <a:endParaRPr lang="zh-CN" altLang="en-US" sz="1400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82600" y="279400"/>
            <a:ext cx="11176000" cy="4770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500" b="1">
                <a:latin typeface="微软雅黑" panose="020B0503020204020204" pitchFamily="34" charset="-122"/>
              </a:rPr>
              <a:t>施肥 </a:t>
            </a:r>
            <a:r>
              <a:rPr lang="en-US" altLang="zh-CN" sz="2500" b="1">
                <a:latin typeface="微软雅黑" panose="020B0503020204020204" pitchFamily="34" charset="-122"/>
              </a:rPr>
              <a:t>reward </a:t>
            </a:r>
            <a:r>
              <a:rPr lang="zh-CN" altLang="en-US" sz="2500" b="1">
                <a:latin typeface="微软雅黑" panose="020B0503020204020204" pitchFamily="34" charset="-122"/>
              </a:rPr>
              <a:t>参数扫描结论</a:t>
            </a:r>
            <a:endParaRPr lang="zh-CN" altLang="en-US" sz="2500" b="1">
              <a:latin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8500" y="1460500"/>
            <a:ext cx="10795000" cy="107721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600">
                <a:latin typeface="微软雅黑" panose="020B0503020204020204" pitchFamily="34" charset="-122"/>
              </a:rPr>
              <a:t>• </a:t>
            </a:r>
            <a:r>
              <a:rPr lang="zh-CN" altLang="en-US" sz="1600">
                <a:latin typeface="微软雅黑" panose="020B0503020204020204" pitchFamily="34" charset="-122"/>
              </a:rPr>
              <a:t>评价标准：</a:t>
            </a:r>
            <a:r>
              <a:rPr lang="en-US" altLang="zh-CN" sz="1600">
                <a:latin typeface="微软雅黑" panose="020B0503020204020204" pitchFamily="34" charset="-122"/>
              </a:rPr>
              <a:t>TRNU </a:t>
            </a:r>
            <a:r>
              <a:rPr lang="zh-CN" altLang="en-US" sz="1600">
                <a:latin typeface="微软雅黑" panose="020B0503020204020204" pitchFamily="34" charset="-122"/>
              </a:rPr>
              <a:t>尽可能高、施肥量尽可能少、产量尽可能高；不是只看 </a:t>
            </a:r>
            <a:r>
              <a:rPr lang="en-US" altLang="zh-CN" sz="1600">
                <a:latin typeface="微软雅黑" panose="020B0503020204020204" pitchFamily="34" charset="-122"/>
              </a:rPr>
              <a:t>reward </a:t>
            </a:r>
            <a:r>
              <a:rPr lang="zh-CN" altLang="en-US" sz="1600">
                <a:latin typeface="微软雅黑" panose="020B0503020204020204" pitchFamily="34" charset="-122"/>
              </a:rPr>
              <a:t>数值。</a:t>
            </a:r>
            <a:endParaRPr lang="zh-CN" altLang="en-US" sz="1600">
              <a:latin typeface="微软雅黑" panose="020B0503020204020204" pitchFamily="34" charset="-122"/>
            </a:endParaRPr>
          </a:p>
          <a:p>
            <a:r>
              <a:rPr lang="en-US" altLang="zh-CN" sz="1600">
                <a:latin typeface="微软雅黑" panose="020B0503020204020204" pitchFamily="34" charset="-122"/>
              </a:rPr>
              <a:t>• </a:t>
            </a:r>
            <a:r>
              <a:rPr lang="zh-CN" altLang="en-US" sz="1600">
                <a:latin typeface="微软雅黑" panose="020B0503020204020204" pitchFamily="34" charset="-122"/>
              </a:rPr>
              <a:t>原始参数 </a:t>
            </a:r>
            <a:r>
              <a:rPr lang="en-US" altLang="zh-CN" sz="1600">
                <a:latin typeface="微软雅黑" panose="020B0503020204020204" pitchFamily="34" charset="-122"/>
              </a:rPr>
              <a:t>coef=1.0</a:t>
            </a:r>
            <a:r>
              <a:rPr lang="zh-CN" altLang="en-US" sz="1600">
                <a:latin typeface="微软雅黑" panose="020B0503020204020204" pitchFamily="34" charset="-122"/>
              </a:rPr>
              <a:t>、</a:t>
            </a:r>
            <a:r>
              <a:rPr lang="en-US" altLang="zh-CN" sz="1600">
                <a:latin typeface="微软雅黑" panose="020B0503020204020204" pitchFamily="34" charset="-122"/>
              </a:rPr>
              <a:t>penality=0.5 </a:t>
            </a:r>
            <a:r>
              <a:rPr lang="zh-CN" altLang="en-US" sz="1600">
                <a:latin typeface="微软雅黑" panose="020B0503020204020204" pitchFamily="34" charset="-122"/>
              </a:rPr>
              <a:t>作为基线，不再误记为其他组合。</a:t>
            </a:r>
            <a:endParaRPr lang="zh-CN" altLang="en-US" sz="1600">
              <a:latin typeface="微软雅黑" panose="020B0503020204020204" pitchFamily="34" charset="-122"/>
            </a:endParaRPr>
          </a:p>
          <a:p>
            <a:r>
              <a:rPr lang="en-US" altLang="zh-CN" sz="1600">
                <a:latin typeface="微软雅黑" panose="020B0503020204020204" pitchFamily="34" charset="-122"/>
              </a:rPr>
              <a:t>• </a:t>
            </a:r>
            <a:r>
              <a:rPr lang="zh-CN" altLang="en-US" sz="1600">
                <a:latin typeface="微软雅黑" panose="020B0503020204020204" pitchFamily="34" charset="-122"/>
              </a:rPr>
              <a:t>单独施肥模式能学到优于 </a:t>
            </a:r>
            <a:r>
              <a:rPr lang="en-US" altLang="zh-CN" sz="1600">
                <a:latin typeface="微软雅黑" panose="020B0503020204020204" pitchFamily="34" charset="-122"/>
              </a:rPr>
              <a:t>Expert/Null </a:t>
            </a:r>
            <a:r>
              <a:rPr lang="zh-CN" altLang="en-US" sz="1600">
                <a:latin typeface="微软雅黑" panose="020B0503020204020204" pitchFamily="34" charset="-122"/>
              </a:rPr>
              <a:t>的适配策略，说明该站点在施肥管理上有优化空间。</a:t>
            </a:r>
            <a:endParaRPr lang="zh-CN" altLang="en-US" sz="1600">
              <a:latin typeface="微软雅黑" panose="020B0503020204020204" pitchFamily="34" charset="-122"/>
            </a:endParaRPr>
          </a:p>
          <a:p>
            <a:r>
              <a:rPr lang="en-US" altLang="zh-CN" sz="1600">
                <a:latin typeface="微软雅黑" panose="020B0503020204020204" pitchFamily="34" charset="-122"/>
              </a:rPr>
              <a:t>• </a:t>
            </a:r>
            <a:r>
              <a:rPr lang="zh-CN" altLang="en-US" sz="1600">
                <a:latin typeface="微软雅黑" panose="020B0503020204020204" pitchFamily="34" charset="-122"/>
              </a:rPr>
              <a:t>后续 </a:t>
            </a:r>
            <a:r>
              <a:rPr lang="en-US" altLang="zh-CN" sz="1600">
                <a:latin typeface="微软雅黑" panose="020B0503020204020204" pitchFamily="34" charset="-122"/>
              </a:rPr>
              <a:t>all </a:t>
            </a:r>
            <a:r>
              <a:rPr lang="zh-CN" altLang="en-US" sz="1600">
                <a:latin typeface="微软雅黑" panose="020B0503020204020204" pitchFamily="34" charset="-122"/>
              </a:rPr>
              <a:t>模式中，氮肥惩罚需要明显提高，否则 </a:t>
            </a:r>
            <a:r>
              <a:rPr lang="en-US" altLang="zh-CN" sz="1600">
                <a:latin typeface="微软雅黑" panose="020B0503020204020204" pitchFamily="34" charset="-122"/>
              </a:rPr>
              <a:t>PPO </a:t>
            </a:r>
            <a:r>
              <a:rPr lang="zh-CN" altLang="en-US" sz="1600">
                <a:latin typeface="微软雅黑" panose="020B0503020204020204" pitchFamily="34" charset="-122"/>
              </a:rPr>
              <a:t>倾向通过大量施肥换取产量和即时 </a:t>
            </a:r>
            <a:r>
              <a:rPr lang="en-US" altLang="zh-CN" sz="1600">
                <a:latin typeface="微软雅黑" panose="020B0503020204020204" pitchFamily="34" charset="-122"/>
              </a:rPr>
              <a:t>reward</a:t>
            </a:r>
            <a:r>
              <a:rPr lang="zh-CN" altLang="en-US" sz="1600">
                <a:latin typeface="微软雅黑" panose="020B0503020204020204" pitchFamily="34" charset="-122"/>
              </a:rPr>
              <a:t>。</a:t>
            </a:r>
            <a:endParaRPr lang="zh-CN" altLang="en-US" sz="1600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82600" y="279400"/>
            <a:ext cx="11176000" cy="4770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500" b="1">
                <a:latin typeface="微软雅黑" panose="020B0503020204020204" pitchFamily="34" charset="-122"/>
              </a:rPr>
              <a:t>all reward </a:t>
            </a:r>
            <a:r>
              <a:rPr lang="zh-CN" altLang="en-US" sz="2500" b="1">
                <a:latin typeface="微软雅黑" panose="020B0503020204020204" pitchFamily="34" charset="-122"/>
              </a:rPr>
              <a:t>扫描：当前最佳组合</a:t>
            </a:r>
            <a:endParaRPr lang="zh-CN" altLang="en-US" sz="2500" b="1">
              <a:latin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82600" y="912495"/>
            <a:ext cx="10795000" cy="6451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</a:rPr>
              <a:t>综合排序来自 </a:t>
            </a:r>
            <a:r>
              <a:rPr lang="en-US" altLang="zh-CN">
                <a:latin typeface="微软雅黑" panose="020B0503020204020204" pitchFamily="34" charset="-122"/>
              </a:rPr>
              <a:t>output_hl/all_reward_sweep/combined_ppo_ranking.csv</a:t>
            </a:r>
            <a:r>
              <a:rPr lang="zh-CN" altLang="en-US">
                <a:latin typeface="微软雅黑" panose="020B0503020204020204" pitchFamily="34" charset="-122"/>
              </a:rPr>
              <a:t>；</a:t>
            </a:r>
            <a:r>
              <a:rPr lang="en-US" altLang="zh-CN">
                <a:latin typeface="微软雅黑" panose="020B0503020204020204" pitchFamily="34" charset="-122"/>
              </a:rPr>
              <a:t>Score </a:t>
            </a:r>
            <a:r>
              <a:rPr lang="zh-CN" altLang="en-US">
                <a:latin typeface="微软雅黑" panose="020B0503020204020204" pitchFamily="34" charset="-122"/>
              </a:rPr>
              <a:t>综合考虑产量、</a:t>
            </a:r>
            <a:r>
              <a:rPr lang="en-US" altLang="zh-CN">
                <a:latin typeface="微软雅黑" panose="020B0503020204020204" pitchFamily="34" charset="-122"/>
              </a:rPr>
              <a:t>TRNU</a:t>
            </a:r>
            <a:r>
              <a:rPr lang="zh-CN" altLang="en-US">
                <a:latin typeface="微软雅黑" panose="020B0503020204020204" pitchFamily="34" charset="-122"/>
              </a:rPr>
              <a:t>、总施肥和总灌水。</a:t>
            </a:r>
            <a:endParaRPr lang="zh-CN" altLang="en-US">
              <a:latin typeface="微软雅黑" panose="020B0503020204020204" pitchFamily="34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444500" y="1714500"/>
          <a:ext cx="11303000" cy="40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9530"/>
                <a:gridCol w="887730"/>
                <a:gridCol w="857250"/>
                <a:gridCol w="719455"/>
                <a:gridCol w="768350"/>
                <a:gridCol w="719455"/>
                <a:gridCol w="1283970"/>
                <a:gridCol w="937260"/>
              </a:tblGrid>
              <a:tr h="58057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latin typeface="微软雅黑" panose="020B0503020204020204" pitchFamily="34" charset="-122"/>
                        </a:rPr>
                        <a:t>组合</a:t>
                      </a:r>
                      <a:endParaRPr lang="zh-CN" altLang="en-US" sz="1400" b="1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微软雅黑" panose="020B0503020204020204" pitchFamily="34" charset="-122"/>
                        </a:rPr>
                        <a:t>N</a:t>
                      </a:r>
                      <a:r>
                        <a:rPr lang="zh-CN" altLang="en-US" sz="1400" b="1">
                          <a:latin typeface="微软雅黑" panose="020B0503020204020204" pitchFamily="34" charset="-122"/>
                        </a:rPr>
                        <a:t>惩罚</a:t>
                      </a:r>
                      <a:endParaRPr lang="zh-CN" altLang="en-US" sz="1400" b="1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latin typeface="微软雅黑" panose="020B0503020204020204" pitchFamily="34" charset="-122"/>
                        </a:rPr>
                        <a:t>水成本</a:t>
                      </a:r>
                      <a:endParaRPr lang="zh-CN" altLang="en-US" sz="1400" b="1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微软雅黑" panose="020B0503020204020204" pitchFamily="34" charset="-122"/>
                        </a:rPr>
                        <a:t>TRNU</a:t>
                      </a:r>
                      <a:endParaRPr lang="en-US" altLang="zh-CN" sz="1400" b="1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latin typeface="微软雅黑" panose="020B0503020204020204" pitchFamily="34" charset="-122"/>
                        </a:rPr>
                        <a:t>施肥</a:t>
                      </a:r>
                      <a:endParaRPr lang="zh-CN" altLang="en-US" sz="1400" b="1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latin typeface="微软雅黑" panose="020B0503020204020204" pitchFamily="34" charset="-122"/>
                        </a:rPr>
                        <a:t>灌水</a:t>
                      </a:r>
                      <a:endParaRPr lang="zh-CN" altLang="en-US" sz="1400" b="1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latin typeface="微软雅黑" panose="020B0503020204020204" pitchFamily="34" charset="-122"/>
                        </a:rPr>
                        <a:t>产量</a:t>
                      </a:r>
                      <a:endParaRPr lang="zh-CN" altLang="en-US" sz="1400" b="1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>
                          <a:latin typeface="微软雅黑" panose="020B0503020204020204" pitchFamily="34" charset="-122"/>
                        </a:rPr>
                        <a:t>Score</a:t>
                      </a:r>
                      <a:endParaRPr lang="en-US" altLang="zh-CN" sz="1400" b="1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</a:tr>
              <a:tr h="5805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微软雅黑" panose="020B0503020204020204" pitchFamily="34" charset="-122"/>
                        </a:rPr>
                        <a:t>pen15_ncost0_icost15_nlim300_nex0_ilim80_iex0</a:t>
                      </a:r>
                      <a:endParaRPr lang="en-US" altLang="zh-CN" sz="14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微软雅黑" panose="020B0503020204020204" pitchFamily="34" charset="-122"/>
                        </a:rPr>
                        <a:t>15.0</a:t>
                      </a:r>
                      <a:endParaRPr lang="en-US" altLang="zh-CN" sz="14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微软雅黑" panose="020B0503020204020204" pitchFamily="34" charset="-122"/>
                        </a:rPr>
                        <a:t>15.0</a:t>
                      </a:r>
                      <a:endParaRPr lang="en-US" altLang="zh-CN" sz="14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微软雅黑" panose="020B0503020204020204" pitchFamily="34" charset="-122"/>
                        </a:rPr>
                        <a:t>1.741</a:t>
                      </a:r>
                      <a:endParaRPr lang="en-US" altLang="zh-CN" sz="14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微软雅黑" panose="020B0503020204020204" pitchFamily="34" charset="-122"/>
                        </a:rPr>
                        <a:t>830.2</a:t>
                      </a:r>
                      <a:endParaRPr lang="en-US" altLang="zh-CN" sz="14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微软雅黑" panose="020B0503020204020204" pitchFamily="34" charset="-122"/>
                        </a:rPr>
                        <a:t>196.3</a:t>
                      </a:r>
                      <a:endParaRPr lang="en-US" altLang="zh-CN" sz="14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微软雅黑" panose="020B0503020204020204" pitchFamily="34" charset="-122"/>
                        </a:rPr>
                        <a:t>7463.7</a:t>
                      </a:r>
                      <a:endParaRPr lang="en-US" altLang="zh-CN" sz="14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微软雅黑" panose="020B0503020204020204" pitchFamily="34" charset="-122"/>
                        </a:rPr>
                        <a:t>0.184</a:t>
                      </a:r>
                      <a:endParaRPr lang="en-US" altLang="zh-CN" sz="14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</a:tr>
              <a:tr h="5805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微软雅黑" panose="020B0503020204020204" pitchFamily="34" charset="-122"/>
                        </a:rPr>
                        <a:t>pen15_ncost0_icost20_nlim300_nex0_ilim80_iex0</a:t>
                      </a:r>
                      <a:endParaRPr lang="en-US" altLang="zh-CN" sz="14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微软雅黑" panose="020B0503020204020204" pitchFamily="34" charset="-122"/>
                        </a:rPr>
                        <a:t>15.0</a:t>
                      </a:r>
                      <a:endParaRPr lang="en-US" altLang="zh-CN" sz="14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微软雅黑" panose="020B0503020204020204" pitchFamily="34" charset="-122"/>
                        </a:rPr>
                        <a:t>20.0</a:t>
                      </a:r>
                      <a:endParaRPr lang="en-US" altLang="zh-CN" sz="14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微软雅黑" panose="020B0503020204020204" pitchFamily="34" charset="-122"/>
                        </a:rPr>
                        <a:t>1.741</a:t>
                      </a:r>
                      <a:endParaRPr lang="en-US" altLang="zh-CN" sz="14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微软雅黑" panose="020B0503020204020204" pitchFamily="34" charset="-122"/>
                        </a:rPr>
                        <a:t>854.6</a:t>
                      </a:r>
                      <a:endParaRPr lang="en-US" altLang="zh-CN" sz="14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微软雅黑" panose="020B0503020204020204" pitchFamily="34" charset="-122"/>
                        </a:rPr>
                        <a:t>204.8</a:t>
                      </a:r>
                      <a:endParaRPr lang="en-US" altLang="zh-CN" sz="14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微软雅黑" panose="020B0503020204020204" pitchFamily="34" charset="-122"/>
                        </a:rPr>
                        <a:t>7464</a:t>
                      </a:r>
                      <a:endParaRPr lang="en-US" altLang="zh-CN" sz="14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微软雅黑" panose="020B0503020204020204" pitchFamily="34" charset="-122"/>
                        </a:rPr>
                        <a:t>0.157</a:t>
                      </a:r>
                      <a:endParaRPr lang="en-US" altLang="zh-CN" sz="14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</a:tr>
              <a:tr h="5805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微软雅黑" panose="020B0503020204020204" pitchFamily="34" charset="-122"/>
                        </a:rPr>
                        <a:t>pen15_ncost0_icost10_nlim300_nex0_ilim80_iex0</a:t>
                      </a:r>
                      <a:endParaRPr lang="en-US" altLang="zh-CN" sz="14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微软雅黑" panose="020B0503020204020204" pitchFamily="34" charset="-122"/>
                        </a:rPr>
                        <a:t>15.0</a:t>
                      </a:r>
                      <a:endParaRPr lang="en-US" altLang="zh-CN" sz="14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微软雅黑" panose="020B0503020204020204" pitchFamily="34" charset="-122"/>
                        </a:rPr>
                        <a:t>10.0</a:t>
                      </a:r>
                      <a:endParaRPr lang="en-US" altLang="zh-CN" sz="14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微软雅黑" panose="020B0503020204020204" pitchFamily="34" charset="-122"/>
                        </a:rPr>
                        <a:t>1.74</a:t>
                      </a:r>
                      <a:endParaRPr lang="en-US" altLang="zh-CN" sz="14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微软雅黑" panose="020B0503020204020204" pitchFamily="34" charset="-122"/>
                        </a:rPr>
                        <a:t>845.6</a:t>
                      </a:r>
                      <a:endParaRPr lang="en-US" altLang="zh-CN" sz="14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微软雅黑" panose="020B0503020204020204" pitchFamily="34" charset="-122"/>
                        </a:rPr>
                        <a:t>210.6</a:t>
                      </a:r>
                      <a:endParaRPr lang="en-US" altLang="zh-CN" sz="14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微软雅黑" panose="020B0503020204020204" pitchFamily="34" charset="-122"/>
                        </a:rPr>
                        <a:t>7462.6</a:t>
                      </a:r>
                      <a:endParaRPr lang="en-US" altLang="zh-CN" sz="14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微软雅黑" panose="020B0503020204020204" pitchFamily="34" charset="-122"/>
                        </a:rPr>
                        <a:t>0.155</a:t>
                      </a:r>
                      <a:endParaRPr lang="en-US" altLang="zh-CN" sz="14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</a:tr>
              <a:tr h="5805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微软雅黑" panose="020B0503020204020204" pitchFamily="34" charset="-122"/>
                        </a:rPr>
                        <a:t>pen12_ncost0_icost20_nlim300_nex0_ilim80_iex0</a:t>
                      </a:r>
                      <a:endParaRPr lang="en-US" altLang="zh-CN" sz="14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微软雅黑" panose="020B0503020204020204" pitchFamily="34" charset="-122"/>
                        </a:rPr>
                        <a:t>12.0</a:t>
                      </a:r>
                      <a:endParaRPr lang="en-US" altLang="zh-CN" sz="14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微软雅黑" panose="020B0503020204020204" pitchFamily="34" charset="-122"/>
                        </a:rPr>
                        <a:t>20.0</a:t>
                      </a:r>
                      <a:endParaRPr lang="en-US" altLang="zh-CN" sz="14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微软雅黑" panose="020B0503020204020204" pitchFamily="34" charset="-122"/>
                        </a:rPr>
                        <a:t>1.741</a:t>
                      </a:r>
                      <a:endParaRPr lang="en-US" altLang="zh-CN" sz="14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微软雅黑" panose="020B0503020204020204" pitchFamily="34" charset="-122"/>
                        </a:rPr>
                        <a:t>926</a:t>
                      </a:r>
                      <a:endParaRPr lang="en-US" altLang="zh-CN" sz="14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微软雅黑" panose="020B0503020204020204" pitchFamily="34" charset="-122"/>
                        </a:rPr>
                        <a:t>211.2</a:t>
                      </a:r>
                      <a:endParaRPr lang="en-US" altLang="zh-CN" sz="14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微软雅黑" panose="020B0503020204020204" pitchFamily="34" charset="-122"/>
                        </a:rPr>
                        <a:t>7464.2</a:t>
                      </a:r>
                      <a:endParaRPr lang="en-US" altLang="zh-CN" sz="14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微软雅黑" panose="020B0503020204020204" pitchFamily="34" charset="-122"/>
                        </a:rPr>
                        <a:t>0.101</a:t>
                      </a:r>
                      <a:endParaRPr lang="en-US" altLang="zh-CN" sz="14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</a:tr>
              <a:tr h="5805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微软雅黑" panose="020B0503020204020204" pitchFamily="34" charset="-122"/>
                        </a:rPr>
                        <a:t>pen12_ncost0_icost10_nlim300_nex0_ilim80_iex0</a:t>
                      </a:r>
                      <a:endParaRPr lang="en-US" altLang="zh-CN" sz="14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微软雅黑" panose="020B0503020204020204" pitchFamily="34" charset="-122"/>
                        </a:rPr>
                        <a:t>12.0</a:t>
                      </a:r>
                      <a:endParaRPr lang="en-US" altLang="zh-CN" sz="14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微软雅黑" panose="020B0503020204020204" pitchFamily="34" charset="-122"/>
                        </a:rPr>
                        <a:t>10.0</a:t>
                      </a:r>
                      <a:endParaRPr lang="en-US" altLang="zh-CN" sz="14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微软雅黑" panose="020B0503020204020204" pitchFamily="34" charset="-122"/>
                        </a:rPr>
                        <a:t>1.741</a:t>
                      </a:r>
                      <a:endParaRPr lang="en-US" altLang="zh-CN" sz="14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微软雅黑" panose="020B0503020204020204" pitchFamily="34" charset="-122"/>
                        </a:rPr>
                        <a:t>916.5</a:t>
                      </a:r>
                      <a:endParaRPr lang="en-US" altLang="zh-CN" sz="14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微软雅黑" panose="020B0503020204020204" pitchFamily="34" charset="-122"/>
                        </a:rPr>
                        <a:t>226.4</a:t>
                      </a:r>
                      <a:endParaRPr lang="en-US" altLang="zh-CN" sz="14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微软雅黑" panose="020B0503020204020204" pitchFamily="34" charset="-122"/>
                        </a:rPr>
                        <a:t>7463.2</a:t>
                      </a:r>
                      <a:endParaRPr lang="en-US" altLang="zh-CN" sz="14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微软雅黑" panose="020B0503020204020204" pitchFamily="34" charset="-122"/>
                        </a:rPr>
                        <a:t>0.088</a:t>
                      </a:r>
                      <a:endParaRPr lang="en-US" altLang="zh-CN" sz="14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</a:tr>
              <a:tr h="5805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微软雅黑" panose="020B0503020204020204" pitchFamily="34" charset="-122"/>
                        </a:rPr>
                        <a:t>pen12_ncost0_icost15_nlim300_nex0_ilim80_iex0</a:t>
                      </a:r>
                      <a:endParaRPr lang="en-US" altLang="zh-CN" sz="14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微软雅黑" panose="020B0503020204020204" pitchFamily="34" charset="-122"/>
                        </a:rPr>
                        <a:t>12.0</a:t>
                      </a:r>
                      <a:endParaRPr lang="en-US" altLang="zh-CN" sz="14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微软雅黑" panose="020B0503020204020204" pitchFamily="34" charset="-122"/>
                        </a:rPr>
                        <a:t>15.0</a:t>
                      </a:r>
                      <a:endParaRPr lang="en-US" altLang="zh-CN" sz="14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微软雅黑" panose="020B0503020204020204" pitchFamily="34" charset="-122"/>
                        </a:rPr>
                        <a:t>1.741</a:t>
                      </a:r>
                      <a:endParaRPr lang="en-US" altLang="zh-CN" sz="14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微软雅黑" panose="020B0503020204020204" pitchFamily="34" charset="-122"/>
                        </a:rPr>
                        <a:t>994.7</a:t>
                      </a:r>
                      <a:endParaRPr lang="en-US" altLang="zh-CN" sz="14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微软雅黑" panose="020B0503020204020204" pitchFamily="34" charset="-122"/>
                        </a:rPr>
                        <a:t>240.6</a:t>
                      </a:r>
                      <a:endParaRPr lang="en-US" altLang="zh-CN" sz="14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微软雅黑" panose="020B0503020204020204" pitchFamily="34" charset="-122"/>
                        </a:rPr>
                        <a:t>7463.1</a:t>
                      </a:r>
                      <a:endParaRPr lang="en-US" altLang="zh-CN" sz="14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微软雅黑" panose="020B0503020204020204" pitchFamily="34" charset="-122"/>
                        </a:rPr>
                        <a:t>0.019</a:t>
                      </a:r>
                      <a:endParaRPr lang="en-US" altLang="zh-CN" sz="14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82600" y="279400"/>
            <a:ext cx="11176000" cy="4770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500" b="1">
                <a:latin typeface="微软雅黑" panose="020B0503020204020204" pitchFamily="34" charset="-122"/>
              </a:rPr>
              <a:t>all </a:t>
            </a:r>
            <a:r>
              <a:rPr lang="zh-CN" altLang="en-US" sz="2500" b="1">
                <a:latin typeface="微软雅黑" panose="020B0503020204020204" pitchFamily="34" charset="-122"/>
              </a:rPr>
              <a:t>模式阶段性判断</a:t>
            </a:r>
            <a:endParaRPr lang="zh-CN" altLang="en-US" sz="2500" b="1">
              <a:latin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8500" y="1422400"/>
            <a:ext cx="10795000" cy="19380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</a:rPr>
              <a:t>• </a:t>
            </a:r>
            <a:r>
              <a:rPr lang="zh-CN" altLang="en-US" sz="2000">
                <a:latin typeface="微软雅黑" panose="020B0503020204020204" pitchFamily="34" charset="-122"/>
              </a:rPr>
              <a:t>较优组合：</a:t>
            </a:r>
            <a:r>
              <a:rPr lang="en-US" altLang="zh-CN" sz="2000">
                <a:latin typeface="微软雅黑" panose="020B0503020204020204" pitchFamily="34" charset="-122"/>
              </a:rPr>
              <a:t>penality=15</a:t>
            </a:r>
            <a:r>
              <a:rPr lang="zh-CN" altLang="en-US" sz="2000">
                <a:latin typeface="微软雅黑" panose="020B0503020204020204" pitchFamily="34" charset="-122"/>
              </a:rPr>
              <a:t>、</a:t>
            </a:r>
            <a:r>
              <a:rPr lang="en-US" altLang="zh-CN" sz="2000">
                <a:latin typeface="微软雅黑" panose="020B0503020204020204" pitchFamily="34" charset="-122"/>
              </a:rPr>
              <a:t>amir_cost=15</a:t>
            </a:r>
            <a:r>
              <a:rPr lang="zh-CN" altLang="en-US" sz="2000">
                <a:latin typeface="微软雅黑" panose="020B0503020204020204" pitchFamily="34" charset="-122"/>
              </a:rPr>
              <a:t>，在 </a:t>
            </a:r>
            <a:r>
              <a:rPr lang="en-US" altLang="zh-CN" sz="2000">
                <a:latin typeface="微软雅黑" panose="020B0503020204020204" pitchFamily="34" charset="-122"/>
              </a:rPr>
              <a:t>30 episode </a:t>
            </a:r>
            <a:r>
              <a:rPr lang="zh-CN" altLang="en-US" sz="2000">
                <a:latin typeface="微软雅黑" panose="020B0503020204020204" pitchFamily="34" charset="-122"/>
              </a:rPr>
              <a:t>评估中达到 </a:t>
            </a:r>
            <a:r>
              <a:rPr lang="en-US" altLang="zh-CN" sz="2000">
                <a:latin typeface="微软雅黑" panose="020B0503020204020204" pitchFamily="34" charset="-122"/>
              </a:rPr>
              <a:t>mean_trnu≈1.741</a:t>
            </a:r>
            <a:r>
              <a:rPr lang="zh-CN" altLang="en-US" sz="2000">
                <a:latin typeface="微软雅黑" panose="020B0503020204020204" pitchFamily="34" charset="-122"/>
              </a:rPr>
              <a:t>、施肥≈</a:t>
            </a:r>
            <a:r>
              <a:rPr lang="en-US" altLang="zh-CN" sz="2000">
                <a:latin typeface="微软雅黑" panose="020B0503020204020204" pitchFamily="34" charset="-122"/>
              </a:rPr>
              <a:t>830</a:t>
            </a:r>
            <a:r>
              <a:rPr lang="zh-CN" altLang="en-US" sz="2000">
                <a:latin typeface="微软雅黑" panose="020B0503020204020204" pitchFamily="34" charset="-122"/>
              </a:rPr>
              <a:t>、灌水≈</a:t>
            </a:r>
            <a:r>
              <a:rPr lang="en-US" altLang="zh-CN" sz="2000">
                <a:latin typeface="微软雅黑" panose="020B0503020204020204" pitchFamily="34" charset="-122"/>
              </a:rPr>
              <a:t>196</a:t>
            </a:r>
            <a:r>
              <a:rPr lang="zh-CN" altLang="en-US" sz="2000">
                <a:latin typeface="微软雅黑" panose="020B0503020204020204" pitchFamily="34" charset="-122"/>
              </a:rPr>
              <a:t>、产量≈</a:t>
            </a:r>
            <a:r>
              <a:rPr lang="en-US" altLang="zh-CN" sz="2000">
                <a:latin typeface="微软雅黑" panose="020B0503020204020204" pitchFamily="34" charset="-122"/>
              </a:rPr>
              <a:t>7464</a:t>
            </a:r>
            <a:r>
              <a:rPr lang="zh-CN" altLang="en-US" sz="2000">
                <a:latin typeface="微软雅黑" panose="020B0503020204020204" pitchFamily="34" charset="-122"/>
              </a:rPr>
              <a:t>。</a:t>
            </a:r>
            <a:endParaRPr lang="zh-CN" altLang="en-US" sz="2000">
              <a:latin typeface="微软雅黑" panose="020B0503020204020204" pitchFamily="34" charset="-122"/>
            </a:endParaRPr>
          </a:p>
          <a:p>
            <a:r>
              <a:rPr lang="en-US" altLang="zh-CN" sz="2000">
                <a:latin typeface="微软雅黑" panose="020B0503020204020204" pitchFamily="34" charset="-122"/>
              </a:rPr>
              <a:t>• </a:t>
            </a:r>
            <a:r>
              <a:rPr lang="zh-CN" altLang="en-US" sz="2000">
                <a:latin typeface="微软雅黑" panose="020B0503020204020204" pitchFamily="34" charset="-122"/>
              </a:rPr>
              <a:t>提高氮肥惩罚能显著压低总施肥量；过高惩罚或硬阈值惩罚可能导致训练陷入坏局部策略。</a:t>
            </a:r>
            <a:endParaRPr lang="zh-CN" altLang="en-US" sz="2000">
              <a:latin typeface="微软雅黑" panose="020B0503020204020204" pitchFamily="34" charset="-122"/>
            </a:endParaRPr>
          </a:p>
          <a:p>
            <a:r>
              <a:rPr lang="en-US" altLang="zh-CN" sz="2000">
                <a:latin typeface="微软雅黑" panose="020B0503020204020204" pitchFamily="34" charset="-122"/>
              </a:rPr>
              <a:t>• </a:t>
            </a:r>
            <a:r>
              <a:rPr lang="zh-CN" altLang="en-US" sz="2000">
                <a:latin typeface="微软雅黑" panose="020B0503020204020204" pitchFamily="34" charset="-122"/>
              </a:rPr>
              <a:t>灌水成本提高后可进一步压低总灌水，但仍需结合水分胁迫诊断判断是否是合理节水，而不是奖励函数压制过强。</a:t>
            </a:r>
            <a:endParaRPr lang="zh-CN" altLang="en-US" sz="2000">
              <a:latin typeface="微软雅黑" panose="020B0503020204020204" pitchFamily="34" charset="-122"/>
            </a:endParaRPr>
          </a:p>
          <a:p>
            <a:r>
              <a:rPr lang="en-US" altLang="zh-CN" sz="2000">
                <a:latin typeface="微软雅黑" panose="020B0503020204020204" pitchFamily="34" charset="-122"/>
              </a:rPr>
              <a:t>• </a:t>
            </a:r>
            <a:r>
              <a:rPr lang="zh-CN" altLang="en-US" sz="2000">
                <a:latin typeface="微软雅黑" panose="020B0503020204020204" pitchFamily="34" charset="-122"/>
              </a:rPr>
              <a:t>下一步：把灌溉优化从是否少灌升级为是否在缺水期才灌。</a:t>
            </a:r>
            <a:endParaRPr lang="zh-CN" altLang="en-US" sz="2000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82600" y="279400"/>
            <a:ext cx="11176000" cy="4770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500" b="1">
                <a:latin typeface="微软雅黑" panose="020B0503020204020204" pitchFamily="34" charset="-122"/>
              </a:rPr>
              <a:t>五站点灌溉异常：</a:t>
            </a:r>
            <a:r>
              <a:rPr lang="en-US" altLang="zh-CN" sz="2500" b="1">
                <a:latin typeface="微软雅黑" panose="020B0503020204020204" pitchFamily="34" charset="-122"/>
              </a:rPr>
              <a:t>Null </a:t>
            </a:r>
            <a:r>
              <a:rPr lang="zh-CN" altLang="en-US" sz="2500" b="1">
                <a:latin typeface="微软雅黑" panose="020B0503020204020204" pitchFamily="34" charset="-122"/>
              </a:rPr>
              <a:t>为何常常最好</a:t>
            </a:r>
            <a:endParaRPr lang="zh-CN" altLang="en-US" sz="2500" b="1">
              <a:latin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8500" y="1397000"/>
            <a:ext cx="10795000" cy="304609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</a:rPr>
              <a:t>• </a:t>
            </a:r>
            <a:r>
              <a:rPr lang="zh-CN" altLang="en-US" sz="2400">
                <a:latin typeface="微软雅黑" panose="020B0503020204020204" pitchFamily="34" charset="-122"/>
              </a:rPr>
              <a:t>现象：沈阳、禹城、栾城、封丘等站点中，</a:t>
            </a:r>
            <a:r>
              <a:rPr lang="en-US" altLang="zh-CN" sz="2400">
                <a:latin typeface="微软雅黑" panose="020B0503020204020204" pitchFamily="34" charset="-122"/>
              </a:rPr>
              <a:t>Null </a:t>
            </a:r>
            <a:r>
              <a:rPr lang="zh-CN" altLang="en-US" sz="2400">
                <a:latin typeface="微软雅黑" panose="020B0503020204020204" pitchFamily="34" charset="-122"/>
              </a:rPr>
              <a:t>不灌水的 </a:t>
            </a:r>
            <a:r>
              <a:rPr lang="en-US" altLang="zh-CN" sz="2400">
                <a:latin typeface="微软雅黑" panose="020B0503020204020204" pitchFamily="34" charset="-122"/>
              </a:rPr>
              <a:t>reward </a:t>
            </a:r>
            <a:r>
              <a:rPr lang="zh-CN" altLang="en-US" sz="2400">
                <a:latin typeface="微软雅黑" panose="020B0503020204020204" pitchFamily="34" charset="-122"/>
              </a:rPr>
              <a:t>和产量经常高于固定 </a:t>
            </a:r>
            <a:r>
              <a:rPr lang="en-US" altLang="zh-CN" sz="2400">
                <a:latin typeface="微软雅黑" panose="020B0503020204020204" pitchFamily="34" charset="-122"/>
              </a:rPr>
              <a:t>Expert </a:t>
            </a:r>
            <a:r>
              <a:rPr lang="zh-CN" altLang="en-US" sz="2400">
                <a:latin typeface="微软雅黑" panose="020B0503020204020204" pitchFamily="34" charset="-122"/>
              </a:rPr>
              <a:t>灌溉。</a:t>
            </a:r>
            <a:endParaRPr lang="zh-CN" altLang="en-US" sz="2400">
              <a:latin typeface="微软雅黑" panose="020B0503020204020204" pitchFamily="34" charset="-122"/>
            </a:endParaRPr>
          </a:p>
          <a:p>
            <a:r>
              <a:rPr lang="en-US" altLang="zh-CN" sz="2400">
                <a:latin typeface="微软雅黑" panose="020B0503020204020204" pitchFamily="34" charset="-122"/>
              </a:rPr>
              <a:t>• </a:t>
            </a:r>
            <a:r>
              <a:rPr lang="zh-CN" altLang="en-US" sz="2400">
                <a:latin typeface="微软雅黑" panose="020B0503020204020204" pitchFamily="34" charset="-122"/>
              </a:rPr>
              <a:t>代码层面：旧脚本中海伦站 </a:t>
            </a:r>
            <a:r>
              <a:rPr lang="en-US" altLang="zh-CN" sz="2400">
                <a:latin typeface="微软雅黑" panose="020B0503020204020204" pitchFamily="34" charset="-122"/>
              </a:rPr>
              <a:t>swfac/nstres </a:t>
            </a:r>
            <a:r>
              <a:rPr lang="zh-CN" altLang="en-US" sz="2400">
                <a:latin typeface="微软雅黑" panose="020B0503020204020204" pitchFamily="34" charset="-122"/>
              </a:rPr>
              <a:t>实际为 </a:t>
            </a:r>
            <a:r>
              <a:rPr lang="en-US" altLang="zh-CN" sz="2400">
                <a:latin typeface="微软雅黑" panose="020B0503020204020204" pitchFamily="34" charset="-122"/>
              </a:rPr>
              <a:t>NaN</a:t>
            </a:r>
            <a:r>
              <a:rPr lang="zh-CN" altLang="en-US" sz="2400">
                <a:latin typeface="微软雅黑" panose="020B0503020204020204" pitchFamily="34" charset="-122"/>
              </a:rPr>
              <a:t>，不应解释为 </a:t>
            </a:r>
            <a:r>
              <a:rPr lang="en-US" altLang="zh-CN" sz="2400">
                <a:latin typeface="微软雅黑" panose="020B0503020204020204" pitchFamily="34" charset="-122"/>
              </a:rPr>
              <a:t>0</a:t>
            </a:r>
            <a:r>
              <a:rPr lang="zh-CN" altLang="en-US" sz="2400">
                <a:latin typeface="微软雅黑" panose="020B0503020204020204" pitchFamily="34" charset="-122"/>
              </a:rPr>
              <a:t>；部分 </a:t>
            </a:r>
            <a:r>
              <a:rPr lang="en-US" altLang="zh-CN" sz="2400">
                <a:latin typeface="微软雅黑" panose="020B0503020204020204" pitchFamily="34" charset="-122"/>
              </a:rPr>
              <a:t>action_amir </a:t>
            </a:r>
            <a:r>
              <a:rPr lang="zh-CN" altLang="en-US" sz="2400">
                <a:latin typeface="微软雅黑" panose="020B0503020204020204" pitchFamily="34" charset="-122"/>
              </a:rPr>
              <a:t>是归一化动作，不是真实灌水量。</a:t>
            </a:r>
            <a:endParaRPr lang="zh-CN" altLang="en-US" sz="2400">
              <a:latin typeface="微软雅黑" panose="020B0503020204020204" pitchFamily="34" charset="-122"/>
            </a:endParaRPr>
          </a:p>
          <a:p>
            <a:r>
              <a:rPr lang="en-US" altLang="zh-CN" sz="2400">
                <a:latin typeface="微软雅黑" panose="020B0503020204020204" pitchFamily="34" charset="-122"/>
              </a:rPr>
              <a:t>• </a:t>
            </a:r>
            <a:r>
              <a:rPr lang="zh-CN" altLang="en-US" sz="2400">
                <a:latin typeface="微软雅黑" panose="020B0503020204020204" pitchFamily="34" charset="-122"/>
              </a:rPr>
              <a:t>数据层面：若生长季降雨充足或土壤初始含水量高，固定灌溉没有增产边际收益，还会被 </a:t>
            </a:r>
            <a:r>
              <a:rPr lang="en-US" altLang="zh-CN" sz="2400">
                <a:latin typeface="微软雅黑" panose="020B0503020204020204" pitchFamily="34" charset="-122"/>
              </a:rPr>
              <a:t>reward </a:t>
            </a:r>
            <a:r>
              <a:rPr lang="zh-CN" altLang="en-US" sz="2400">
                <a:latin typeface="微软雅黑" panose="020B0503020204020204" pitchFamily="34" charset="-122"/>
              </a:rPr>
              <a:t>水量惩罚扣分。</a:t>
            </a:r>
            <a:endParaRPr lang="zh-CN" altLang="en-US" sz="2400">
              <a:latin typeface="微软雅黑" panose="020B0503020204020204" pitchFamily="34" charset="-122"/>
            </a:endParaRPr>
          </a:p>
          <a:p>
            <a:r>
              <a:rPr lang="en-US" altLang="zh-CN" sz="2400">
                <a:latin typeface="微软雅黑" panose="020B0503020204020204" pitchFamily="34" charset="-122"/>
              </a:rPr>
              <a:t>• </a:t>
            </a:r>
            <a:r>
              <a:rPr lang="zh-CN" altLang="en-US" sz="2400">
                <a:latin typeface="微软雅黑" panose="020B0503020204020204" pitchFamily="34" charset="-122"/>
              </a:rPr>
              <a:t>策略层面：</a:t>
            </a:r>
            <a:r>
              <a:rPr lang="en-US" altLang="zh-CN" sz="2400">
                <a:latin typeface="微软雅黑" panose="020B0503020204020204" pitchFamily="34" charset="-122"/>
              </a:rPr>
              <a:t>Expert </a:t>
            </a:r>
            <a:r>
              <a:rPr lang="zh-CN" altLang="en-US" sz="2400">
                <a:latin typeface="微软雅黑" panose="020B0503020204020204" pitchFamily="34" charset="-122"/>
              </a:rPr>
              <a:t>灌溉日期</a:t>
            </a:r>
            <a:r>
              <a:rPr lang="en-US" altLang="zh-CN" sz="2400">
                <a:latin typeface="微软雅黑" panose="020B0503020204020204" pitchFamily="34" charset="-122"/>
              </a:rPr>
              <a:t>/</a:t>
            </a:r>
            <a:r>
              <a:rPr lang="zh-CN" altLang="en-US" sz="2400">
                <a:latin typeface="微软雅黑" panose="020B0503020204020204" pitchFamily="34" charset="-122"/>
              </a:rPr>
              <a:t>水量固定，不随站点、年份、降雨过程调整，因此不一定是真正专家。</a:t>
            </a:r>
            <a:endParaRPr lang="zh-CN" altLang="en-US" sz="2400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82600" y="279400"/>
            <a:ext cx="11176000" cy="4770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500" b="1">
                <a:latin typeface="微软雅黑" panose="020B0503020204020204" pitchFamily="34" charset="-122"/>
              </a:rPr>
              <a:t>已有五站点旧结果诊断摘要</a:t>
            </a:r>
            <a:endParaRPr lang="zh-CN" altLang="en-US" sz="2500" b="1">
              <a:latin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82600" y="831850"/>
            <a:ext cx="10795000" cy="7067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</a:rPr>
              <a:t>该表来自现有 </a:t>
            </a:r>
            <a:r>
              <a:rPr lang="en-US" altLang="zh-CN" sz="2000">
                <a:latin typeface="微软雅黑" panose="020B0503020204020204" pitchFamily="34" charset="-122"/>
              </a:rPr>
              <a:t>output_*/output_*/irrigation </a:t>
            </a:r>
            <a:r>
              <a:rPr lang="zh-CN" altLang="en-US" sz="2000">
                <a:latin typeface="微软雅黑" panose="020B0503020204020204" pitchFamily="34" charset="-122"/>
              </a:rPr>
              <a:t>结果；海伦旧 </a:t>
            </a:r>
            <a:r>
              <a:rPr lang="en-US" altLang="zh-CN" sz="2000">
                <a:latin typeface="微软雅黑" panose="020B0503020204020204" pitchFamily="34" charset="-122"/>
              </a:rPr>
              <a:t>CSV </a:t>
            </a:r>
            <a:r>
              <a:rPr lang="zh-CN" altLang="en-US" sz="2000">
                <a:latin typeface="微软雅黑" panose="020B0503020204020204" pitchFamily="34" charset="-122"/>
              </a:rPr>
              <a:t>缺少真实灌水量，因此水量标记为 </a:t>
            </a:r>
            <a:r>
              <a:rPr lang="en-US" altLang="zh-CN" sz="2000">
                <a:latin typeface="微软雅黑" panose="020B0503020204020204" pitchFamily="34" charset="-122"/>
              </a:rPr>
              <a:t>missing</a:t>
            </a:r>
            <a:r>
              <a:rPr lang="zh-CN" altLang="en-US" sz="2000">
                <a:latin typeface="微软雅黑" panose="020B0503020204020204" pitchFamily="34" charset="-122"/>
              </a:rPr>
              <a:t>。</a:t>
            </a:r>
            <a:endParaRPr lang="zh-CN" altLang="en-US" sz="2000">
              <a:latin typeface="微软雅黑" panose="020B0503020204020204" pitchFamily="34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381000" y="1714500"/>
          <a:ext cx="11430000" cy="460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5015"/>
                <a:gridCol w="1101090"/>
                <a:gridCol w="1261110"/>
                <a:gridCol w="1141095"/>
                <a:gridCol w="913765"/>
                <a:gridCol w="991870"/>
                <a:gridCol w="972820"/>
                <a:gridCol w="4293235"/>
              </a:tblGrid>
              <a:tr h="31261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>
                          <a:latin typeface="微软雅黑" panose="020B0503020204020204" pitchFamily="34" charset="-122"/>
                        </a:rPr>
                        <a:t>站点</a:t>
                      </a:r>
                      <a:endParaRPr lang="zh-CN" altLang="en-US" sz="1600" b="1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>
                          <a:latin typeface="微软雅黑" panose="020B0503020204020204" pitchFamily="34" charset="-122"/>
                        </a:rPr>
                        <a:t>策略</a:t>
                      </a:r>
                      <a:endParaRPr lang="zh-CN" altLang="en-US" sz="1600" b="1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>
                          <a:latin typeface="微软雅黑" panose="020B0503020204020204" pitchFamily="34" charset="-122"/>
                        </a:rPr>
                        <a:t>回报</a:t>
                      </a:r>
                      <a:endParaRPr lang="zh-CN" altLang="en-US" sz="1600" b="1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>
                          <a:latin typeface="微软雅黑" panose="020B0503020204020204" pitchFamily="34" charset="-122"/>
                        </a:rPr>
                        <a:t>产量</a:t>
                      </a:r>
                      <a:endParaRPr lang="zh-CN" altLang="en-US" sz="1600" b="1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latin typeface="微软雅黑" panose="020B0503020204020204" pitchFamily="34" charset="-122"/>
                        </a:rPr>
                        <a:t>swfac</a:t>
                      </a:r>
                      <a:endParaRPr lang="en-US" altLang="zh-CN" sz="1600" b="1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latin typeface="微软雅黑" panose="020B0503020204020204" pitchFamily="34" charset="-122"/>
                        </a:rPr>
                        <a:t>nstres</a:t>
                      </a:r>
                      <a:endParaRPr lang="en-US" altLang="zh-CN" sz="1600" b="1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>
                          <a:latin typeface="微软雅黑" panose="020B0503020204020204" pitchFamily="34" charset="-122"/>
                        </a:rPr>
                        <a:t>灌水估计</a:t>
                      </a:r>
                      <a:endParaRPr lang="zh-CN" altLang="en-US" sz="1600" b="1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>
                          <a:latin typeface="微软雅黑" panose="020B0503020204020204" pitchFamily="34" charset="-122"/>
                        </a:rPr>
                        <a:t>数据源</a:t>
                      </a:r>
                      <a:endParaRPr lang="zh-CN" altLang="en-US" sz="1600" b="1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</a:tr>
              <a:tr h="3126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FQ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expert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11826.3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6949.1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0.005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50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real_action_amir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</a:tr>
              <a:tr h="3126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FQ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null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12883.5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7050.5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0.004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real_action_amir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</a:tr>
              <a:tr h="3126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HL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expert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377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420.2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missing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</a:tr>
              <a:tr h="3126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HL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null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858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438.6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missing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</a:tr>
              <a:tr h="3126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HL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ppo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-1193.6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363.6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missing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</a:tr>
              <a:tr h="3126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LC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expert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4560.5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3436.8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0.002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0.221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100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real_action_amir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</a:tr>
              <a:tr h="3126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LC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null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6292.3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3569.1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0.224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real_action_amir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</a:tr>
              <a:tr h="3126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SY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expert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4016.9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3157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0.174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100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real_action_amir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</a:tr>
              <a:tr h="3126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SY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null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6060.1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3394.9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0.185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real_action_amir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</a:tr>
              <a:tr h="3126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YC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expert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16119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7187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0.059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50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real_action_amir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</a:tr>
              <a:tr h="3126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YC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null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17321.9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7409.7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0.044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real_action_amir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</a:tr>
              <a:tr h="3126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YC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ppo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17002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7353.3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0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0.048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14.1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</a:rPr>
                        <a:t>real_action_amir</a:t>
                      </a:r>
                      <a:endParaRPr lang="en-US" altLang="zh-CN" sz="1600">
                        <a:latin typeface="微软雅黑" panose="020B0503020204020204" pitchFamily="3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82600" y="279400"/>
            <a:ext cx="11176000" cy="4770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500" b="1">
                <a:latin typeface="微软雅黑" panose="020B0503020204020204" pitchFamily="34" charset="-122"/>
              </a:rPr>
              <a:t>导师目标下的后续路线</a:t>
            </a:r>
            <a:endParaRPr lang="zh-CN" altLang="en-US" sz="2500" b="1">
              <a:latin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8500" y="1397000"/>
            <a:ext cx="10795000" cy="15696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600">
                <a:latin typeface="微软雅黑" panose="020B0503020204020204" pitchFamily="34" charset="-122"/>
              </a:rPr>
              <a:t>• </a:t>
            </a:r>
            <a:r>
              <a:rPr lang="zh-CN" altLang="en-US" sz="1600">
                <a:latin typeface="微软雅黑" panose="020B0503020204020204" pitchFamily="34" charset="-122"/>
              </a:rPr>
              <a:t>湿润</a:t>
            </a:r>
            <a:r>
              <a:rPr lang="en-US" altLang="zh-CN" sz="1600">
                <a:latin typeface="微软雅黑" panose="020B0503020204020204" pitchFamily="34" charset="-122"/>
              </a:rPr>
              <a:t>/</a:t>
            </a:r>
            <a:r>
              <a:rPr lang="zh-CN" altLang="en-US" sz="1600">
                <a:latin typeface="微软雅黑" panose="020B0503020204020204" pitchFamily="34" charset="-122"/>
              </a:rPr>
              <a:t>平衡年份：</a:t>
            </a:r>
            <a:r>
              <a:rPr lang="en-US" altLang="zh-CN" sz="1600">
                <a:latin typeface="微软雅黑" panose="020B0503020204020204" pitchFamily="34" charset="-122"/>
              </a:rPr>
              <a:t>PPO </a:t>
            </a:r>
            <a:r>
              <a:rPr lang="zh-CN" altLang="en-US" sz="1600">
                <a:latin typeface="微软雅黑" panose="020B0503020204020204" pitchFamily="34" charset="-122"/>
              </a:rPr>
              <a:t>应学会接近 </a:t>
            </a:r>
            <a:r>
              <a:rPr lang="en-US" altLang="zh-CN" sz="1600">
                <a:latin typeface="微软雅黑" panose="020B0503020204020204" pitchFamily="34" charset="-122"/>
              </a:rPr>
              <a:t>Null </a:t>
            </a:r>
            <a:r>
              <a:rPr lang="zh-CN" altLang="en-US" sz="1600">
                <a:latin typeface="微软雅黑" panose="020B0503020204020204" pitchFamily="34" charset="-122"/>
              </a:rPr>
              <a:t>的少灌水策略，同时保持产量，这本身就是节水优化结果。</a:t>
            </a:r>
            <a:endParaRPr lang="zh-CN" altLang="en-US" sz="1600">
              <a:latin typeface="微软雅黑" panose="020B0503020204020204" pitchFamily="34" charset="-122"/>
            </a:endParaRPr>
          </a:p>
          <a:p>
            <a:r>
              <a:rPr lang="en-US" altLang="zh-CN" sz="1600">
                <a:latin typeface="微软雅黑" panose="020B0503020204020204" pitchFamily="34" charset="-122"/>
              </a:rPr>
              <a:t>• </a:t>
            </a:r>
            <a:r>
              <a:rPr lang="zh-CN" altLang="en-US" sz="1600">
                <a:latin typeface="微软雅黑" panose="020B0503020204020204" pitchFamily="34" charset="-122"/>
              </a:rPr>
              <a:t>缺水年份</a:t>
            </a:r>
            <a:r>
              <a:rPr lang="en-US" altLang="zh-CN" sz="1600">
                <a:latin typeface="微软雅黑" panose="020B0503020204020204" pitchFamily="34" charset="-122"/>
              </a:rPr>
              <a:t>/</a:t>
            </a:r>
            <a:r>
              <a:rPr lang="zh-CN" altLang="en-US" sz="1600">
                <a:latin typeface="微软雅黑" panose="020B0503020204020204" pitchFamily="34" charset="-122"/>
              </a:rPr>
              <a:t>站点：</a:t>
            </a:r>
            <a:r>
              <a:rPr lang="en-US" altLang="zh-CN" sz="1600">
                <a:latin typeface="微软雅黑" panose="020B0503020204020204" pitchFamily="34" charset="-122"/>
              </a:rPr>
              <a:t>PPO </a:t>
            </a:r>
            <a:r>
              <a:rPr lang="zh-CN" altLang="en-US" sz="1600">
                <a:latin typeface="微软雅黑" panose="020B0503020204020204" pitchFamily="34" charset="-122"/>
              </a:rPr>
              <a:t>应优于 </a:t>
            </a:r>
            <a:r>
              <a:rPr lang="en-US" altLang="zh-CN" sz="1600">
                <a:latin typeface="微软雅黑" panose="020B0503020204020204" pitchFamily="34" charset="-122"/>
              </a:rPr>
              <a:t>Null </a:t>
            </a:r>
            <a:r>
              <a:rPr lang="zh-CN" altLang="en-US" sz="1600">
                <a:latin typeface="微软雅黑" panose="020B0503020204020204" pitchFamily="34" charset="-122"/>
              </a:rPr>
              <a:t>的产量，并比固定 </a:t>
            </a:r>
            <a:r>
              <a:rPr lang="en-US" altLang="zh-CN" sz="1600">
                <a:latin typeface="微软雅黑" panose="020B0503020204020204" pitchFamily="34" charset="-122"/>
              </a:rPr>
              <a:t>Expert </a:t>
            </a:r>
            <a:r>
              <a:rPr lang="zh-CN" altLang="en-US" sz="1600">
                <a:latin typeface="微软雅黑" panose="020B0503020204020204" pitchFamily="34" charset="-122"/>
              </a:rPr>
              <a:t>更少水或更高综合 </a:t>
            </a:r>
            <a:r>
              <a:rPr lang="en-US" altLang="zh-CN" sz="1600">
                <a:latin typeface="微软雅黑" panose="020B0503020204020204" pitchFamily="34" charset="-122"/>
              </a:rPr>
              <a:t>reward</a:t>
            </a:r>
            <a:r>
              <a:rPr lang="zh-CN" altLang="en-US" sz="1600">
                <a:latin typeface="微软雅黑" panose="020B0503020204020204" pitchFamily="34" charset="-122"/>
              </a:rPr>
              <a:t>。</a:t>
            </a:r>
            <a:endParaRPr lang="zh-CN" altLang="en-US" sz="1600">
              <a:latin typeface="微软雅黑" panose="020B0503020204020204" pitchFamily="34" charset="-122"/>
            </a:endParaRPr>
          </a:p>
          <a:p>
            <a:r>
              <a:rPr lang="en-US" altLang="zh-CN" sz="1600">
                <a:latin typeface="微软雅黑" panose="020B0503020204020204" pitchFamily="34" charset="-122"/>
              </a:rPr>
              <a:t>• </a:t>
            </a:r>
            <a:r>
              <a:rPr lang="zh-CN" altLang="en-US" sz="1600">
                <a:latin typeface="微软雅黑" panose="020B0503020204020204" pitchFamily="34" charset="-122"/>
              </a:rPr>
              <a:t>预报接入：第一阶段使用历史天气构造完美预报特征，如未来 </a:t>
            </a:r>
            <a:r>
              <a:rPr lang="en-US" altLang="zh-CN" sz="1600">
                <a:latin typeface="微软雅黑" panose="020B0503020204020204" pitchFamily="34" charset="-122"/>
              </a:rPr>
              <a:t>3/7/14 </a:t>
            </a:r>
            <a:r>
              <a:rPr lang="zh-CN" altLang="en-US" sz="1600">
                <a:latin typeface="微软雅黑" panose="020B0503020204020204" pitchFamily="34" charset="-122"/>
              </a:rPr>
              <a:t>天降雨、温度、辐射统计；第二阶段替换为真实天气预报。</a:t>
            </a:r>
            <a:endParaRPr lang="zh-CN" altLang="en-US" sz="1600">
              <a:latin typeface="微软雅黑" panose="020B0503020204020204" pitchFamily="34" charset="-122"/>
            </a:endParaRPr>
          </a:p>
          <a:p>
            <a:r>
              <a:rPr lang="en-US" altLang="zh-CN" sz="1600">
                <a:latin typeface="微软雅黑" panose="020B0503020204020204" pitchFamily="34" charset="-122"/>
              </a:rPr>
              <a:t>• </a:t>
            </a:r>
            <a:r>
              <a:rPr lang="zh-CN" altLang="en-US" sz="1600">
                <a:latin typeface="微软雅黑" panose="020B0503020204020204" pitchFamily="34" charset="-122"/>
              </a:rPr>
              <a:t>正式论文指标：</a:t>
            </a:r>
            <a:r>
              <a:rPr lang="en-US" altLang="zh-CN" sz="1600">
                <a:latin typeface="微软雅黑" panose="020B0503020204020204" pitchFamily="34" charset="-122"/>
              </a:rPr>
              <a:t>TRNU</a:t>
            </a:r>
            <a:r>
              <a:rPr lang="zh-CN" altLang="en-US" sz="1600">
                <a:latin typeface="微软雅黑" panose="020B0503020204020204" pitchFamily="34" charset="-122"/>
              </a:rPr>
              <a:t>、产量、总施肥、总灌水、</a:t>
            </a:r>
            <a:r>
              <a:rPr lang="en-US" altLang="zh-CN" sz="1600">
                <a:latin typeface="微软雅黑" panose="020B0503020204020204" pitchFamily="34" charset="-122"/>
              </a:rPr>
              <a:t>swfac/turfac </a:t>
            </a:r>
            <a:r>
              <a:rPr lang="zh-CN" altLang="en-US" sz="1600">
                <a:latin typeface="微软雅黑" panose="020B0503020204020204" pitchFamily="34" charset="-122"/>
              </a:rPr>
              <a:t>胁迫天数、氮胁迫 </a:t>
            </a:r>
            <a:r>
              <a:rPr lang="en-US" altLang="zh-CN" sz="1600">
                <a:latin typeface="微软雅黑" panose="020B0503020204020204" pitchFamily="34" charset="-122"/>
              </a:rPr>
              <a:t>nstres</a:t>
            </a:r>
            <a:r>
              <a:rPr lang="zh-CN" altLang="en-US" sz="1600">
                <a:latin typeface="微软雅黑" panose="020B0503020204020204" pitchFamily="34" charset="-122"/>
              </a:rPr>
              <a:t>、</a:t>
            </a:r>
            <a:r>
              <a:rPr lang="en-US" altLang="zh-CN" sz="1600">
                <a:latin typeface="微软雅黑" panose="020B0503020204020204" pitchFamily="34" charset="-122"/>
              </a:rPr>
              <a:t>runoff/cleach </a:t>
            </a:r>
            <a:r>
              <a:rPr lang="zh-CN" altLang="en-US" sz="1600">
                <a:latin typeface="微软雅黑" panose="020B0503020204020204" pitchFamily="34" charset="-122"/>
              </a:rPr>
              <a:t>等环境指标。</a:t>
            </a:r>
            <a:endParaRPr lang="zh-CN" altLang="en-US" sz="1600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82600" y="279400"/>
            <a:ext cx="11176000" cy="4770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500" b="1">
                <a:latin typeface="微软雅黑" panose="020B0503020204020204" pitchFamily="34" charset="-122"/>
              </a:rPr>
              <a:t>下一步：五站点水分胁迫诊断</a:t>
            </a:r>
            <a:endParaRPr lang="zh-CN" altLang="en-US" sz="2500" b="1">
              <a:latin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8500" y="1397000"/>
            <a:ext cx="10795000" cy="15696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600">
                <a:latin typeface="微软雅黑" panose="020B0503020204020204" pitchFamily="34" charset="-122"/>
              </a:rPr>
              <a:t>• </a:t>
            </a:r>
            <a:r>
              <a:rPr lang="zh-CN" altLang="en-US" sz="1600">
                <a:latin typeface="微软雅黑" panose="020B0503020204020204" pitchFamily="34" charset="-122"/>
              </a:rPr>
              <a:t>输入文件：</a:t>
            </a:r>
            <a:r>
              <a:rPr lang="en-US" altLang="zh-CN" sz="1600">
                <a:latin typeface="微软雅黑" panose="020B0503020204020204" pitchFamily="34" charset="-122"/>
              </a:rPr>
              <a:t>my_data </a:t>
            </a:r>
            <a:r>
              <a:rPr lang="zh-CN" altLang="en-US" sz="1600">
                <a:latin typeface="微软雅黑" panose="020B0503020204020204" pitchFamily="34" charset="-122"/>
              </a:rPr>
              <a:t>中不带 </a:t>
            </a:r>
            <a:r>
              <a:rPr lang="en-US" altLang="zh-CN" sz="1600">
                <a:latin typeface="微软雅黑" panose="020B0503020204020204" pitchFamily="34" charset="-122"/>
              </a:rPr>
              <a:t>(1) </a:t>
            </a:r>
            <a:r>
              <a:rPr lang="zh-CN" altLang="en-US" sz="1600">
                <a:latin typeface="微软雅黑" panose="020B0503020204020204" pitchFamily="34" charset="-122"/>
              </a:rPr>
              <a:t>的 </a:t>
            </a:r>
            <a:r>
              <a:rPr lang="en-US" altLang="zh-CN" sz="1600">
                <a:latin typeface="微软雅黑" panose="020B0503020204020204" pitchFamily="34" charset="-122"/>
              </a:rPr>
              <a:t>UFGA8201-FQ/HL/LC/SY/YC.jinja2</a:t>
            </a:r>
            <a:r>
              <a:rPr lang="zh-CN" altLang="en-US" sz="1600">
                <a:latin typeface="微软雅黑" panose="020B0503020204020204" pitchFamily="34" charset="-122"/>
              </a:rPr>
              <a:t>、对应 </a:t>
            </a:r>
            <a:r>
              <a:rPr lang="en-US" altLang="zh-CN" sz="1600">
                <a:latin typeface="微软雅黑" panose="020B0503020204020204" pitchFamily="34" charset="-122"/>
              </a:rPr>
              <a:t>WTH</a:t>
            </a:r>
            <a:r>
              <a:rPr lang="zh-CN" altLang="en-US" sz="1600">
                <a:latin typeface="微软雅黑" panose="020B0503020204020204" pitchFamily="34" charset="-122"/>
              </a:rPr>
              <a:t>、对应 </a:t>
            </a:r>
            <a:r>
              <a:rPr lang="en-US" altLang="zh-CN" sz="1600">
                <a:latin typeface="微软雅黑" panose="020B0503020204020204" pitchFamily="34" charset="-122"/>
              </a:rPr>
              <a:t>SOL</a:t>
            </a:r>
            <a:r>
              <a:rPr lang="zh-CN" altLang="en-US" sz="1600">
                <a:latin typeface="微软雅黑" panose="020B0503020204020204" pitchFamily="34" charset="-122"/>
              </a:rPr>
              <a:t>、</a:t>
            </a:r>
            <a:r>
              <a:rPr lang="en-US" altLang="zh-CN" sz="1600">
                <a:latin typeface="微软雅黑" panose="020B0503020204020204" pitchFamily="34" charset="-122"/>
              </a:rPr>
              <a:t>MZCER048.CUL</a:t>
            </a:r>
            <a:r>
              <a:rPr lang="zh-CN" altLang="en-US" sz="1600">
                <a:latin typeface="微软雅黑" panose="020B0503020204020204" pitchFamily="34" charset="-122"/>
              </a:rPr>
              <a:t>。</a:t>
            </a:r>
            <a:endParaRPr lang="zh-CN" altLang="en-US" sz="1600">
              <a:latin typeface="微软雅黑" panose="020B0503020204020204" pitchFamily="34" charset="-122"/>
            </a:endParaRPr>
          </a:p>
          <a:p>
            <a:r>
              <a:rPr lang="en-US" altLang="zh-CN" sz="1600">
                <a:latin typeface="微软雅黑" panose="020B0503020204020204" pitchFamily="34" charset="-122"/>
              </a:rPr>
              <a:t>• </a:t>
            </a:r>
            <a:r>
              <a:rPr lang="zh-CN" altLang="en-US" sz="1600">
                <a:latin typeface="微软雅黑" panose="020B0503020204020204" pitchFamily="34" charset="-122"/>
              </a:rPr>
              <a:t>输出表：</a:t>
            </a:r>
            <a:r>
              <a:rPr lang="en-US" altLang="zh-CN" sz="1600">
                <a:latin typeface="微软雅黑" panose="020B0503020204020204" pitchFamily="34" charset="-122"/>
              </a:rPr>
              <a:t>PRCP</a:t>
            </a:r>
            <a:r>
              <a:rPr lang="zh-CN" altLang="en-US" sz="1600">
                <a:latin typeface="微软雅黑" panose="020B0503020204020204" pitchFamily="34" charset="-122"/>
              </a:rPr>
              <a:t>、</a:t>
            </a:r>
            <a:r>
              <a:rPr lang="en-US" altLang="zh-CN" sz="1600">
                <a:latin typeface="微软雅黑" panose="020B0503020204020204" pitchFamily="34" charset="-122"/>
              </a:rPr>
              <a:t>ETCP</a:t>
            </a:r>
            <a:r>
              <a:rPr lang="zh-CN" altLang="en-US" sz="1600">
                <a:latin typeface="微软雅黑" panose="020B0503020204020204" pitchFamily="34" charset="-122"/>
              </a:rPr>
              <a:t>、</a:t>
            </a:r>
            <a:r>
              <a:rPr lang="en-US" altLang="zh-CN" sz="1600">
                <a:latin typeface="微软雅黑" panose="020B0503020204020204" pitchFamily="34" charset="-122"/>
              </a:rPr>
              <a:t>PRCP-ETCP</a:t>
            </a:r>
            <a:r>
              <a:rPr lang="zh-CN" altLang="en-US" sz="1600">
                <a:latin typeface="微软雅黑" panose="020B0503020204020204" pitchFamily="34" charset="-122"/>
              </a:rPr>
              <a:t>、</a:t>
            </a:r>
            <a:r>
              <a:rPr lang="en-US" altLang="zh-CN" sz="1600">
                <a:latin typeface="微软雅黑" panose="020B0503020204020204" pitchFamily="34" charset="-122"/>
              </a:rPr>
              <a:t>swfac/turfac </a:t>
            </a:r>
            <a:r>
              <a:rPr lang="zh-CN" altLang="en-US" sz="1600">
                <a:latin typeface="微软雅黑" panose="020B0503020204020204" pitchFamily="34" charset="-122"/>
              </a:rPr>
              <a:t>胁迫天数、最小 </a:t>
            </a:r>
            <a:r>
              <a:rPr lang="en-US" altLang="zh-CN" sz="1600">
                <a:latin typeface="微软雅黑" panose="020B0503020204020204" pitchFamily="34" charset="-122"/>
              </a:rPr>
              <a:t>swfac</a:t>
            </a:r>
            <a:r>
              <a:rPr lang="zh-CN" altLang="en-US" sz="1600">
                <a:latin typeface="微软雅黑" panose="020B0503020204020204" pitchFamily="34" charset="-122"/>
              </a:rPr>
              <a:t>、平均 </a:t>
            </a:r>
            <a:r>
              <a:rPr lang="en-US" altLang="zh-CN" sz="1600">
                <a:latin typeface="微软雅黑" panose="020B0503020204020204" pitchFamily="34" charset="-122"/>
              </a:rPr>
              <a:t>nstres</a:t>
            </a:r>
            <a:r>
              <a:rPr lang="zh-CN" altLang="en-US" sz="1600">
                <a:latin typeface="微软雅黑" panose="020B0503020204020204" pitchFamily="34" charset="-122"/>
              </a:rPr>
              <a:t>、产量、</a:t>
            </a:r>
            <a:r>
              <a:rPr lang="en-US" altLang="zh-CN" sz="1600">
                <a:latin typeface="微软雅黑" panose="020B0503020204020204" pitchFamily="34" charset="-122"/>
              </a:rPr>
              <a:t>Null/Expert </a:t>
            </a:r>
            <a:r>
              <a:rPr lang="zh-CN" altLang="en-US" sz="1600">
                <a:latin typeface="微软雅黑" panose="020B0503020204020204" pitchFamily="34" charset="-122"/>
              </a:rPr>
              <a:t>灌水量。</a:t>
            </a:r>
            <a:endParaRPr lang="zh-CN" altLang="en-US" sz="1600">
              <a:latin typeface="微软雅黑" panose="020B0503020204020204" pitchFamily="34" charset="-122"/>
            </a:endParaRPr>
          </a:p>
          <a:p>
            <a:r>
              <a:rPr lang="en-US" altLang="zh-CN" sz="1600">
                <a:latin typeface="微软雅黑" panose="020B0503020204020204" pitchFamily="34" charset="-122"/>
              </a:rPr>
              <a:t>• </a:t>
            </a:r>
            <a:r>
              <a:rPr lang="zh-CN" altLang="en-US" sz="1600">
                <a:latin typeface="微软雅黑" panose="020B0503020204020204" pitchFamily="34" charset="-122"/>
              </a:rPr>
              <a:t>判断标准：若某站点 </a:t>
            </a:r>
            <a:r>
              <a:rPr lang="en-US" altLang="zh-CN" sz="1600">
                <a:latin typeface="微软雅黑" panose="020B0503020204020204" pitchFamily="34" charset="-122"/>
              </a:rPr>
              <a:t>PRCP&lt;ETCP </a:t>
            </a:r>
            <a:r>
              <a:rPr lang="zh-CN" altLang="en-US" sz="1600">
                <a:latin typeface="微软雅黑" panose="020B0503020204020204" pitchFamily="34" charset="-122"/>
              </a:rPr>
              <a:t>且 </a:t>
            </a:r>
            <a:r>
              <a:rPr lang="en-US" altLang="zh-CN" sz="1600">
                <a:latin typeface="微软雅黑" panose="020B0503020204020204" pitchFamily="34" charset="-122"/>
              </a:rPr>
              <a:t>DSSAT </a:t>
            </a:r>
            <a:r>
              <a:rPr lang="zh-CN" altLang="en-US" sz="1600">
                <a:latin typeface="微软雅黑" panose="020B0503020204020204" pitchFamily="34" charset="-122"/>
              </a:rPr>
              <a:t>胁迫天数明显，但 </a:t>
            </a:r>
            <a:r>
              <a:rPr lang="en-US" altLang="zh-CN" sz="1600">
                <a:latin typeface="微软雅黑" panose="020B0503020204020204" pitchFamily="34" charset="-122"/>
              </a:rPr>
              <a:t>Null </a:t>
            </a:r>
            <a:r>
              <a:rPr lang="zh-CN" altLang="en-US" sz="1600">
                <a:latin typeface="微软雅黑" panose="020B0503020204020204" pitchFamily="34" charset="-122"/>
              </a:rPr>
              <a:t>仍最好，则优先检查初始土壤水、灌溉动作、</a:t>
            </a:r>
            <a:r>
              <a:rPr lang="en-US" altLang="zh-CN" sz="1600">
                <a:latin typeface="微软雅黑" panose="020B0503020204020204" pitchFamily="34" charset="-122"/>
              </a:rPr>
              <a:t>reward </a:t>
            </a:r>
            <a:r>
              <a:rPr lang="zh-CN" altLang="en-US" sz="1600">
                <a:latin typeface="微软雅黑" panose="020B0503020204020204" pitchFamily="34" charset="-122"/>
              </a:rPr>
              <a:t>与输出记录。</a:t>
            </a:r>
            <a:endParaRPr lang="zh-CN" altLang="en-US" sz="1600">
              <a:latin typeface="微软雅黑" panose="020B0503020204020204" pitchFamily="34" charset="-122"/>
            </a:endParaRPr>
          </a:p>
          <a:p>
            <a:r>
              <a:rPr lang="en-US" altLang="zh-CN" sz="1600">
                <a:latin typeface="微软雅黑" panose="020B0503020204020204" pitchFamily="34" charset="-122"/>
              </a:rPr>
              <a:t>• </a:t>
            </a:r>
            <a:r>
              <a:rPr lang="zh-CN" altLang="en-US" sz="1600">
                <a:latin typeface="微软雅黑" panose="020B0503020204020204" pitchFamily="34" charset="-122"/>
              </a:rPr>
              <a:t>若五站点均无明显水分胁迫，则新增干旱情景或寻找干旱年份，作为灌溉策略能力验证场景。</a:t>
            </a:r>
            <a:endParaRPr lang="zh-CN" altLang="en-US" sz="1600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82600" y="279400"/>
            <a:ext cx="11176000" cy="4770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500" b="1">
                <a:latin typeface="微软雅黑" panose="020B0503020204020204" pitchFamily="34" charset="-122"/>
              </a:rPr>
              <a:t>文件索引</a:t>
            </a:r>
            <a:endParaRPr lang="zh-CN" altLang="en-US" sz="2500" b="1">
              <a:latin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8500" y="1422400"/>
            <a:ext cx="10795000" cy="124649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500">
                <a:latin typeface="微软雅黑" panose="020B0503020204020204" pitchFamily="34" charset="-122"/>
              </a:rPr>
              <a:t>• </a:t>
            </a:r>
            <a:r>
              <a:rPr lang="zh-CN" altLang="en-US" sz="1500">
                <a:latin typeface="微软雅黑" panose="020B0503020204020204" pitchFamily="34" charset="-122"/>
              </a:rPr>
              <a:t>参数排序：</a:t>
            </a:r>
            <a:r>
              <a:rPr lang="en-US" altLang="zh-CN" sz="1500">
                <a:latin typeface="微软雅黑" panose="020B0503020204020204" pitchFamily="34" charset="-122"/>
              </a:rPr>
              <a:t>output_hl/all_reward_sweep/combined_ppo_ranking.csv</a:t>
            </a:r>
            <a:endParaRPr lang="en-US" altLang="zh-CN" sz="1500">
              <a:latin typeface="微软雅黑" panose="020B0503020204020204" pitchFamily="34" charset="-122"/>
            </a:endParaRPr>
          </a:p>
          <a:p>
            <a:r>
              <a:rPr lang="en-US" altLang="zh-CN" sz="1500">
                <a:latin typeface="微软雅黑" panose="020B0503020204020204" pitchFamily="34" charset="-122"/>
              </a:rPr>
              <a:t>• </a:t>
            </a:r>
            <a:r>
              <a:rPr lang="zh-CN" altLang="en-US" sz="1500">
                <a:latin typeface="微软雅黑" panose="020B0503020204020204" pitchFamily="34" charset="-122"/>
              </a:rPr>
              <a:t>灌溉异常说明：</a:t>
            </a:r>
            <a:r>
              <a:rPr lang="en-US" altLang="zh-CN" sz="1500">
                <a:latin typeface="微软雅黑" panose="020B0503020204020204" pitchFamily="34" charset="-122"/>
              </a:rPr>
              <a:t>docs/irrigation_null_expert_analysis.md</a:t>
            </a:r>
            <a:endParaRPr lang="en-US" altLang="zh-CN" sz="1500">
              <a:latin typeface="微软雅黑" panose="020B0503020204020204" pitchFamily="34" charset="-122"/>
            </a:endParaRPr>
          </a:p>
          <a:p>
            <a:r>
              <a:rPr lang="en-US" altLang="zh-CN" sz="1500">
                <a:latin typeface="微软雅黑" panose="020B0503020204020204" pitchFamily="34" charset="-122"/>
              </a:rPr>
              <a:t>• </a:t>
            </a:r>
            <a:r>
              <a:rPr lang="zh-CN" altLang="en-US" sz="1500">
                <a:latin typeface="微软雅黑" panose="020B0503020204020204" pitchFamily="34" charset="-122"/>
              </a:rPr>
              <a:t>多站点新增脚本：</a:t>
            </a:r>
            <a:r>
              <a:rPr lang="en-US" altLang="zh-CN" sz="1500">
                <a:latin typeface="微软雅黑" panose="020B0503020204020204" pitchFamily="34" charset="-122"/>
              </a:rPr>
              <a:t>train_hl_all_multisite.py</a:t>
            </a:r>
            <a:r>
              <a:rPr lang="zh-CN" altLang="en-US" sz="1500">
                <a:latin typeface="微软雅黑" panose="020B0503020204020204" pitchFamily="34" charset="-122"/>
              </a:rPr>
              <a:t>、</a:t>
            </a:r>
            <a:r>
              <a:rPr lang="en-US" altLang="zh-CN" sz="1500">
                <a:latin typeface="微软雅黑" panose="020B0503020204020204" pitchFamily="34" charset="-122"/>
              </a:rPr>
              <a:t>evaluate_hl_all_multisite.py</a:t>
            </a:r>
            <a:r>
              <a:rPr lang="zh-CN" altLang="en-US" sz="1500">
                <a:latin typeface="微软雅黑" panose="020B0503020204020204" pitchFamily="34" charset="-122"/>
              </a:rPr>
              <a:t>、</a:t>
            </a:r>
            <a:r>
              <a:rPr lang="en-US" altLang="zh-CN" sz="1500">
                <a:latin typeface="微软雅黑" panose="020B0503020204020204" pitchFamily="34" charset="-122"/>
              </a:rPr>
              <a:t>dssat_site_config.py</a:t>
            </a:r>
            <a:endParaRPr lang="en-US" altLang="zh-CN" sz="1500">
              <a:latin typeface="微软雅黑" panose="020B0503020204020204" pitchFamily="34" charset="-122"/>
            </a:endParaRPr>
          </a:p>
          <a:p>
            <a:r>
              <a:rPr lang="en-US" altLang="zh-CN" sz="1500">
                <a:latin typeface="微软雅黑" panose="020B0503020204020204" pitchFamily="34" charset="-122"/>
              </a:rPr>
              <a:t>• </a:t>
            </a:r>
            <a:r>
              <a:rPr lang="zh-CN" altLang="en-US" sz="1500">
                <a:latin typeface="微软雅黑" panose="020B0503020204020204" pitchFamily="34" charset="-122"/>
              </a:rPr>
              <a:t>旧结果诊断：</a:t>
            </a:r>
            <a:r>
              <a:rPr lang="en-US" altLang="zh-CN" sz="1500">
                <a:latin typeface="微软雅黑" panose="020B0503020204020204" pitchFamily="34" charset="-122"/>
              </a:rPr>
              <a:t>analyze_irrigation_outputs.py</a:t>
            </a:r>
            <a:r>
              <a:rPr lang="zh-CN" altLang="en-US" sz="1500">
                <a:latin typeface="微软雅黑" panose="020B0503020204020204" pitchFamily="34" charset="-122"/>
              </a:rPr>
              <a:t>、</a:t>
            </a:r>
            <a:r>
              <a:rPr lang="en-US" altLang="zh-CN" sz="1500">
                <a:latin typeface="微软雅黑" panose="020B0503020204020204" pitchFamily="34" charset="-122"/>
              </a:rPr>
              <a:t>output_hl/diagnostics/irrigation_policy_summary.csv</a:t>
            </a:r>
            <a:endParaRPr lang="en-US" altLang="zh-CN" sz="1500">
              <a:latin typeface="微软雅黑" panose="020B0503020204020204" pitchFamily="34" charset="-122"/>
            </a:endParaRPr>
          </a:p>
          <a:p>
            <a:r>
              <a:rPr lang="en-US" altLang="zh-CN" sz="1500">
                <a:latin typeface="微软雅黑" panose="020B0503020204020204" pitchFamily="34" charset="-122"/>
              </a:rPr>
              <a:t>• </a:t>
            </a:r>
            <a:r>
              <a:rPr lang="zh-CN" altLang="en-US" sz="1500">
                <a:latin typeface="微软雅黑" panose="020B0503020204020204" pitchFamily="34" charset="-122"/>
              </a:rPr>
              <a:t>本 </a:t>
            </a:r>
            <a:r>
              <a:rPr lang="en-US" altLang="zh-CN" sz="1500">
                <a:latin typeface="微软雅黑" panose="020B0503020204020204" pitchFamily="34" charset="-122"/>
              </a:rPr>
              <a:t>PPT </a:t>
            </a:r>
            <a:r>
              <a:rPr lang="zh-CN" altLang="en-US" sz="1500">
                <a:latin typeface="微软雅黑" panose="020B0503020204020204" pitchFamily="34" charset="-122"/>
              </a:rPr>
              <a:t>源脚本：</a:t>
            </a:r>
            <a:r>
              <a:rPr lang="en-US" altLang="zh-CN" sz="1500">
                <a:latin typeface="微软雅黑" panose="020B0503020204020204" pitchFamily="34" charset="-122"/>
              </a:rPr>
              <a:t>tools/create_experiment_record_ppt.ps1</a:t>
            </a:r>
            <a:endParaRPr lang="zh-CN" altLang="en-US" sz="1500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3377</Words>
  <Application>WPS 演示</Application>
  <PresentationFormat>宽屏</PresentationFormat>
  <Paragraphs>369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宋体</vt:lpstr>
      <vt:lpstr>Wingdings</vt:lpstr>
      <vt:lpstr>微软雅黑</vt:lpstr>
      <vt:lpstr>等线</vt:lpstr>
      <vt:lpstr>Arial Unicode MS</vt:lpstr>
      <vt:lpstr>等线 Light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雨秋 杜</dc:creator>
  <cp:lastModifiedBy>网美目目分</cp:lastModifiedBy>
  <cp:revision>8</cp:revision>
  <dcterms:created xsi:type="dcterms:W3CDTF">2026-06-01T07:52:00Z</dcterms:created>
  <dcterms:modified xsi:type="dcterms:W3CDTF">2026-06-01T11:01:36Z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8771C01F71DC4F4598B466040E86142E_12</vt:lpwstr>
  </property>
</Properties>
</file>