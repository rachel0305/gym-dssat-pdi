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33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2C824-FA94-C366-B1B7-D942C979A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7A9747-5631-E48B-D692-9E97E36C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755AA4-0026-4316-BAB0-C52B5B5F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7398E4-F7CE-6143-91C1-2E33C198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88F267-D859-7C9E-F98A-44485BA5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41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387A4-378B-9D43-4F63-89F121450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C5D4F-37CE-099E-525C-7E36BA6D4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63D9B6-97A7-6431-7C1F-B2559BF3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A43212-1071-6E63-9D5A-A0CB723CE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E5144A-D426-350F-5102-4125D617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36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71082-56D8-028B-0EB6-D102EC34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830DDA-7D90-B518-9392-9998FD48E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F3361C-3714-AF00-5B6E-92B7ED649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8E935C-228A-FF0A-BFB9-1586C724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2A3ED2-CB97-8C3F-6906-0ED91536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62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4CD04-3E0D-FC29-067D-8FD76ABDC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CB54F3-F475-6816-9FBC-45C312153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478EB8-F240-B936-6F27-A433283D9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F57C15-CC19-69A5-6D93-03FD1650E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FE0FE9-F72F-F332-FA10-7FBD9563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3FCC6-ABBC-97AA-E21E-32552B72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8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518B1-73A9-8BF4-8D7A-75E5CE29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F617F2-9500-1205-609F-4D23673C6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E5D7D5-4AF7-2A16-5342-C9007B3FF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7326D9-FBD1-0CC4-99A0-5DE319965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39D8DB-682A-0A1F-AE0C-F729C028C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A30BD8-5CF5-2E8E-1CB7-507E98A33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FFE526-4D7B-3416-EB8D-099AC47A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DCC5EE-25DD-5E90-FD31-93C2F53A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267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CF7EF-8C88-E0C7-72D9-696EF941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AC53B6-B357-8523-BA73-C2492D5C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E9A4B13-AA7B-D610-050C-FE8E3B266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2C2A09-E5A8-EA29-09C2-4A81B661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01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BF3E9F-6831-894B-7F8A-D201C6E8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DA9229-A101-BBBE-53F8-C655BA3F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584B3-D1CD-9BF9-9EF0-7D9A82C85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460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417A1-9D7C-69E4-D93B-0736B9EB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6F34E9-C69E-4CE4-DAD3-BA896B22D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71AC65-FDD5-20E5-7FD9-1C65730C2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F74130-C648-4883-9225-C12C3124D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F8A48D-DEA0-D516-147F-AD69F71A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81F539-D466-4DD7-7E4C-EB4EE100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636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100B4-D486-2AF7-2C7A-48A9A943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D565CD-AD19-4B56-1A4D-A9CC4945D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D9822B-2466-CD56-BDFD-B948C1CC8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D06C20-5948-CB10-3AB1-1803D192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AA6C48-AE99-540C-81E4-B3C6F9D1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6C850A-6D4A-11FC-960B-C4308838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92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5797F-A42F-FBE2-2C5F-3B7E503C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AAA997-387B-4C58-FB0C-8FAD2CDE6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796ADE-0A46-C237-FA24-E2BAC847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E1BB69-EA1E-D971-5528-F9C44ECD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515812-CB5F-52B8-A7C0-E7B999CE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57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A2CADA-A73A-01B9-C3E1-53C940133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CF3317-C164-3B52-8E69-C369692BD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236AFE-C88D-7DF5-5DE3-D77E0A0C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1239C2-F9ED-D047-449D-843AAC1D6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C74D56-DF54-E067-79C9-7C1A7C5E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0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3ED6B3-EFBE-3C97-B88B-14F545D0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3583A9-98D3-A385-8B93-649F545CD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63F6D-C487-FA54-C6BC-44E6A1B96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6DCC9-2BB8-4719-A43F-29A3B137C521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0A46D9-9239-EE73-871A-D1AE738C4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ED9FB9-5E62-AD01-2469-A37DEC9D2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6FEFE-423E-4393-9EFF-C7F145082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38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41FCCE-BA51-773B-4B6D-519790DD04F6}"/>
              </a:ext>
            </a:extLst>
          </p:cNvPr>
          <p:cNvSpPr txBox="1"/>
          <p:nvPr/>
        </p:nvSpPr>
        <p:spPr>
          <a:xfrm>
            <a:off x="762000" y="13970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131C2B"/>
                </a:solidFill>
                <a:latin typeface="Microsoft YaHei" panose="020B0503020204020204" pitchFamily="34" charset="-122"/>
              </a:rPr>
              <a:t>施肥 </a:t>
            </a:r>
            <a:r>
              <a:rPr lang="en-US" altLang="zh-CN" sz="3200" b="1">
                <a:solidFill>
                  <a:srgbClr val="131C2B"/>
                </a:solidFill>
                <a:latin typeface="Microsoft YaHei" panose="020B0503020204020204" pitchFamily="34" charset="-122"/>
              </a:rPr>
              <a:t>reward </a:t>
            </a:r>
            <a:r>
              <a:rPr lang="zh-CN" altLang="en-US" sz="3200" b="1">
                <a:solidFill>
                  <a:srgbClr val="131C2B"/>
                </a:solidFill>
                <a:latin typeface="Microsoft YaHei" panose="020B0503020204020204" pitchFamily="34" charset="-122"/>
              </a:rPr>
              <a:t>参数选择汇报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5967C4-1445-A13D-2C2A-ABFBF611978D}"/>
              </a:ext>
            </a:extLst>
          </p:cNvPr>
          <p:cNvSpPr txBox="1"/>
          <p:nvPr/>
        </p:nvSpPr>
        <p:spPr>
          <a:xfrm>
            <a:off x="1143000" y="2235200"/>
            <a:ext cx="9906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700">
                <a:solidFill>
                  <a:srgbClr val="454E5E"/>
                </a:solidFill>
                <a:latin typeface="Microsoft YaHei" panose="020B0503020204020204" pitchFamily="34" charset="-122"/>
              </a:rPr>
              <a:t>目标：在 </a:t>
            </a:r>
            <a:r>
              <a:rPr lang="en-US" altLang="zh-CN" sz="1700">
                <a:solidFill>
                  <a:srgbClr val="454E5E"/>
                </a:solidFill>
                <a:latin typeface="Microsoft YaHei" panose="020B0503020204020204" pitchFamily="34" charset="-122"/>
              </a:rPr>
              <a:t>TRNU </a:t>
            </a:r>
            <a:r>
              <a:rPr lang="zh-CN" altLang="en-US" sz="1700">
                <a:solidFill>
                  <a:srgbClr val="454E5E"/>
                </a:solidFill>
                <a:latin typeface="Microsoft YaHei" panose="020B0503020204020204" pitchFamily="34" charset="-122"/>
              </a:rPr>
              <a:t>尽可能高、施肥量尽可能少、产量尽可能高之间选择参数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517402-EFF7-1BBC-941F-3B028B05D396}"/>
              </a:ext>
            </a:extLst>
          </p:cNvPr>
          <p:cNvSpPr/>
          <p:nvPr/>
        </p:nvSpPr>
        <p:spPr>
          <a:xfrm>
            <a:off x="1676400" y="3302000"/>
            <a:ext cx="8839200" cy="1168400"/>
          </a:xfrm>
          <a:prstGeom prst="rect">
            <a:avLst/>
          </a:prstGeom>
          <a:solidFill>
            <a:srgbClr val="FFF8E2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DCA610-4DE4-F093-5884-B516FA1E92D8}"/>
              </a:ext>
            </a:extLst>
          </p:cNvPr>
          <p:cNvSpPr txBox="1"/>
          <p:nvPr/>
        </p:nvSpPr>
        <p:spPr>
          <a:xfrm>
            <a:off x="1854200" y="3454400"/>
            <a:ext cx="84836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重要纠正：原始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maize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参数是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coef=1.0, penality=0.5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coef=1.5, penality=0.5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不是原始值，只能作为候选参数讨论。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F693F1-738B-E77A-03BA-4269614E893D}"/>
              </a:ext>
            </a:extLst>
          </p:cNvPr>
          <p:cNvSpPr txBox="1"/>
          <p:nvPr/>
        </p:nvSpPr>
        <p:spPr>
          <a:xfrm>
            <a:off x="1143000" y="5054600"/>
            <a:ext cx="990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>
                <a:solidFill>
                  <a:srgbClr val="5B6576"/>
                </a:solidFill>
                <a:latin typeface="Microsoft YaHei" panose="020B0503020204020204" pitchFamily="34" charset="-122"/>
              </a:rPr>
              <a:t>数据来源：</a:t>
            </a:r>
            <a:r>
              <a:rPr lang="en-US" altLang="zh-CN" sz="1200">
                <a:solidFill>
                  <a:srgbClr val="5B6576"/>
                </a:solidFill>
                <a:latin typeface="Microsoft YaHei" panose="020B0503020204020204" pitchFamily="34" charset="-122"/>
              </a:rPr>
              <a:t>reward_sweep 20 </a:t>
            </a:r>
            <a:r>
              <a:rPr lang="zh-CN" altLang="en-US" sz="1200">
                <a:solidFill>
                  <a:srgbClr val="5B6576"/>
                </a:solidFill>
                <a:latin typeface="Microsoft YaHei" panose="020B0503020204020204" pitchFamily="34" charset="-122"/>
              </a:rPr>
              <a:t>个组合的 </a:t>
            </a:r>
            <a:r>
              <a:rPr lang="en-US" altLang="zh-CN" sz="1200">
                <a:solidFill>
                  <a:srgbClr val="5B6576"/>
                </a:solidFill>
                <a:latin typeface="Microsoft YaHei" panose="020B0503020204020204" pitchFamily="34" charset="-122"/>
              </a:rPr>
              <a:t>1000 episodes </a:t>
            </a:r>
            <a:r>
              <a:rPr lang="zh-CN" altLang="en-US" sz="1200">
                <a:solidFill>
                  <a:srgbClr val="5B6576"/>
                </a:solidFill>
                <a:latin typeface="Microsoft YaHei" panose="020B0503020204020204" pitchFamily="34" charset="-122"/>
              </a:rPr>
              <a:t>评估结果</a:t>
            </a:r>
          </a:p>
        </p:txBody>
      </p:sp>
    </p:spTree>
    <p:extLst>
      <p:ext uri="{BB962C8B-B14F-4D97-AF65-F5344CB8AC3E}">
        <p14:creationId xmlns:p14="http://schemas.microsoft.com/office/powerpoint/2010/main" val="2106300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CE921A-E10B-B68A-4D60-60AD1B0C2EC1}"/>
              </a:ext>
            </a:extLst>
          </p:cNvPr>
          <p:cNvSpPr txBox="1"/>
          <p:nvPr/>
        </p:nvSpPr>
        <p:spPr>
          <a:xfrm>
            <a:off x="533400" y="304800"/>
            <a:ext cx="1112520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评价标准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6F5213-4218-488C-8CDF-68895F2BC722}"/>
              </a:ext>
            </a:extLst>
          </p:cNvPr>
          <p:cNvSpPr/>
          <p:nvPr/>
        </p:nvSpPr>
        <p:spPr>
          <a:xfrm>
            <a:off x="533400" y="838200"/>
            <a:ext cx="11125200" cy="25400"/>
          </a:xfrm>
          <a:prstGeom prst="rect">
            <a:avLst/>
          </a:prstGeom>
          <a:solidFill>
            <a:srgbClr val="235A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800A47-7175-7274-5642-DAB41FBC904C}"/>
              </a:ext>
            </a:extLst>
          </p:cNvPr>
          <p:cNvSpPr txBox="1"/>
          <p:nvPr/>
        </p:nvSpPr>
        <p:spPr>
          <a:xfrm>
            <a:off x="533400" y="965200"/>
            <a:ext cx="1112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导师要求的三个目标需要同时看，不能只看累计 </a:t>
            </a:r>
            <a:r>
              <a:rPr lang="en-US" altLang="zh-CN" sz="1100">
                <a:solidFill>
                  <a:srgbClr val="5B6576"/>
                </a:solidFill>
                <a:latin typeface="Microsoft YaHei" panose="020B0503020204020204" pitchFamily="34" charset="-122"/>
              </a:rPr>
              <a:t>reward</a:t>
            </a:r>
            <a:endParaRPr lang="zh-CN" altLang="en-US" sz="1100">
              <a:solidFill>
                <a:srgbClr val="5B657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83B987-DDB2-6243-30F1-20F0A4744599}"/>
              </a:ext>
            </a:extLst>
          </p:cNvPr>
          <p:cNvSpPr/>
          <p:nvPr/>
        </p:nvSpPr>
        <p:spPr>
          <a:xfrm>
            <a:off x="939800" y="1752600"/>
            <a:ext cx="10312400" cy="2413000"/>
          </a:xfrm>
          <a:prstGeom prst="rect">
            <a:avLst/>
          </a:prstGeom>
          <a:solidFill>
            <a:srgbClr val="EEF5FF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1F8526-EC7F-8837-70D4-CBBA8093AB8F}"/>
              </a:ext>
            </a:extLst>
          </p:cNvPr>
          <p:cNvSpPr txBox="1"/>
          <p:nvPr/>
        </p:nvSpPr>
        <p:spPr>
          <a:xfrm>
            <a:off x="1117600" y="1905000"/>
            <a:ext cx="99568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氮回收率：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final_trnu_mean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越高越好</a:t>
            </a:r>
          </a:p>
          <a:p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施肥成本：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total_anfer_mean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n_applications_mean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越低越好</a:t>
            </a:r>
          </a:p>
          <a:p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产量表现：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grnwt_mean / topwt_mean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越高越好</a:t>
            </a:r>
          </a:p>
          <a:p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基线比较：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PPO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至少要优于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expert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null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，才说明站点在施肥策略上有优化空间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991596-F85D-7CAB-692A-9BD09F742739}"/>
              </a:ext>
            </a:extLst>
          </p:cNvPr>
          <p:cNvSpPr/>
          <p:nvPr/>
        </p:nvSpPr>
        <p:spPr>
          <a:xfrm>
            <a:off x="939800" y="4635500"/>
            <a:ext cx="10312400" cy="1016000"/>
          </a:xfrm>
          <a:prstGeom prst="rect">
            <a:avLst/>
          </a:prstGeom>
          <a:solidFill>
            <a:srgbClr val="F6F8FA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A664FD-4613-65B7-BECD-72D45B9EAED9}"/>
              </a:ext>
            </a:extLst>
          </p:cNvPr>
          <p:cNvSpPr txBox="1"/>
          <p:nvPr/>
        </p:nvSpPr>
        <p:spPr>
          <a:xfrm>
            <a:off x="1117600" y="4787900"/>
            <a:ext cx="99568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本次判断不采用单一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reward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最大值作为唯一标准，因为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reward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数值会随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coef/penality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的尺度改变；最终以农学指标和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Pareto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支配关系为主。</a:t>
            </a:r>
          </a:p>
        </p:txBody>
      </p:sp>
    </p:spTree>
    <p:extLst>
      <p:ext uri="{BB962C8B-B14F-4D97-AF65-F5344CB8AC3E}">
        <p14:creationId xmlns:p14="http://schemas.microsoft.com/office/powerpoint/2010/main" val="80433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50A92F4-56FE-A0C0-9061-D038221BA0A6}"/>
              </a:ext>
            </a:extLst>
          </p:cNvPr>
          <p:cNvSpPr txBox="1"/>
          <p:nvPr/>
        </p:nvSpPr>
        <p:spPr>
          <a:xfrm>
            <a:off x="533400" y="304800"/>
            <a:ext cx="1112520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参数扫描设计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0F149D-2201-0791-0467-8F5A87FD3FE7}"/>
              </a:ext>
            </a:extLst>
          </p:cNvPr>
          <p:cNvSpPr/>
          <p:nvPr/>
        </p:nvSpPr>
        <p:spPr>
          <a:xfrm>
            <a:off x="533400" y="838200"/>
            <a:ext cx="11125200" cy="25400"/>
          </a:xfrm>
          <a:prstGeom prst="rect">
            <a:avLst/>
          </a:prstGeom>
          <a:solidFill>
            <a:srgbClr val="235A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9BFE74-6560-EC4E-3F11-4EFBA9CAD7EA}"/>
              </a:ext>
            </a:extLst>
          </p:cNvPr>
          <p:cNvSpPr txBox="1"/>
          <p:nvPr/>
        </p:nvSpPr>
        <p:spPr>
          <a:xfrm>
            <a:off x="533400" y="965200"/>
            <a:ext cx="1112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5B6576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个 </a:t>
            </a:r>
            <a:r>
              <a:rPr lang="en-US" altLang="zh-CN" sz="1100">
                <a:solidFill>
                  <a:srgbClr val="5B6576"/>
                </a:solidFill>
                <a:latin typeface="Microsoft YaHei" panose="020B0503020204020204" pitchFamily="34" charset="-122"/>
              </a:rPr>
              <a:t>coef × 5 </a:t>
            </a:r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个 </a:t>
            </a:r>
            <a:r>
              <a:rPr lang="en-US" altLang="zh-CN" sz="1100">
                <a:solidFill>
                  <a:srgbClr val="5B6576"/>
                </a:solidFill>
                <a:latin typeface="Microsoft YaHei" panose="020B0503020204020204" pitchFamily="34" charset="-122"/>
              </a:rPr>
              <a:t>penality</a:t>
            </a:r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，共 </a:t>
            </a:r>
            <a:r>
              <a:rPr lang="en-US" altLang="zh-CN" sz="1100">
                <a:solidFill>
                  <a:srgbClr val="5B6576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个组合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3000D4C-8F86-AC5D-58CB-E4243869E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526146"/>
              </p:ext>
            </p:extLst>
          </p:nvPr>
        </p:nvGraphicFramePr>
        <p:xfrm>
          <a:off x="1524000" y="1651000"/>
          <a:ext cx="9144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87940010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552042196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85986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coef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0.5, 1.0, 1.5, 2.0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4776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penality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0.1, 0.25, 0.5, 0.75, 1.0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57263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模式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fertilization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322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评估 </a:t>
                      </a:r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episodes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PPO / expert / null </a:t>
                      </a:r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各 </a:t>
                      </a:r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1000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4201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daily trace CSV, evaluation_histories.pkl, plot_hl </a:t>
                      </a:r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风格 </a:t>
                      </a:r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PDF/PNG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871666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707D938-BE10-17E0-E5EB-B4CF76B251E6}"/>
              </a:ext>
            </a:extLst>
          </p:cNvPr>
          <p:cNvSpPr/>
          <p:nvPr/>
        </p:nvSpPr>
        <p:spPr>
          <a:xfrm>
            <a:off x="1524000" y="4953000"/>
            <a:ext cx="9144000" cy="736600"/>
          </a:xfrm>
          <a:prstGeom prst="rect">
            <a:avLst/>
          </a:prstGeom>
          <a:solidFill>
            <a:srgbClr val="FFF8E2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6E7F7B-7852-029F-6058-86886B22223F}"/>
              </a:ext>
            </a:extLst>
          </p:cNvPr>
          <p:cNvSpPr txBox="1"/>
          <p:nvPr/>
        </p:nvSpPr>
        <p:spPr>
          <a:xfrm>
            <a:off x="1701800" y="5105400"/>
            <a:ext cx="87884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原始参数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coef=1.0, penality=0.5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被保留在扫描网格内，因此可以直接检验它是否被其它组合支配。</a:t>
            </a:r>
          </a:p>
        </p:txBody>
      </p:sp>
    </p:spTree>
    <p:extLst>
      <p:ext uri="{BB962C8B-B14F-4D97-AF65-F5344CB8AC3E}">
        <p14:creationId xmlns:p14="http://schemas.microsoft.com/office/powerpoint/2010/main" val="3853276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4CC2F9-2103-C354-5779-C218CE6CC84D}"/>
              </a:ext>
            </a:extLst>
          </p:cNvPr>
          <p:cNvSpPr txBox="1"/>
          <p:nvPr/>
        </p:nvSpPr>
        <p:spPr>
          <a:xfrm>
            <a:off x="533400" y="304800"/>
            <a:ext cx="1112520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PPO </a:t>
            </a:r>
            <a:r>
              <a:rPr lang="zh-CN" altLang="en-US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与基线对比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95AB32-95C2-5765-F574-9BA70242E05E}"/>
              </a:ext>
            </a:extLst>
          </p:cNvPr>
          <p:cNvSpPr/>
          <p:nvPr/>
        </p:nvSpPr>
        <p:spPr>
          <a:xfrm>
            <a:off x="533400" y="838200"/>
            <a:ext cx="11125200" cy="25400"/>
          </a:xfrm>
          <a:prstGeom prst="rect">
            <a:avLst/>
          </a:prstGeom>
          <a:solidFill>
            <a:srgbClr val="235A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F40E10-68F9-B953-B455-CEEA22F293E4}"/>
              </a:ext>
            </a:extLst>
          </p:cNvPr>
          <p:cNvSpPr txBox="1"/>
          <p:nvPr/>
        </p:nvSpPr>
        <p:spPr>
          <a:xfrm>
            <a:off x="533400" y="965200"/>
            <a:ext cx="1112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以原始参数 </a:t>
            </a:r>
            <a:r>
              <a:rPr lang="en-US" altLang="zh-CN" sz="1100">
                <a:solidFill>
                  <a:srgbClr val="5B6576"/>
                </a:solidFill>
                <a:latin typeface="Microsoft YaHei" panose="020B0503020204020204" pitchFamily="34" charset="-122"/>
              </a:rPr>
              <a:t>coef=1.0, penality=0.5 </a:t>
            </a:r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的评估结果展示施肥优化空间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D9EB402-DD9D-520E-40ED-6541A591F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20211"/>
              </p:ext>
            </p:extLst>
          </p:nvPr>
        </p:nvGraphicFramePr>
        <p:xfrm>
          <a:off x="609600" y="1625600"/>
          <a:ext cx="1097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5942273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54791424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8911380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25291032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932648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9137712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策略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final TRNU</a:t>
                      </a:r>
                      <a:endParaRPr lang="zh-CN" altLang="en-US" sz="900" b="1">
                        <a:solidFill>
                          <a:srgbClr val="192332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总施肥量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施肥次数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籽粒产量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生物量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59528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expert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0.020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165.0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1.0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5933.6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15822.0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19368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null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0.060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408.8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815.1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39948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ppo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0.867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264.3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9.4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7528.9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19685.0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935936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D246407-29ED-A703-C417-BA3E9C2B223E}"/>
              </a:ext>
            </a:extLst>
          </p:cNvPr>
          <p:cNvSpPr/>
          <p:nvPr/>
        </p:nvSpPr>
        <p:spPr>
          <a:xfrm>
            <a:off x="838200" y="4165600"/>
            <a:ext cx="10515600" cy="1117600"/>
          </a:xfrm>
          <a:prstGeom prst="rect">
            <a:avLst/>
          </a:prstGeom>
          <a:solidFill>
            <a:srgbClr val="EEF5FF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3980F8-59A1-4C8A-2B88-23B5807CBB8E}"/>
              </a:ext>
            </a:extLst>
          </p:cNvPr>
          <p:cNvSpPr txBox="1"/>
          <p:nvPr/>
        </p:nvSpPr>
        <p:spPr>
          <a:xfrm>
            <a:off x="1016000" y="4318000"/>
            <a:ext cx="1016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结论：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PPO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在该站点的施肥任务上明显优于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expert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null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TRNU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更高，产量更高。虽然总施肥量高于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expert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，但换来了显著产量与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TRNU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提升，说明该站点确实有施肥策略优化空间。</a:t>
            </a:r>
          </a:p>
        </p:txBody>
      </p:sp>
    </p:spTree>
    <p:extLst>
      <p:ext uri="{BB962C8B-B14F-4D97-AF65-F5344CB8AC3E}">
        <p14:creationId xmlns:p14="http://schemas.microsoft.com/office/powerpoint/2010/main" val="3320172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6620B8D-0D6C-20D7-719C-541B23D8E800}"/>
              </a:ext>
            </a:extLst>
          </p:cNvPr>
          <p:cNvSpPr txBox="1"/>
          <p:nvPr/>
        </p:nvSpPr>
        <p:spPr>
          <a:xfrm>
            <a:off x="533400" y="304800"/>
            <a:ext cx="1112520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关键组合对比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DC4C17-BC97-C117-B436-D20A33F93717}"/>
              </a:ext>
            </a:extLst>
          </p:cNvPr>
          <p:cNvSpPr/>
          <p:nvPr/>
        </p:nvSpPr>
        <p:spPr>
          <a:xfrm>
            <a:off x="533400" y="838200"/>
            <a:ext cx="11125200" cy="25400"/>
          </a:xfrm>
          <a:prstGeom prst="rect">
            <a:avLst/>
          </a:prstGeom>
          <a:solidFill>
            <a:srgbClr val="235A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F0E97F-6BDA-15A6-5F4E-D492886FCB91}"/>
              </a:ext>
            </a:extLst>
          </p:cNvPr>
          <p:cNvSpPr txBox="1"/>
          <p:nvPr/>
        </p:nvSpPr>
        <p:spPr>
          <a:xfrm>
            <a:off x="533400" y="965200"/>
            <a:ext cx="1112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100">
                <a:solidFill>
                  <a:srgbClr val="5B6576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个组合中抽取代表性结果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9438761-2393-CECC-ACD6-2F357F56C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288188"/>
              </p:ext>
            </p:extLst>
          </p:nvPr>
        </p:nvGraphicFramePr>
        <p:xfrm>
          <a:off x="381000" y="1549400"/>
          <a:ext cx="1143000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>
                  <a:extLst>
                    <a:ext uri="{9D8B030D-6E8A-4147-A177-3AD203B41FA5}">
                      <a16:colId xmlns:a16="http://schemas.microsoft.com/office/drawing/2014/main" val="4290159936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911562070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3638273056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1722943976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243634767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617526943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3326369545"/>
                    </a:ext>
                  </a:extLst>
                </a:gridCol>
              </a:tblGrid>
              <a:tr h="427567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类型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组合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TRNU</a:t>
                      </a:r>
                      <a:endParaRPr lang="zh-CN" altLang="en-US" sz="900" b="1">
                        <a:solidFill>
                          <a:srgbClr val="192332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总施肥量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次数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籽粒产量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192332"/>
                          </a:solidFill>
                          <a:latin typeface="Microsoft YaHei" panose="020B0503020204020204" pitchFamily="34" charset="-122"/>
                        </a:rPr>
                        <a:t>判断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370171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原始参数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coef1_pen0.5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0.867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264.3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9.4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7528.9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Pareto </a:t>
                      </a:r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候选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859731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候选参数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coef1.5_pen0.5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0.867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264.3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9.4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7528.9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与原始结果持平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621426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过量施肥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coef0.5_pen0.25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1.073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6702.1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87.3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7554.5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施肥量异常高，剔除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17615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低氮牺牲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coef0.5_pen0.5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0.632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254.8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17.1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7433.5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TRNU/</a:t>
                      </a:r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产量下降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28234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被支配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coef0.5_pen0.1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0.791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280.4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19.0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7496.0</a:t>
                      </a:r>
                      <a:endParaRPr lang="zh-CN" altLang="en-US" sz="850">
                        <a:solidFill>
                          <a:srgbClr val="23272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23272F"/>
                          </a:solidFill>
                          <a:latin typeface="Microsoft YaHei" panose="020B0503020204020204" pitchFamily="34" charset="-122"/>
                        </a:rPr>
                        <a:t>不如稳定平台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73066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74DE3183-B55D-3B85-D0E3-8DE0365BE8D1}"/>
              </a:ext>
            </a:extLst>
          </p:cNvPr>
          <p:cNvSpPr/>
          <p:nvPr/>
        </p:nvSpPr>
        <p:spPr>
          <a:xfrm>
            <a:off x="762000" y="4749800"/>
            <a:ext cx="10668000" cy="889000"/>
          </a:xfrm>
          <a:prstGeom prst="rect">
            <a:avLst/>
          </a:prstGeom>
          <a:solidFill>
            <a:srgbClr val="FFF8E2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2B52DF-BE09-EF5B-8C6C-0F347B18AF34}"/>
              </a:ext>
            </a:extLst>
          </p:cNvPr>
          <p:cNvSpPr txBox="1"/>
          <p:nvPr/>
        </p:nvSpPr>
        <p:spPr>
          <a:xfrm>
            <a:off x="939800" y="4902200"/>
            <a:ext cx="103124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观察：有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16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个组合落在同一稳定平台，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TRNU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、施肥量、施肥次数和产量完全一致或数值等同；因此当前数据不能证明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1.5/0.5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比原始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1.0/0.5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更优。</a:t>
            </a:r>
          </a:p>
        </p:txBody>
      </p:sp>
    </p:spTree>
    <p:extLst>
      <p:ext uri="{BB962C8B-B14F-4D97-AF65-F5344CB8AC3E}">
        <p14:creationId xmlns:p14="http://schemas.microsoft.com/office/powerpoint/2010/main" val="57231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DD0372-132E-F4C8-4082-C52EB0BBC033}"/>
              </a:ext>
            </a:extLst>
          </p:cNvPr>
          <p:cNvSpPr txBox="1"/>
          <p:nvPr/>
        </p:nvSpPr>
        <p:spPr>
          <a:xfrm>
            <a:off x="533400" y="304800"/>
            <a:ext cx="1112520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参数结论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B05ACA-DAE9-F363-0026-1C77ECE0D066}"/>
              </a:ext>
            </a:extLst>
          </p:cNvPr>
          <p:cNvSpPr/>
          <p:nvPr/>
        </p:nvSpPr>
        <p:spPr>
          <a:xfrm>
            <a:off x="533400" y="838200"/>
            <a:ext cx="11125200" cy="25400"/>
          </a:xfrm>
          <a:prstGeom prst="rect">
            <a:avLst/>
          </a:prstGeom>
          <a:solidFill>
            <a:srgbClr val="235A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32DAB2-FD92-19A3-521D-E3C0C84280BF}"/>
              </a:ext>
            </a:extLst>
          </p:cNvPr>
          <p:cNvSpPr txBox="1"/>
          <p:nvPr/>
        </p:nvSpPr>
        <p:spPr>
          <a:xfrm>
            <a:off x="533400" y="965200"/>
            <a:ext cx="1112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现阶段建议以保守、可复现的结论向导师汇报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B65DB1-7803-66A1-2F9A-07D083B3D86B}"/>
              </a:ext>
            </a:extLst>
          </p:cNvPr>
          <p:cNvSpPr/>
          <p:nvPr/>
        </p:nvSpPr>
        <p:spPr>
          <a:xfrm>
            <a:off x="812800" y="1574800"/>
            <a:ext cx="10566400" cy="1117600"/>
          </a:xfrm>
          <a:prstGeom prst="rect">
            <a:avLst/>
          </a:prstGeom>
          <a:solidFill>
            <a:srgbClr val="EEF5FF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5AEE2B-B303-0C57-6623-ECF6C68E7190}"/>
              </a:ext>
            </a:extLst>
          </p:cNvPr>
          <p:cNvSpPr txBox="1"/>
          <p:nvPr/>
        </p:nvSpPr>
        <p:spPr>
          <a:xfrm>
            <a:off x="990600" y="1727200"/>
            <a:ext cx="102108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首选结论：暂定保留原始参数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coef=1.0, penality=0.5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。理由是它位于当前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组结果中的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Pareto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稳定平台，未被其它组合支配，并且不会把所谓优化结果误写成原始参数。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514706-4B07-3FB0-D277-AC7B52F2B72F}"/>
              </a:ext>
            </a:extLst>
          </p:cNvPr>
          <p:cNvSpPr/>
          <p:nvPr/>
        </p:nvSpPr>
        <p:spPr>
          <a:xfrm>
            <a:off x="812800" y="3098800"/>
            <a:ext cx="10566400" cy="1117600"/>
          </a:xfrm>
          <a:prstGeom prst="rect">
            <a:avLst/>
          </a:prstGeom>
          <a:solidFill>
            <a:srgbClr val="F6F8FA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303659-EB86-125E-9316-01E8D0D4FF0D}"/>
              </a:ext>
            </a:extLst>
          </p:cNvPr>
          <p:cNvSpPr txBox="1"/>
          <p:nvPr/>
        </p:nvSpPr>
        <p:spPr>
          <a:xfrm>
            <a:off x="990600" y="3251200"/>
            <a:ext cx="102108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备选说明：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coef=1.5, penality=0.5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可作为敏感性分析候选，因为它与原始参数获得相同策略表现；但它不是原始参数，也不能在当前证据下被说成显著更优。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2BBBD8-6EE4-56CB-6A7A-3E712A4500F0}"/>
              </a:ext>
            </a:extLst>
          </p:cNvPr>
          <p:cNvSpPr/>
          <p:nvPr/>
        </p:nvSpPr>
        <p:spPr>
          <a:xfrm>
            <a:off x="812800" y="4622800"/>
            <a:ext cx="10566400" cy="914400"/>
          </a:xfrm>
          <a:prstGeom prst="rect">
            <a:avLst/>
          </a:prstGeom>
          <a:solidFill>
            <a:srgbClr val="FFEEE8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1CCB4D-A2C8-D6F7-051F-3D0E6FC0A3DF}"/>
              </a:ext>
            </a:extLst>
          </p:cNvPr>
          <p:cNvSpPr txBox="1"/>
          <p:nvPr/>
        </p:nvSpPr>
        <p:spPr>
          <a:xfrm>
            <a:off x="990600" y="4775200"/>
            <a:ext cx="102108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应剔除：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coef=0.5, penality=0.25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。虽然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TRNU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和产量最高，但总施肥量达到约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6702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，明显不满足施肥尽可能少的目标。</a:t>
            </a:r>
          </a:p>
        </p:txBody>
      </p:sp>
    </p:spTree>
    <p:extLst>
      <p:ext uri="{BB962C8B-B14F-4D97-AF65-F5344CB8AC3E}">
        <p14:creationId xmlns:p14="http://schemas.microsoft.com/office/powerpoint/2010/main" val="2829944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A1FAC14-CA32-5369-847B-62756C263DFD}"/>
              </a:ext>
            </a:extLst>
          </p:cNvPr>
          <p:cNvSpPr txBox="1"/>
          <p:nvPr/>
        </p:nvSpPr>
        <p:spPr>
          <a:xfrm>
            <a:off x="533400" y="304800"/>
            <a:ext cx="1112520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数据质量核查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C9A944-014E-83C2-3ADD-AAEDC7114107}"/>
              </a:ext>
            </a:extLst>
          </p:cNvPr>
          <p:cNvSpPr/>
          <p:nvPr/>
        </p:nvSpPr>
        <p:spPr>
          <a:xfrm>
            <a:off x="533400" y="838200"/>
            <a:ext cx="11125200" cy="25400"/>
          </a:xfrm>
          <a:prstGeom prst="rect">
            <a:avLst/>
          </a:prstGeom>
          <a:solidFill>
            <a:srgbClr val="235A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77E11D-D16D-6C68-7192-957C6830E0E9}"/>
              </a:ext>
            </a:extLst>
          </p:cNvPr>
          <p:cNvSpPr txBox="1"/>
          <p:nvPr/>
        </p:nvSpPr>
        <p:spPr>
          <a:xfrm>
            <a:off x="533400" y="965200"/>
            <a:ext cx="1112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这是正式定稿前必须补上的安全检查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D89663-1332-4B0B-09CD-F555B8DEAB49}"/>
              </a:ext>
            </a:extLst>
          </p:cNvPr>
          <p:cNvSpPr/>
          <p:nvPr/>
        </p:nvSpPr>
        <p:spPr>
          <a:xfrm>
            <a:off x="787400" y="1549400"/>
            <a:ext cx="10617200" cy="1041400"/>
          </a:xfrm>
          <a:prstGeom prst="rect">
            <a:avLst/>
          </a:prstGeom>
          <a:solidFill>
            <a:srgbClr val="FFF8E2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EEC913-EA0C-191B-4476-BD74FB63BBEE}"/>
              </a:ext>
            </a:extLst>
          </p:cNvPr>
          <p:cNvSpPr txBox="1"/>
          <p:nvPr/>
        </p:nvSpPr>
        <p:spPr>
          <a:xfrm>
            <a:off x="965200" y="1701800"/>
            <a:ext cx="102616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当前容器内安装包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rewards.py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核查结果：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maize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仍是硬编码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coef=1.0, penality=0.5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，且没有读取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GYM_DSSAT_REWARD_COEF / GYM_DSSAT_REWARD_PENALITY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F36B02-F83E-CC8A-2349-73E4974DF9D7}"/>
              </a:ext>
            </a:extLst>
          </p:cNvPr>
          <p:cNvSpPr/>
          <p:nvPr/>
        </p:nvSpPr>
        <p:spPr>
          <a:xfrm>
            <a:off x="787400" y="2971800"/>
            <a:ext cx="10617200" cy="1041400"/>
          </a:xfrm>
          <a:prstGeom prst="rect">
            <a:avLst/>
          </a:prstGeom>
          <a:solidFill>
            <a:srgbClr val="FFEEE8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BFD05F-8EC8-FD6D-AB5E-DFEEAF263E2D}"/>
              </a:ext>
            </a:extLst>
          </p:cNvPr>
          <p:cNvSpPr txBox="1"/>
          <p:nvPr/>
        </p:nvSpPr>
        <p:spPr>
          <a:xfrm>
            <a:off x="965200" y="3124200"/>
            <a:ext cx="102616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含义：如果训练当时也是这个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reward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文件状态，那么本轮输出只能说明不同模型文件的策略表现，不能严格证明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coef/penality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的最优性。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AF0E57-16E4-75E8-A095-24BB70F05909}"/>
              </a:ext>
            </a:extLst>
          </p:cNvPr>
          <p:cNvSpPr/>
          <p:nvPr/>
        </p:nvSpPr>
        <p:spPr>
          <a:xfrm>
            <a:off x="787400" y="4394200"/>
            <a:ext cx="10617200" cy="1041400"/>
          </a:xfrm>
          <a:prstGeom prst="rect">
            <a:avLst/>
          </a:prstGeom>
          <a:solidFill>
            <a:srgbClr val="EEF5FF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191999-010E-A6DA-42CB-6E6801B6AD24}"/>
              </a:ext>
            </a:extLst>
          </p:cNvPr>
          <p:cNvSpPr txBox="1"/>
          <p:nvPr/>
        </p:nvSpPr>
        <p:spPr>
          <a:xfrm>
            <a:off x="965200" y="4546600"/>
            <a:ext cx="102616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处理方案：已新增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tools/patch_dssat_rewards.py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。正式重跑前先用该脚本带备份地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patch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安装包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reward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，再用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optimize_reward_hl.py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重跑或补跑，之后再把参数结论定稿。</a:t>
            </a:r>
          </a:p>
        </p:txBody>
      </p:sp>
    </p:spTree>
    <p:extLst>
      <p:ext uri="{BB962C8B-B14F-4D97-AF65-F5344CB8AC3E}">
        <p14:creationId xmlns:p14="http://schemas.microsoft.com/office/powerpoint/2010/main" val="967397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B87EC2-5810-E718-4C68-E51C90CC1BB1}"/>
              </a:ext>
            </a:extLst>
          </p:cNvPr>
          <p:cNvSpPr txBox="1"/>
          <p:nvPr/>
        </p:nvSpPr>
        <p:spPr>
          <a:xfrm>
            <a:off x="533400" y="304800"/>
            <a:ext cx="1112520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原始参数图例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B8998A-DA17-46BB-385E-32A99FE6D546}"/>
              </a:ext>
            </a:extLst>
          </p:cNvPr>
          <p:cNvSpPr/>
          <p:nvPr/>
        </p:nvSpPr>
        <p:spPr>
          <a:xfrm>
            <a:off x="533400" y="838200"/>
            <a:ext cx="11125200" cy="25400"/>
          </a:xfrm>
          <a:prstGeom prst="rect">
            <a:avLst/>
          </a:prstGeom>
          <a:solidFill>
            <a:srgbClr val="235A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2B16A4-BD57-0B33-9D71-D226ADD0FED6}"/>
              </a:ext>
            </a:extLst>
          </p:cNvPr>
          <p:cNvSpPr txBox="1"/>
          <p:nvPr/>
        </p:nvSpPr>
        <p:spPr>
          <a:xfrm>
            <a:off x="533400" y="965200"/>
            <a:ext cx="1112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5B6576"/>
                </a:solidFill>
                <a:latin typeface="Microsoft YaHei" panose="020B0503020204020204" pitchFamily="34" charset="-122"/>
              </a:rPr>
              <a:t>plot_hl </a:t>
            </a:r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原样式：</a:t>
            </a:r>
            <a:r>
              <a:rPr lang="en-US" altLang="zh-CN" sz="1100">
                <a:solidFill>
                  <a:srgbClr val="5B6576"/>
                </a:solidFill>
                <a:latin typeface="Microsoft YaHei" panose="020B0503020204020204" pitchFamily="34" charset="-122"/>
              </a:rPr>
              <a:t>coef=1.0, penality=0.5</a:t>
            </a:r>
            <a:endParaRPr lang="zh-CN" altLang="en-US" sz="1100">
              <a:solidFill>
                <a:srgbClr val="5B6576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40D810-08BA-2035-2F73-DB3110C4D8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22400"/>
            <a:ext cx="5334000" cy="4572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D9277D1-CC78-CD22-6B2A-68B648BFCFF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422400"/>
            <a:ext cx="533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078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7B6E21-1773-4F22-C608-91591207A588}"/>
              </a:ext>
            </a:extLst>
          </p:cNvPr>
          <p:cNvSpPr txBox="1"/>
          <p:nvPr/>
        </p:nvSpPr>
        <p:spPr>
          <a:xfrm>
            <a:off x="533400" y="304800"/>
            <a:ext cx="1112520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后续 </a:t>
            </a:r>
            <a:r>
              <a:rPr lang="en-US" altLang="zh-CN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all </a:t>
            </a:r>
            <a:r>
              <a:rPr lang="zh-CN" altLang="en-US" sz="2300" b="1">
                <a:solidFill>
                  <a:srgbClr val="131C2B"/>
                </a:solidFill>
                <a:latin typeface="Microsoft YaHei" panose="020B0503020204020204" pitchFamily="34" charset="-122"/>
              </a:rPr>
              <a:t>模式建议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D9B945-0F46-4E34-A7D8-323049119830}"/>
              </a:ext>
            </a:extLst>
          </p:cNvPr>
          <p:cNvSpPr/>
          <p:nvPr/>
        </p:nvSpPr>
        <p:spPr>
          <a:xfrm>
            <a:off x="533400" y="838200"/>
            <a:ext cx="11125200" cy="25400"/>
          </a:xfrm>
          <a:prstGeom prst="rect">
            <a:avLst/>
          </a:prstGeom>
          <a:solidFill>
            <a:srgbClr val="235A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04A2A7-82BF-86DD-229F-E224BF8551A8}"/>
              </a:ext>
            </a:extLst>
          </p:cNvPr>
          <p:cNvSpPr txBox="1"/>
          <p:nvPr/>
        </p:nvSpPr>
        <p:spPr>
          <a:xfrm>
            <a:off x="533400" y="965200"/>
            <a:ext cx="1112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5B6576"/>
                </a:solidFill>
                <a:latin typeface="Microsoft YaHei" panose="020B0503020204020204" pitchFamily="34" charset="-122"/>
              </a:rPr>
              <a:t>施肥与灌溉联合优化，以及未来接入天气预报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00D24C-1266-51D2-760C-E9DE6ACB9DF4}"/>
              </a:ext>
            </a:extLst>
          </p:cNvPr>
          <p:cNvSpPr/>
          <p:nvPr/>
        </p:nvSpPr>
        <p:spPr>
          <a:xfrm>
            <a:off x="787400" y="1600200"/>
            <a:ext cx="10617200" cy="2667000"/>
          </a:xfrm>
          <a:prstGeom prst="rect">
            <a:avLst/>
          </a:prstGeom>
          <a:solidFill>
            <a:srgbClr val="EEF5FF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C34B62-CC43-DF68-56BB-565547CC7EA1}"/>
              </a:ext>
            </a:extLst>
          </p:cNvPr>
          <p:cNvSpPr txBox="1"/>
          <p:nvPr/>
        </p:nvSpPr>
        <p:spPr>
          <a:xfrm>
            <a:off x="965200" y="1752600"/>
            <a:ext cx="102616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先不要直接改原始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train_hl/evaluate_hl/plot_hl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；新建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all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版本脚本并保留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fertilization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结果作为对照。</a:t>
            </a:r>
          </a:p>
          <a:p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2. all_reward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必须返回标量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reward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，不能返回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[fertilization_reward, irrigation_reward]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列表。</a:t>
            </a:r>
          </a:p>
          <a:p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先用历史天气作为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perfect forecast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，把观测扩展和数据流跑通；再替换为真实天气预报接口。</a:t>
            </a:r>
          </a:p>
          <a:p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如果灌溉本身优化空间小，应把论文表述放在联合框架可运行、施肥贡献主要收益、灌溉受站点和年份限制。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761ADD-9401-F1F3-6B01-4AECFE3226D9}"/>
              </a:ext>
            </a:extLst>
          </p:cNvPr>
          <p:cNvSpPr/>
          <p:nvPr/>
        </p:nvSpPr>
        <p:spPr>
          <a:xfrm>
            <a:off x="787400" y="4851400"/>
            <a:ext cx="10617200" cy="889000"/>
          </a:xfrm>
          <a:prstGeom prst="rect">
            <a:avLst/>
          </a:prstGeom>
          <a:solidFill>
            <a:srgbClr val="F6F8FA"/>
          </a:solidFill>
          <a:ln>
            <a:solidFill>
              <a:srgbClr val="CD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2BF9C7-ED7D-E729-6743-5549A36AD16A}"/>
              </a:ext>
            </a:extLst>
          </p:cNvPr>
          <p:cNvSpPr txBox="1"/>
          <p:nvPr/>
        </p:nvSpPr>
        <p:spPr>
          <a:xfrm>
            <a:off x="965200" y="5003800"/>
            <a:ext cx="102616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下一步代码任务：备份后新建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train_hl_all.py / evaluate_hl_all.py / plot_hl_all.py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，并将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action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baseline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reward logging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CSV 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输出扩展到 </a:t>
            </a:r>
            <a:r>
              <a:rPr lang="en-US" altLang="zh-CN" sz="1400">
                <a:solidFill>
                  <a:srgbClr val="23272F"/>
                </a:solidFill>
                <a:latin typeface="Microsoft YaHei" panose="020B0503020204020204" pitchFamily="34" charset="-122"/>
              </a:rPr>
              <a:t>anfer + amir</a:t>
            </a:r>
            <a:r>
              <a:rPr lang="zh-CN" altLang="en-US" sz="1400">
                <a:solidFill>
                  <a:srgbClr val="23272F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73232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</Words>
  <Application>Microsoft Office PowerPoint</Application>
  <PresentationFormat>自定义</PresentationFormat>
  <Paragraphs>117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雨秋 杜</dc:creator>
  <cp:lastModifiedBy>雨秋 杜</cp:lastModifiedBy>
  <cp:revision>1</cp:revision>
  <dcterms:created xsi:type="dcterms:W3CDTF">2026-05-31T13:04:01Z</dcterms:created>
  <dcterms:modified xsi:type="dcterms:W3CDTF">2026-05-31T13:04:01Z</dcterms:modified>
</cp:coreProperties>
</file>