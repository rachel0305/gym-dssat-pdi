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74519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1">
                <a:solidFill>
                  <a:srgbClr val="000000"/>
                </a:solidFill>
                <a:latin typeface="Microsoft YaHei"/>
              </a:rPr>
              <a:t>Initial Soil Water and Mineral Nitrogen Settings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6517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0">
                <a:solidFill>
                  <a:srgbClr val="595959"/>
                </a:solidFill>
                <a:latin typeface="Microsoft YaHei"/>
              </a:rPr>
              <a:t>Five DSSAT/gym-DSSAT maize stations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806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Microsoft YaHei"/>
              </a:rPr>
              <a:t>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icrosoft YaHe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Previous templates often used SH2O = 0.30, but the same value means different water status across soil types.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Some target initial condition blocks still had missing mineral nitrogen values marked as -99.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The goal is one reliable initialization scheme, not a sensitivity test.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All measured or record-based nitrogen values should be preserved; only missing values are filled.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icrosoft YaHei"/>
              </a:rPr>
              <a:t>DSSAT Initial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Microsoft YaHei"/>
              </a:rPr>
              <a:t>@C  ICBL  SH2O  SNH4  SNO3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ICBL: bottom depth of each soil layer, cm.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SH2O: initial volumetric soil water content.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SNH4: initial ammonium-N concentration for the layer.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SNO3: initial nitrate-N concentration for the layer.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DSSAT example experiment files specify these initial conditions by soil layer (DSSAT User's Guide).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icrosoft YaHei"/>
              </a:rPr>
              <a:t>Soil Water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Microsoft YaHei"/>
              </a:rPr>
              <a:t>SH2O = SLLL + 0.55 x (SDUL - SLLL)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SLLL is the soil lower limit; SDUL is the drained upper limit or field capacity approximation.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SDUL - SLLL approximates plant-available soil water range (FAO-56; DSSAT soil water documentation).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The 0.55 fraction represents a medium to slightly dry starting condition.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This avoids unrealistically wet initialization without imposing an extreme drought scenario.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icrosoft YaHei"/>
              </a:rPr>
              <a:t>Why Fixed 0.30 Was Problematic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Station</a:t>
                      </a:r>
                    </a:p>
                  </a:txBody>
                  <a:tcPr marL="32004" marR="32004" marT="18288" marB="18288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Original issue</a:t>
                      </a:r>
                    </a:p>
                  </a:txBody>
                  <a:tcPr marL="32004" marR="32004" marT="18288" marB="18288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Decision</a:t>
                      </a:r>
                    </a:p>
                  </a:txBody>
                  <a:tcPr marL="32004" marR="32004" marT="18288" marB="18288">
                    <a:solidFill>
                      <a:srgbClr val="447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HL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0.30 was medium-wet but below SDUL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Reduce to layer-specific 0.55 PAW values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SY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0.30 was close to SDUL in several layers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Reduce water and estimate 100 cm mineral N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LC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Original water mostly plausible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Use unified formula; keep mineral N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YC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Original water was wet in several layers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Use unified formula; keep mineral N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FQ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0-30 cm SH2O=0.30 exceeded SDUL=0.21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Microsoft YaHei"/>
                        </a:rPr>
                        <a:t>Reduce water and estimate all mineral N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icrosoft YaHei"/>
              </a:rPr>
              <a:t>Final Soil Water Values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7240" y="1234440"/>
          <a:ext cx="106070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>Station</a:t>
                      </a:r>
                    </a:p>
                  </a:txBody>
                  <a:tcPr marL="32004" marR="32004" marT="18288" marB="18288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>Layer bottom cm</a:t>
                      </a:r>
                    </a:p>
                  </a:txBody>
                  <a:tcPr marL="32004" marR="32004" marT="18288" marB="18288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>Final SH2O</a:t>
                      </a:r>
                    </a:p>
                  </a:txBody>
                  <a:tcPr marL="32004" marR="32004" marT="18288" marB="18288">
                    <a:solidFill>
                      <a:srgbClr val="4472C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Microsoft YaHei"/>
                        </a:rPr>
                        <a:t>HL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Microsoft YaHei"/>
                        </a:rPr>
                        <a:t>20, 40, 60, 90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Microsoft YaHei"/>
                        </a:rPr>
                        <a:t>0.26, 0.26, 0.26, 0.25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Microsoft YaHei"/>
                        </a:rPr>
                        <a:t>SY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Microsoft YaHei"/>
                        </a:rPr>
                        <a:t>10, 20, 30, 40, 60, 100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Microsoft YaHei"/>
                        </a:rPr>
                        <a:t>0.27, 0.24, 0.24, 0.24, 0.23, 0.25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Microsoft YaHei"/>
                        </a:rPr>
                        <a:t>LC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Microsoft YaHei"/>
                        </a:rPr>
                        <a:t>20, 40, 110, 150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Microsoft YaHei"/>
                        </a:rPr>
                        <a:t>0.22, 0.25, 0.26, 0.25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Microsoft YaHei"/>
                        </a:rPr>
                        <a:t>YC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Microsoft YaHei"/>
                        </a:rPr>
                        <a:t>15, 30, 60, 90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Microsoft YaHei"/>
                        </a:rPr>
                        <a:t>0.22, 0.25, 0.26, 0.25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Microsoft YaHei"/>
                        </a:rPr>
                        <a:t>FQ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Microsoft YaHei"/>
                        </a:rPr>
                        <a:t>30, 70, 100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Microsoft YaHei"/>
                        </a:rPr>
                        <a:t>0.17, 0.28, 0.27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icrosoft YaHei"/>
              </a:rPr>
              <a:t>Mineral Nitrogen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Keep measured or record-based SNH4 and SNO3 values.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Fill only missing -99 values needed by nitrogen-enabled simulations.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Estimated values are clearly labeled as estimates, not measurements.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SY 100 cm values follow the observed downward trend from 60 cm.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FQ values use conservative North China Plain / nearby-station profile logic (Cui et al.; Liu et al.).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icrosoft YaHei"/>
              </a:rPr>
              <a:t>Current Mineral N Assessment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43000"/>
          <a:ext cx="10698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Station</a:t>
                      </a:r>
                    </a:p>
                  </a:txBody>
                  <a:tcPr marL="32004" marR="32004" marT="18288" marB="18288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Assessment</a:t>
                      </a:r>
                    </a:p>
                  </a:txBody>
                  <a:tcPr marL="32004" marR="32004" marT="18288" marB="18288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Action</a:t>
                      </a:r>
                    </a:p>
                  </a:txBody>
                  <a:tcPr marL="32004" marR="32004" marT="18288" marB="18288">
                    <a:solidFill>
                      <a:srgbClr val="4472C4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HL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High NH4 in surface layer, but record-based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Keep original mineral N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SY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100 cm mineral N missing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Estimate SNH4=3.50, SNO3=1.50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LC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Record-based profile; deep nitrate plausible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Keep original mineral N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YC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Record-based and plausible for NCP maize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Keep original mineral N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FQ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All mineral N missing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Estimate conservative SNH4/SNO3 profile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icrosoft YaHei"/>
              </a:rPr>
              <a:t>Final Initial Conditions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60120"/>
          <a:ext cx="115671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860"/>
                <a:gridCol w="1927860"/>
                <a:gridCol w="1927860"/>
                <a:gridCol w="1927860"/>
                <a:gridCol w="1927860"/>
                <a:gridCol w="1927860"/>
              </a:tblGrid>
              <a:tr h="838200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Microsoft YaHei"/>
                        </a:rPr>
                        <a:t>Station</a:t>
                      </a:r>
                    </a:p>
                  </a:txBody>
                  <a:tcPr marL="32004" marR="32004" marT="18288" marB="18288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Microsoft YaHei"/>
                        </a:rPr>
                        <a:t>Layer</a:t>
                      </a:r>
                    </a:p>
                  </a:txBody>
                  <a:tcPr marL="32004" marR="32004" marT="18288" marB="18288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Microsoft YaHei"/>
                        </a:rPr>
                        <a:t>SH2O</a:t>
                      </a:r>
                    </a:p>
                  </a:txBody>
                  <a:tcPr marL="32004" marR="32004" marT="18288" marB="18288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Microsoft YaHei"/>
                        </a:rPr>
                        <a:t>SNH4</a:t>
                      </a:r>
                    </a:p>
                  </a:txBody>
                  <a:tcPr marL="32004" marR="32004" marT="18288" marB="18288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Microsoft YaHei"/>
                        </a:rPr>
                        <a:t>SNO3</a:t>
                      </a:r>
                    </a:p>
                  </a:txBody>
                  <a:tcPr marL="32004" marR="32004" marT="18288" marB="18288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Microsoft YaHei"/>
                        </a:rPr>
                        <a:t>N source</a:t>
                      </a:r>
                    </a:p>
                  </a:txBody>
                  <a:tcPr marL="32004" marR="32004" marT="18288" marB="18288">
                    <a:solidFill>
                      <a:srgbClr val="4472C4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HL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20/40/60/90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0.26/0.26/0.26/0.25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22.7/10.8/15.1/8.2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10.1/11.3/12.5/8.1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record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SY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10/20/30/40/60/100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0.27/0.24/0.24/0.24/0.23/0.25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4.57/4.55/4.07/4.05/3.82/3.50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2.60/2.62/2.54/2.52/2.00/1.50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100 cm estimated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LC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20/40/110/150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0.22/0.25/0.26/0.25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4.0/4.0/4.0/4.0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5.3/4.5/6.2/14.6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record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YC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15/30/60/90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0.22/0.25/0.26/0.25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4.0/4.0/4.0/4.0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10.0/8.0/6.0/5.0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record</a:t>
                      </a:r>
                    </a:p>
                  </a:txBody>
                  <a:tcPr marL="32004" marR="32004" marT="18288" marB="18288">
                    <a:solidFill>
                      <a:srgbClr val="DDEBF7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FQ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30/70/100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0.17/0.28/0.27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4.0/4.0/4.0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5.0/6.0/8.0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00000"/>
                          </a:solidFill>
                          <a:latin typeface="Microsoft YaHei"/>
                        </a:rPr>
                        <a:t>estimated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icrosoft YaHei"/>
              </a:rPr>
              <a:t>Notes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Filled -99 mineral N values are estimates, not measurements.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The 0.55 soil water fraction is one adopted setting, not a sensitivity-test result.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The updated templates should be smoke-tested with short DSSAT/gym-DSSAT runs.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Key diagnostics after the smoke test: SWFAC, NSTRES, TOPWT, GRNWT, irrigation, fertilizer action, and reward.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icrosoft YaHe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000000"/>
                </a:solidFill>
                <a:latin typeface="Microsoft YaHei"/>
              </a:rPr>
              <a:t>DSSAT User's Guide, Volume 4. https://dssat.net/wp-content/uploads/2011/10/DSSAT-vol4.pdf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000000"/>
                </a:solidFill>
                <a:latin typeface="Microsoft YaHei"/>
              </a:rPr>
              <a:t>DSSAT Foundation. Soil water balance overview. https://dssat.net/soil-water/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000000"/>
                </a:solidFill>
                <a:latin typeface="Microsoft YaHei"/>
              </a:rPr>
              <a:t>Allen et al. (1998). FAO-56 Crop evapotranspiration. https://www.fao.org/4/x0490e/x0490e0e.htm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000000"/>
                </a:solidFill>
                <a:latin typeface="Microsoft YaHei"/>
              </a:rPr>
              <a:t>Jones et al. DSSAT Cropping System Model. https://abe.ufl.edu/Faculty/jjones/ABE_5646/Week%207/The%20DSSAT%20Cropping%20System%20Model.pdf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000000"/>
                </a:solidFill>
                <a:latin typeface="Microsoft YaHei"/>
              </a:rPr>
              <a:t>Cui et al. Soil nitrate-N levels required for high yield maize in the North China Plain.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000000"/>
                </a:solidFill>
                <a:latin typeface="Microsoft YaHei"/>
              </a:rPr>
              <a:t>Liu et al. Nitrogen dynamics in a winter wheat-maize system in the North China Plain.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000000"/>
                </a:solidFill>
                <a:latin typeface="Microsoft YaHei"/>
              </a:rPr>
              <a:t>Cui et al. Current nitrogen management in China. https://pmc.ncbi.nlm.nih.gov/articles/PMC3357710/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