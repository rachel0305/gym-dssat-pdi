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2ef8977904c8a" /><Relationship Type="http://schemas.openxmlformats.org/officeDocument/2006/relationships/extended-properties" Target="/docProps/app.xml" Id="R38eb869df2cb44e5" /><Relationship Type="http://schemas.openxmlformats.org/officeDocument/2006/relationships/officeDocument" Target="/ppt/presentation.xml" Id="Rcbe4b3297d3e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a3bcc8b4774897"/>
  </p:sldMasterIdLst>
  <p:notesMasterIdLst>
    <p:notesMasterId xmlns:r="http://schemas.openxmlformats.org/officeDocument/2006/relationships" r:id="R29316d90f98e4ca4"/>
  </p:notesMasterIdLst>
  <p:sldIdLst>
    <p:sldId xmlns:r="http://schemas.openxmlformats.org/officeDocument/2006/relationships" id="256" r:id="Ra46f611c7d104bb0"/>
    <p:sldId xmlns:r="http://schemas.openxmlformats.org/officeDocument/2006/relationships" id="257" r:id="R279c47e0975743e4"/>
    <p:sldId xmlns:r="http://schemas.openxmlformats.org/officeDocument/2006/relationships" id="258" r:id="Rf3cfb792fc064726"/>
    <p:sldId xmlns:r="http://schemas.openxmlformats.org/officeDocument/2006/relationships" id="259" r:id="Rfa82427b4c364fd7"/>
    <p:sldId xmlns:r="http://schemas.openxmlformats.org/officeDocument/2006/relationships" id="260" r:id="Rfeb8a4d3ca3049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156c8d09b44e6d" /><Relationship Type="http://schemas.openxmlformats.org/officeDocument/2006/relationships/slideMaster" Target="/ppt/slideMasters/slideMaster1.xml" Id="R33a3bcc8b4774897" /><Relationship Type="http://schemas.openxmlformats.org/officeDocument/2006/relationships/notesMaster" Target="/ppt/notesMasters/notesMaster1.xml" Id="R29316d90f98e4ca4" /><Relationship Type="http://schemas.openxmlformats.org/officeDocument/2006/relationships/presProps" Target="/ppt/presProps.xml" Id="R51b8e68b6ae643c0" /><Relationship Type="http://schemas.openxmlformats.org/officeDocument/2006/relationships/tableStyles" Target="/ppt/tableStyles.xml" Id="R1dc0867b1ae14caa" /><Relationship Type="http://schemas.openxmlformats.org/officeDocument/2006/relationships/slide" Target="/ppt/slides/slide1.xml" Id="Ra46f611c7d104bb0" /><Relationship Type="http://schemas.openxmlformats.org/officeDocument/2006/relationships/slide" Target="/ppt/slides/slide2.xml" Id="R279c47e0975743e4" /><Relationship Type="http://schemas.openxmlformats.org/officeDocument/2006/relationships/slide" Target="/ppt/slides/slide3.xml" Id="Rf3cfb792fc064726" /><Relationship Type="http://schemas.openxmlformats.org/officeDocument/2006/relationships/slide" Target="/ppt/slides/slide4.xml" Id="Rfa82427b4c364fd7" /><Relationship Type="http://schemas.openxmlformats.org/officeDocument/2006/relationships/slide" Target="/ppt/slides/slide5.xml" Id="Rfeb8a4d3ca30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d96763686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4529d158484d94" /><Relationship Type="http://schemas.openxmlformats.org/officeDocument/2006/relationships/notesMaster" Target="/ppt/notesMasters/notesMaster1.xml" Id="R4ce5fbdfe6f0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dd347cf2cb4969" /><Relationship Type="http://schemas.openxmlformats.org/officeDocument/2006/relationships/notesMaster" Target="/ppt/notesMasters/notesMaster1.xml" Id="Rf763d3b400c5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67df0e12f14a9a" /><Relationship Type="http://schemas.openxmlformats.org/officeDocument/2006/relationships/notesMaster" Target="/ppt/notesMasters/notesMaster1.xml" Id="R1cecd8d757fb4e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5cf7ecb8d24b57" /><Relationship Type="http://schemas.openxmlformats.org/officeDocument/2006/relationships/notesMaster" Target="/ppt/notesMasters/notesMaster1.xml" Id="Rb2b09408675040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d40a2ff05a4add" /><Relationship Type="http://schemas.openxmlformats.org/officeDocument/2006/relationships/notesMaster" Target="/ppt/notesMasters/notesMaster1.xml" Id="R6e0574bd39f440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来源：bootstrap_audit_report.md; verification.json</a:t>
            </a:r>
          </a:p>
          <a:p xmlns:a="http://schemas.openxmlformats.org/drawingml/2006/main">
            <a:r>
              <a:t>固定2014—2023评价期，未经多重比较校正，探索性统计。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来源：scripts/analyze_weather_increment_076.py; scripts/section32_year_stability_080.py; methods_statistical_analysis.md</a:t>
            </a:r>
          </a:p>
          <a:p xmlns:a="http://schemas.openxmlformats.org/drawingml/2006/main">
            <a:r>
              <a:t>固定2014—2023评价期，未经多重比较校正，探索性统计。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来源：bootstrap_robustness_summary.csv; leave_one_seed_out_80.csv</a:t>
            </a:r>
          </a:p>
          <a:p xmlns:a="http://schemas.openxmlformats.org/drawingml/2006/main">
            <a:r>
              <a:t>固定2014—2023评价期，未经多重比较校正，探索性统计。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来源：bootstrap_robustness_summary.csv; leave_one_seed_out_80.csv</a:t>
            </a:r>
          </a:p>
          <a:p xmlns:a="http://schemas.openxmlformats.org/drawingml/2006/main">
            <a:r>
              <a:t>固定2014—2023评价期，未经多重比较校正，探索性统计。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来源：bootstrap_audit_report.md; section_3_2_final_zh.md; existing weather audit sources</a:t>
            </a:r>
          </a:p>
          <a:p xmlns:a="http://schemas.openxmlformats.org/drawingml/2006/main">
            <a:r>
              <a:t>固定2014—2023评价期，未经多重比较校正，探索性统计。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01bc356a541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c2999081e4c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bf87b84384c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e5ffc72ba4d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b54381b4e40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1cc08d48741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6F2A35-6E66-40C0-804F-96D6FC880B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495ADA-8DBA-47AE-813F-DEF7BAEDDA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36539B-879D-43C3-9A87-61EF408B0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7FC13A-641B-4B32-B4AC-94481E4E3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3B23B0-E12C-4A2A-A6F9-0E60B6E366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2A8A44-3E0A-4495-8302-FA61F596F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9E54C0-380A-4957-88AA-55942C880E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FF75A2-2961-4669-83E5-31E4B49FAE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8F5EBC-DFC8-49C1-950D-0F6119EB7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BF1429-ED2B-4D78-AABB-3AA6A1EAB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d9ab83f3da4156" /><Relationship Type="http://schemas.openxmlformats.org/officeDocument/2006/relationships/slideLayout" Target="/ppt/slideLayouts/slideLayout1.xml" Id="R1ea2eef2b5654842" /><Relationship Type="http://schemas.openxmlformats.org/officeDocument/2006/relationships/slideLayout" Target="/ppt/slideLayouts/slideLayout2.xml" Id="R22be85a7a12747c8" /><Relationship Type="http://schemas.openxmlformats.org/officeDocument/2006/relationships/slideLayout" Target="/ppt/slideLayouts/slideLayout3.xml" Id="Rdaab14cb48b7472f" /><Relationship Type="http://schemas.openxmlformats.org/officeDocument/2006/relationships/slideLayout" Target="/ppt/slideLayouts/slideLayout4.xml" Id="R58f5aa5db6194abd" /><Relationship Type="http://schemas.openxmlformats.org/officeDocument/2006/relationships/slideLayout" Target="/ppt/slideLayouts/slideLayout5.xml" Id="R14dac163483c42e4" /><Relationship Type="http://schemas.openxmlformats.org/officeDocument/2006/relationships/slideLayout" Target="/ppt/slideLayouts/slideLayout6.xml" Id="R2f24e537571c44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a2eef2b5654842"/>
    <p:sldLayoutId xmlns:r="http://schemas.openxmlformats.org/officeDocument/2006/relationships" id="2147483650" r:id="R22be85a7a12747c8"/>
    <p:sldLayoutId xmlns:r="http://schemas.openxmlformats.org/officeDocument/2006/relationships" id="2147483651" r:id="Rdaab14cb48b7472f"/>
    <p:sldLayoutId xmlns:r="http://schemas.openxmlformats.org/officeDocument/2006/relationships" id="2147483652" r:id="R58f5aa5db6194abd"/>
    <p:sldLayoutId xmlns:r="http://schemas.openxmlformats.org/officeDocument/2006/relationships" id="2147483653" r:id="R14dac163483c42e4"/>
    <p:sldLayoutId xmlns:r="http://schemas.openxmlformats.org/officeDocument/2006/relationships" id="2147483654" r:id="R2f24e537571c44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40ec0fdd9430f" /><Relationship Type="http://schemas.openxmlformats.org/officeDocument/2006/relationships/notesSlide" Target="/ppt/notesSlides/notesSlide1.xml" Id="Ra6da1a5ed84d4b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3ab38eeb3464c" /><Relationship Type="http://schemas.openxmlformats.org/officeDocument/2006/relationships/notesSlide" Target="/ppt/notesSlides/notesSlide2.xml" Id="R9a7fb1bfb2544f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bf6e3a1f24fb7" /><Relationship Type="http://schemas.openxmlformats.org/officeDocument/2006/relationships/notesSlide" Target="/ppt/notesSlides/notesSlide3.xml" Id="R77763c2da82043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62d68144745b4" /><Relationship Type="http://schemas.openxmlformats.org/officeDocument/2006/relationships/notesSlide" Target="/ppt/notesSlides/notesSlide4.xml" Id="R40c5e73c073940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ef0bbdb554873" /><Relationship Type="http://schemas.openxmlformats.org/officeDocument/2006/relationships/notesSlide" Target="/ppt/notesSlides/notesSlide5.xml" Id="Rdfc1593516fe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EB501-0655-4E3F-A8BD-99534CB7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统计计算可复现，HL区间判断对方法敏感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B6A4B-7FF1-4EFA-ADFC-764B03A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统计审计   2026-10-31   1/5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E6EFA-81E4-4C0B-9B77-66BC7879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rPr>
              <a:t>READY_WITH_CAVEATS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CC224-5698-4D9B-BE6E-763EF36B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五站 × 两组 × 8个训练seed × 固定10年</a:t>
            </a:r>
          </a:p>
          <a:p xmlns:a="http://schemas.openxmlformats.org/drawingml/2006/main">
            <a: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80个策略，800条年度产量，模型哈希全部核对</a:t>
            </a:r>
          </a:p>
          <a:p xmlns:a="http://schemas.openxmlformats.org/drawingml/2006/main">
            <a: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本轮复现原区间，仅补LOSO与Welch两项检查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2C710-D799-4019-975A-13D66358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不训练、不运行DSSAT、不生成天气</a:t>
            </a:r>
          </a:p>
        </p:txBody>
      </p:sp>
    </p:spTree>
    <p:extLst>
      <p:ext uri="{BB962C8B-B14F-4D97-AF65-F5344CB8AC3E}">
        <p14:creationId xmlns:p14="http://schemas.microsoft.com/office/powerpoint/2010/main" val="697782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175F9-C83C-49FA-8764-2400B27D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Bootstrap以训练seed为单位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81765-AA7D-489F-A3EF-B3A6D8F6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统计审计   2026-10-31   2/5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7D9A0-24DD-4A53-B8E2-8FEA1165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每seed：十年均产，或十年样本SD（ddof=1）</a:t>
            </a:r>
          </a:p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每组：汇总8个策略统计量，计算增强组减历史组</a:t>
            </a:r>
          </a:p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组内独立有放回抽样，不按相同seed编号配对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448C3-6D59-4A58-B111-8CA64F41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均产：4,000次，随机种子20261030</a:t>
            </a:r>
          </a:p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年际SD：10,000次，随机种子20261031</a:t>
            </a:r>
          </a:p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经验Percentile区间，完整复现原随机流与索引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69182-644D-4723-A9FA-002D5DCE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rPr>
              <a:t>固定年份下的训练随机性，不代表未来任意年份</a:t>
            </a:r>
          </a:p>
        </p:txBody>
      </p:sp>
    </p:spTree>
    <p:extLst>
      <p:ext uri="{BB962C8B-B14F-4D97-AF65-F5344CB8AC3E}">
        <p14:creationId xmlns:p14="http://schemas.microsoft.com/office/powerpoint/2010/main" val="2050582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28BF-B612-40D9-ACE4-5DC1BABE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五站年际SD差异的稳健性检查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6C3EF-11FC-4794-B491-A71FAF0D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统计审计   2026-10-31   3/5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9D63E-1071-4A5B-AEC8-1198B5F670A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238250"/>
                <a:gridCol w="2952750"/>
                <a:gridCol w="2952750"/>
                <a:gridCol w="2857500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5720" marB="45720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ΔSD</a:t>
                      </a:r>
                    </a:p>
                  </a:txBody>
                  <a:tcPr marL="91440" marR="91440" marT="45720" marB="45720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Bootstrap 95%</a:t>
                      </a:r>
                    </a:p>
                  </a:txBody>
                  <a:tcPr marL="91440" marR="91440" marT="45720" marB="45720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Welch 95%</a:t>
                      </a:r>
                    </a:p>
                  </a:txBody>
                  <a:tcPr marL="91440" marR="91440" marT="45720" marB="45720">
                    <a:solidFill>
                      <a:srgbClr val="1233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LOSO范围</a:t>
                      </a:r>
                    </a:p>
                  </a:txBody>
                  <a:tcPr marL="91440" marR="91440" marT="45720" marB="45720">
                    <a:solidFill>
                      <a:srgbClr val="12334E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-22.8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[-223.6, 177.4]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[-260.9, 215.2]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[-82.6, 22.4]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145.2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[7.6, 304.0]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[-39.0, 329.4]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[97.7, 170.4]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LC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354.1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[-49.7, 737.4]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[-126.6, 834.8]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[265.6, 481.5]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-191.0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[-632.5, 284.1]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[-731.6, 349.5]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[-335.6, -117.5]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[-74.9, 201.6]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[-104.7, 219.5]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6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[22.2, 82.4]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6783F-152D-47A4-8AFF-0CAF334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单位 kg/ha。SY删除单seed后可反向，原本已无明确方向证据。</a:t>
            </a:r>
          </a:p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除HL外四站的Bootstrap与Welch区间均跨零。</a:t>
            </a:r>
          </a:p>
        </p:txBody>
      </p:sp>
    </p:spTree>
    <p:extLst>
      <p:ext uri="{BB962C8B-B14F-4D97-AF65-F5344CB8AC3E}">
        <p14:creationId xmlns:p14="http://schemas.microsoft.com/office/powerpoint/2010/main" val="625742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DFD5A-D99E-49DC-AC58-E7BB9190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HL增加方向保持，区间排零不稳健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037A8-41BF-4557-8BEE-F0BB291B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统计审计   2026-10-31   4/5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A14F6-E0E1-4876-9021-6562FCC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年际SD均值：884.0 → 1029.2 kg/ha</a:t>
            </a:r>
          </a:p>
          <a:p xmlns:a="http://schemas.openxmlformats.org/drawingml/2006/main">
            <a:pPr>
              <a:def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差值：+145.2 kg/ha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78E6C-0C63-4050-9574-147D1310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Bootstrap 95%：[7.6, 304.0]</a:t>
            </a:r>
          </a:p>
          <a:p xmlns:a="http://schemas.openxmlformats.org/drawingml/2006/main">
            <a:pPr>
              <a:def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Welch 95%：[−39.0, 329.4]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2F266-64F5-4949-A59F-4D9FA4DB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逐次删一个seed：差值 +97.7 至 +170.4，方向未反转</a:t>
            </a:r>
          </a:p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最小值：删除增强组seed5；最大值：删除历史组seed1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F03B7-3649-4F9C-8E37-C83F66C4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rPr>
              <a:t>保留“探索性增加”，不作正式显著性声明</a:t>
            </a:r>
          </a:p>
        </p:txBody>
      </p:sp>
    </p:spTree>
    <p:extLst>
      <p:ext uri="{BB962C8B-B14F-4D97-AF65-F5344CB8AC3E}">
        <p14:creationId xmlns:p14="http://schemas.microsoft.com/office/powerpoint/2010/main" val="18070723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4F76A-3769-44FF-80E3-E5ACEBDD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3.2可按限定范围收尾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C61C6-1B2D-4BBB-B6A1-8A142A79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统计审计   2026-10-31   5/5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6F24B-07E2-47F7-A923-B16CEFD4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分类B：计算正确，HL区间判断对统计方法敏感</a:t>
            </a:r>
          </a:p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原均产差异及区间全部复现，四站结论保持</a:t>
            </a:r>
          </a:p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Results仅调整HL确定性，Methods补齐抽样与限制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5F177-042F-42B0-A692-0985BA7C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8seed的小样本，所有95%区间未校正多重比较</a:t>
            </a:r>
          </a:p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固定十年与天气调度，不能推广任意未来年份</a:t>
            </a:r>
          </a:p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天气来源限制保留，统计审计不等于统一天气QC认证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B7353-A761-4477-941D-F3C723B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rPr>
              <a:t>READY_WITH_CAVEATS</a:t>
            </a:r>
          </a:p>
        </p:txBody>
      </p:sp>
    </p:spTree>
    <p:extLst>
      <p:ext uri="{BB962C8B-B14F-4D97-AF65-F5344CB8AC3E}">
        <p14:creationId xmlns:p14="http://schemas.microsoft.com/office/powerpoint/2010/main" val="1550488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2026-10-31T10:22:21.0830000Z</dcterms:created>
  <dcterms:modified xsi:type="dcterms:W3CDTF">2026-10-31T10:22:21.0830000Z</dcterms:modified>
</coreProperties>
</file>