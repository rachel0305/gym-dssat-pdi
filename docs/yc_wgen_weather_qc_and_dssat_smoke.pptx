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f9b394b8d4a45" /><Relationship Type="http://schemas.openxmlformats.org/officeDocument/2006/relationships/extended-properties" Target="/docProps/app.xml" Id="R67ff7b86e17b42f6" /><Relationship Type="http://schemas.openxmlformats.org/officeDocument/2006/relationships/officeDocument" Target="/ppt/presentation.xml" Id="R708647be4bf24a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e348bc96dc4282"/>
  </p:sldMasterIdLst>
  <p:notesMasterIdLst>
    <p:notesMasterId xmlns:r="http://schemas.openxmlformats.org/officeDocument/2006/relationships" r:id="R956b69c34ea3476e"/>
  </p:notesMasterIdLst>
  <p:sldIdLst>
    <p:sldId xmlns:r="http://schemas.openxmlformats.org/officeDocument/2006/relationships" id="256" r:id="R4592309d46144ec4"/>
    <p:sldId xmlns:r="http://schemas.openxmlformats.org/officeDocument/2006/relationships" id="257" r:id="R767919bbcf5f4eaf"/>
    <p:sldId xmlns:r="http://schemas.openxmlformats.org/officeDocument/2006/relationships" id="258" r:id="R93c89aa94ac5403d"/>
    <p:sldId xmlns:r="http://schemas.openxmlformats.org/officeDocument/2006/relationships" id="259" r:id="R596329d906dc4e10"/>
    <p:sldId xmlns:r="http://schemas.openxmlformats.org/officeDocument/2006/relationships" id="260" r:id="Rc6b5e86ca87e4bc1"/>
    <p:sldId xmlns:r="http://schemas.openxmlformats.org/officeDocument/2006/relationships" id="261" r:id="Re3cc8f1ed72746d6"/>
    <p:sldId xmlns:r="http://schemas.openxmlformats.org/officeDocument/2006/relationships" id="262" r:id="R71ccc7c7e4934e1f"/>
    <p:sldId xmlns:r="http://schemas.openxmlformats.org/officeDocument/2006/relationships" id="263" r:id="R4393eebe607b497c"/>
    <p:sldId xmlns:r="http://schemas.openxmlformats.org/officeDocument/2006/relationships" id="264" r:id="R422781357a4b4160"/>
    <p:sldId xmlns:r="http://schemas.openxmlformats.org/officeDocument/2006/relationships" id="265" r:id="R49fce8fd1b9847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6df15bd9c43b0" /><Relationship Type="http://schemas.openxmlformats.org/officeDocument/2006/relationships/slideMaster" Target="/ppt/slideMasters/slideMaster1.xml" Id="R27e348bc96dc4282" /><Relationship Type="http://schemas.openxmlformats.org/officeDocument/2006/relationships/notesMaster" Target="/ppt/notesMasters/notesMaster1.xml" Id="R956b69c34ea3476e" /><Relationship Type="http://schemas.openxmlformats.org/officeDocument/2006/relationships/presProps" Target="/ppt/presProps.xml" Id="R83bd6e37ce044a54" /><Relationship Type="http://schemas.openxmlformats.org/officeDocument/2006/relationships/tableStyles" Target="/ppt/tableStyles.xml" Id="R067cbecd60f14dee" /><Relationship Type="http://schemas.openxmlformats.org/officeDocument/2006/relationships/slide" Target="/ppt/slides/slide1.xml" Id="R4592309d46144ec4" /><Relationship Type="http://schemas.openxmlformats.org/officeDocument/2006/relationships/slide" Target="/ppt/slides/slide2.xml" Id="R767919bbcf5f4eaf" /><Relationship Type="http://schemas.openxmlformats.org/officeDocument/2006/relationships/slide" Target="/ppt/slides/slide3.xml" Id="R93c89aa94ac5403d" /><Relationship Type="http://schemas.openxmlformats.org/officeDocument/2006/relationships/slide" Target="/ppt/slides/slide4.xml" Id="R596329d906dc4e10" /><Relationship Type="http://schemas.openxmlformats.org/officeDocument/2006/relationships/slide" Target="/ppt/slides/slide5.xml" Id="Rc6b5e86ca87e4bc1" /><Relationship Type="http://schemas.openxmlformats.org/officeDocument/2006/relationships/slide" Target="/ppt/slides/slide6.xml" Id="Re3cc8f1ed72746d6" /><Relationship Type="http://schemas.openxmlformats.org/officeDocument/2006/relationships/slide" Target="/ppt/slides/slide7.xml" Id="R71ccc7c7e4934e1f" /><Relationship Type="http://schemas.openxmlformats.org/officeDocument/2006/relationships/slide" Target="/ppt/slides/slide8.xml" Id="R4393eebe607b497c" /><Relationship Type="http://schemas.openxmlformats.org/officeDocument/2006/relationships/slide" Target="/ppt/slides/slide9.xml" Id="R422781357a4b4160" /><Relationship Type="http://schemas.openxmlformats.org/officeDocument/2006/relationships/slide" Target="/ppt/slides/slide10.xml" Id="R49fce8fd1b98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eab24f187441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5edab8fda2421c" /><Relationship Type="http://schemas.openxmlformats.org/officeDocument/2006/relationships/notesMaster" Target="/ppt/notesMasters/notesMaster1.xml" Id="Rc771b4024c41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25d9f260a438a" /><Relationship Type="http://schemas.openxmlformats.org/officeDocument/2006/relationships/notesMaster" Target="/ppt/notesMasters/notesMaster1.xml" Id="R227667dbbed4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b67dfbc46646b9" /><Relationship Type="http://schemas.openxmlformats.org/officeDocument/2006/relationships/notesMaster" Target="/ppt/notesMasters/notesMaster1.xml" Id="R010fe36d17bd46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9c4bff54ce4d9d" /><Relationship Type="http://schemas.openxmlformats.org/officeDocument/2006/relationships/notesMaster" Target="/ppt/notesMasters/notesMaster1.xml" Id="Ra02abcff48624c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c78ffda28642ae" /><Relationship Type="http://schemas.openxmlformats.org/officeDocument/2006/relationships/notesMaster" Target="/ppt/notesMasters/notesMaster1.xml" Id="Rf19d46c081354f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c83b6f9b741cc" /><Relationship Type="http://schemas.openxmlformats.org/officeDocument/2006/relationships/notesMaster" Target="/ppt/notesMasters/notesMaster1.xml" Id="R8a6b94a37c874a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fcbc1c819b4210" /><Relationship Type="http://schemas.openxmlformats.org/officeDocument/2006/relationships/notesMaster" Target="/ppt/notesMasters/notesMaster1.xml" Id="R1cb7ff50651d4d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2d8d801f6d49c1" /><Relationship Type="http://schemas.openxmlformats.org/officeDocument/2006/relationships/notesMaster" Target="/ppt/notesMasters/notesMaster1.xml" Id="R14ee86906a1e49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a88fc065e14898" /><Relationship Type="http://schemas.openxmlformats.org/officeDocument/2006/relationships/notesMaster" Target="/ppt/notesMasters/notesMaster1.xml" Id="R345f3c2c387747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6d86517dcc4219" /><Relationship Type="http://schemas.openxmlformats.org/officeDocument/2006/relationships/notesMaster" Target="/ppt/notesMasters/notesMaster1.xml" Id="R395622aaa2b1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来源：任务 prompt 003_06_06；QC、warning 与 crop 汇总见 results/yc_wgen_cli_pilot/003_06_06/。结论刻意区分 weather QC、crop smoke 和 PPO 准入。未进行 PPO。正式 CLI SHA256 65CF134600A5881706A5D435E1A09B276ED92A21FA5ABE2E18AAF63AF1E3A929。冻结训练天气 SHA256 4B8FFE9E881D0A0743921B78B9C0E0EBFB1D2D645C5AA9737948B2B088ED7B34。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固定窗口从 seed 日期交集自动计算。seed 完整时长为 116–120 天；完整模拟期统计另存 full_simulation_period_weather.csv，并未混入共同窗口比较。闰日不在共同窗口内。Reference: frozen training weather 2004–2013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共同窗口降雨总量 (mm)：训练年 2004–2013 = 652.1, 545.2, 289.7, 362.8, 374.0, 551.9, 682.6, 427.4, 470.6, 578.5；WGEN 101–105 = 507.73, 509.51, 466.44, 290.10, 483.08。RAIN wet day threshold remains &gt;0.0 mm. Source: rainfall_structure_qc.csv and monthly_weather_qc.csv.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温度 QC 的全分布统计、极值、P05/P50/P95 见 temperature_qc.csv。共同窗口 mean TMAX seed 101–105: 30.8978, 30.6522, 31.3580, 32.1054, 30.9616 °C；mean TMIN: 20.4099, 20.0191, 20.7964, 21.0780, 20.4630 °C。Train pooled daily TMAX P90=35.4 °C; TMIN P05=13.119 °C. Percentiles are descriptive only, not used to refit WGEN.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共同窗口 mean SRAD seed 101–105: 16.64166, 17.03575, 16.04287, 16.44860, 17.05075 MJ m-2 d-1. Historical annual mean range=15.8655–17.4024. Daily SRAD was nonnegative. Full summaries in srad_qc.csv.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详见 runtime_warning_audit.csv、warning_summary.json 与 warning_evidence/。A=0，B=6，C=36，总计42离散事件。PHOTO L→C 与 STONES/ADCOEF 默认是历史基线已存在的问题；YC 土壤 profile 缺失 STONES/SLCF、SADC/ADCOEF 来源值，未作主观补值。FileX 隔离副本有站点坐标，但 DSSAT runtime 未接收，warnings 将 CYCRDin/CXCRDin/CELEVin 设为零，因此归类 C。Cultivar warning 未观察到。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最终有效结果来自 crop_output_summary.csv；控制运行历史 WTH hash 已核验，random seed 101/104 正确调用 WGEN。三组 WTHER 归一化 FileX SHA256 = 69D439249753829DAA1EFF2E8DFAF050B8CE925C6C7296BA909C382CE6BA8077。产量差异仅用于合理性 smoke，不构成表现比较，尤其坐标 transfer blocker 尚未解决。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 crop_smoke/phenology_summary.csv。播种均为 2008-06-18；出苗日期分别 06-23、06-23、06-26；anthesis 分别 08-14、08-14、08-11；成熟/收获分别 10-01、09-28、09-24。DAP=105、102、98。时间轴按实际公历日比例绘制。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crop_smoke_summary.json、dssat_water_n_stress_summary.csv 与 crop_output_summary.csv。所有输出有限，stress factors 位于0–1。管理事件日志核实 irrigation=120 mm，N=96+207=303 kg/ha。此处不比较不同运行期的累计降雨，不将其解释为处理效应。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本轮没有训练 PPO，没有调节 CLI/WGEN 参数或湿日阈值，没有用 validation weather 拟合，也没有修改其他站点。后续修复只针对隔离副本和运行时传递路径；土壤缺失值不得臆填。若修复后 runtime 坐标通过同一输入链核验，再重复当前三组 crop smoke，重新审查 warnings 后方可决定 random-weather PPO pilot。DSSAT FileX XCRD/YCRD/ELEV format reference: https://dssat.net/wp-content/uploads/2011/10/DSSAT-vol4.pdf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097cdad8c45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9301e4e50b4abe" /><Relationship Type="http://schemas.openxmlformats.org/officeDocument/2006/relationships/slideLayout" Target="/ppt/slideLayouts/slideLayout1.xml" Id="R2c2a9f8c7c58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a9f8c7c58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eacf6e3ad403b" /><Relationship Type="http://schemas.openxmlformats.org/officeDocument/2006/relationships/notesSlide" Target="/ppt/notesSlides/notesSlide1.xml" Id="R66f1e638f7c848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04985fa74eaa" /><Relationship Type="http://schemas.openxmlformats.org/officeDocument/2006/relationships/notesSlide" Target="/ppt/notesSlides/notesSlide2.xml" Id="Rdcd8ccef267140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5f7a8fe3c4162" /><Relationship Type="http://schemas.openxmlformats.org/officeDocument/2006/relationships/chart" Target="/ppt/slides/charts/chart1.xml" Id="R41070d444dfc4c6e" /><Relationship Type="http://schemas.openxmlformats.org/officeDocument/2006/relationships/notesSlide" Target="/ppt/notesSlides/notesSlide3.xml" Id="R570f1c73837647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1d32af0114928" /><Relationship Type="http://schemas.openxmlformats.org/officeDocument/2006/relationships/chart" Target="/ppt/slides/charts/chart2.xml" Id="Rdada2005c8c64cbc" /><Relationship Type="http://schemas.openxmlformats.org/officeDocument/2006/relationships/chart" Target="/ppt/slides/charts/chart3.xml" Id="Rcad651687c124987" /><Relationship Type="http://schemas.openxmlformats.org/officeDocument/2006/relationships/notesSlide" Target="/ppt/notesSlides/notesSlide4.xml" Id="R15625d9d8e7b4d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7ea0427fd49eb" /><Relationship Type="http://schemas.openxmlformats.org/officeDocument/2006/relationships/chart" Target="/ppt/slides/charts/chart4.xml" Id="Ra33bd125c3fa4c8c" /><Relationship Type="http://schemas.openxmlformats.org/officeDocument/2006/relationships/notesSlide" Target="/ppt/notesSlides/notesSlide5.xml" Id="R73a333dec661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1583c7a964003" /><Relationship Type="http://schemas.openxmlformats.org/officeDocument/2006/relationships/notesSlide" Target="/ppt/notesSlides/notesSlide6.xml" Id="R2675d301352b4b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80d95b9374664" /><Relationship Type="http://schemas.openxmlformats.org/officeDocument/2006/relationships/chart" Target="/ppt/slides/charts/chart5.xml" Id="R515e29e5f288440e" /><Relationship Type="http://schemas.openxmlformats.org/officeDocument/2006/relationships/notesSlide" Target="/ppt/notesSlides/notesSlide7.xml" Id="Rcd10e0cbe3b9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c15ee110f4f73" /><Relationship Type="http://schemas.openxmlformats.org/officeDocument/2006/relationships/notesSlide" Target="/ppt/notesSlides/notesSlide8.xml" Id="R2d9b50f32cf74f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630d1687c43ba" /><Relationship Type="http://schemas.openxmlformats.org/officeDocument/2006/relationships/notesSlide" Target="/ppt/notesSlides/notesSlide9.xml" Id="R944dd5c70e4347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2e56b37b944d2" /><Relationship Type="http://schemas.openxmlformats.org/officeDocument/2006/relationships/notesSlide" Target="/ppt/notesSlides/notesSlide10.xml" Id="Re9ad87ff7ef9417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值</c:v>
          </c:tx>
          <c:spPr>
            <a:solidFill xmlns:a="http://schemas.openxmlformats.org/drawingml/2006/main">
              <a:srgbClr val="147A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cat>
            <c:numRef>
              <c:f>'Chart Data'!$A$2:$A$16</c:f>
              <c:numCache>
                <c:formatCode>General</c:formatCode>
                <c:ptCount val="15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101</c:v>
                </c:pt>
                <c:pt idx="11">
                  <c:v>102</c:v>
                </c:pt>
                <c:pt idx="12">
                  <c:v>103</c:v>
                </c:pt>
                <c:pt idx="13">
                  <c:v>104</c:v>
                </c:pt>
                <c:pt idx="14">
                  <c:v>105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652.1</c:v>
                </c:pt>
                <c:pt idx="1">
                  <c:v>545.2</c:v>
                </c:pt>
                <c:pt idx="2">
                  <c:v>289.7</c:v>
                </c:pt>
                <c:pt idx="3">
                  <c:v>362.8</c:v>
                </c:pt>
                <c:pt idx="4">
                  <c:v>374</c:v>
                </c:pt>
                <c:pt idx="5">
                  <c:v>551.9</c:v>
                </c:pt>
                <c:pt idx="6">
                  <c:v>682.6</c:v>
                </c:pt>
                <c:pt idx="7">
                  <c:v>427.4</c:v>
                </c:pt>
                <c:pt idx="8">
                  <c:v>470.6</c:v>
                </c:pt>
                <c:pt idx="9">
                  <c:v>578.5</c:v>
                </c:pt>
                <c:pt idx="10">
                  <c:v>507.73</c:v>
                </c:pt>
                <c:pt idx="11">
                  <c:v>509.51</c:v>
                </c:pt>
                <c:pt idx="12">
                  <c:v>466.44</c:v>
                </c:pt>
                <c:pt idx="13">
                  <c:v>290.1</c:v>
                </c:pt>
                <c:pt idx="14">
                  <c:v>483.08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86864"/>
                    </a:solidFill>
                    <a:latin typeface="Arial"/>
                    <a:ea typeface="Arial"/>
                    <a:cs typeface="Arial"/>
                  </a:rPr>
                  <a:t>降雨总量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8686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BFCFA"/>
        </a:solidFill>
        <a:ln xmlns:a="http://schemas.openxmlformats.org/drawingml/2006/main" w="0">
          <a:solidFill>
            <a:srgbClr val="FBFCFA"/>
          </a:solidFill>
          <a:prstDash val="solid"/>
        </a:ln>
      </c:spPr>
    </c:plotArea>
    <c:plotVisOnly val="1"/>
  </c:chart>
  <c:spPr>
    <a:solidFill xmlns:a="http://schemas.openxmlformats.org/drawingml/2006/main">
      <a:srgbClr val="FBFCFA"/>
    </a:solidFill>
    <a:ln xmlns:a="http://schemas.openxmlformats.org/drawingml/2006/main" w="0">
      <a:solidFill>
        <a:srgbClr val="FBFCFA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值</c:v>
          </c:tx>
          <c:spPr>
            <a:solidFill xmlns:a="http://schemas.openxmlformats.org/drawingml/2006/main">
              <a:srgbClr val="147A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cat>
            <c:numRef>
              <c:f>'Chart Data'!$A$2:$A$6</c:f>
              <c:numCache>
                <c:formatCode>General</c:formatCode>
                <c:ptCount val="5"/>
                <c:pt idx="0">
                  <c:v>101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  <c:pt idx="4">
                  <c:v>105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30.8978</c:v>
                </c:pt>
                <c:pt idx="1">
                  <c:v>30.6522</c:v>
                </c:pt>
                <c:pt idx="2">
                  <c:v>31.358</c:v>
                </c:pt>
                <c:pt idx="3">
                  <c:v>32.1054</c:v>
                </c:pt>
                <c:pt idx="4">
                  <c:v>30.9616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4"/>
          <c:min val="2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86864"/>
                    </a:solidFill>
                    <a:latin typeface="Arial"/>
                    <a:ea typeface="Arial"/>
                    <a:cs typeface="Arial"/>
                  </a:rPr>
                  <a:t>°C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8686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BFCFA"/>
        </a:solidFill>
        <a:ln xmlns:a="http://schemas.openxmlformats.org/drawingml/2006/main" w="0">
          <a:solidFill>
            <a:srgbClr val="FBFCFA"/>
          </a:solidFill>
          <a:prstDash val="solid"/>
        </a:ln>
      </c:spPr>
    </c:plotArea>
    <c:plotVisOnly val="1"/>
  </c:chart>
  <c:spPr>
    <a:solidFill xmlns:a="http://schemas.openxmlformats.org/drawingml/2006/main">
      <a:srgbClr val="FBFCFA"/>
    </a:solidFill>
    <a:ln xmlns:a="http://schemas.openxmlformats.org/drawingml/2006/main" w="0">
      <a:solidFill>
        <a:srgbClr val="FBFCFA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值</c:v>
          </c:tx>
          <c:spPr>
            <a:solidFill xmlns:a="http://schemas.openxmlformats.org/drawingml/2006/main">
              <a:srgbClr val="147A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cat>
            <c:numRef>
              <c:f>'Chart Data'!$A$2:$A$6</c:f>
              <c:numCache>
                <c:formatCode>General</c:formatCode>
                <c:ptCount val="5"/>
                <c:pt idx="0">
                  <c:v>101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  <c:pt idx="4">
                  <c:v>105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20.4099</c:v>
                </c:pt>
                <c:pt idx="1">
                  <c:v>20.0191</c:v>
                </c:pt>
                <c:pt idx="2">
                  <c:v>20.7964</c:v>
                </c:pt>
                <c:pt idx="3">
                  <c:v>21.078</c:v>
                </c:pt>
                <c:pt idx="4">
                  <c:v>20.463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1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86864"/>
                    </a:solidFill>
                    <a:latin typeface="Arial"/>
                    <a:ea typeface="Arial"/>
                    <a:cs typeface="Arial"/>
                  </a:rPr>
                  <a:t>°C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8686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BFCFA"/>
        </a:solidFill>
        <a:ln xmlns:a="http://schemas.openxmlformats.org/drawingml/2006/main" w="0">
          <a:solidFill>
            <a:srgbClr val="FBFCFA"/>
          </a:solidFill>
          <a:prstDash val="solid"/>
        </a:ln>
      </c:spPr>
    </c:plotArea>
    <c:plotVisOnly val="1"/>
  </c:chart>
  <c:spPr>
    <a:solidFill xmlns:a="http://schemas.openxmlformats.org/drawingml/2006/main">
      <a:srgbClr val="FBFCFA"/>
    </a:solidFill>
    <a:ln xmlns:a="http://schemas.openxmlformats.org/drawingml/2006/main" w="0">
      <a:solidFill>
        <a:srgbClr val="FBFCFA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值</c:v>
          </c:tx>
          <c:spPr>
            <a:solidFill xmlns:a="http://schemas.openxmlformats.org/drawingml/2006/main">
              <a:srgbClr val="147A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47A68"/>
              </a:solidFill>
            </c:spPr>
          </c:dPt>
          <c:cat>
            <c:numRef>
              <c:f>'Chart Data'!$A$2:$A$6</c:f>
              <c:numCache>
                <c:formatCode>General</c:formatCode>
                <c:ptCount val="5"/>
                <c:pt idx="0">
                  <c:v>101</c:v>
                </c:pt>
                <c:pt idx="1">
                  <c:v>102</c:v>
                </c:pt>
                <c:pt idx="2">
                  <c:v>103</c:v>
                </c:pt>
                <c:pt idx="3">
                  <c:v>104</c:v>
                </c:pt>
                <c:pt idx="4">
                  <c:v>105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16.6417</c:v>
                </c:pt>
                <c:pt idx="1">
                  <c:v>17.0357</c:v>
                </c:pt>
                <c:pt idx="2">
                  <c:v>16.0429</c:v>
                </c:pt>
                <c:pt idx="3">
                  <c:v>16.4486</c:v>
                </c:pt>
                <c:pt idx="4">
                  <c:v>17.0507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9"/>
          <c:min val="1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86864"/>
                    </a:solidFill>
                    <a:latin typeface="Arial"/>
                    <a:ea typeface="Arial"/>
                    <a:cs typeface="Arial"/>
                  </a:rPr>
                  <a:t>MJ m⁻² d⁻¹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8686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BFCFA"/>
        </a:solidFill>
        <a:ln xmlns:a="http://schemas.openxmlformats.org/drawingml/2006/main" w="0">
          <a:solidFill>
            <a:srgbClr val="FBFCFA"/>
          </a:solidFill>
          <a:prstDash val="solid"/>
        </a:ln>
      </c:spPr>
    </c:plotArea>
    <c:plotVisOnly val="1"/>
  </c:chart>
  <c:spPr>
    <a:solidFill xmlns:a="http://schemas.openxmlformats.org/drawingml/2006/main">
      <a:srgbClr val="FBFCFA"/>
    </a:solidFill>
    <a:ln xmlns:a="http://schemas.openxmlformats.org/drawingml/2006/main" w="0">
      <a:solidFill>
        <a:srgbClr val="FBFCFA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值</c:v>
          </c:tx>
          <c:spPr>
            <a:solidFill xmlns:a="http://schemas.openxmlformats.org/drawingml/2006/main">
              <a:srgbClr val="147A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9564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27A9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F713F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历史</c:v>
                </c:pt>
                <c:pt idx="1">
                  <c:v>101</c:v>
                </c:pt>
                <c:pt idx="2">
                  <c:v>104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7578</c:v>
                </c:pt>
                <c:pt idx="1">
                  <c:v>7326</c:v>
                </c:pt>
                <c:pt idx="2">
                  <c:v>7948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E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86864"/>
                    </a:solidFill>
                    <a:latin typeface="Arial"/>
                    <a:ea typeface="Arial"/>
                    <a:cs typeface="Arial"/>
                  </a:rPr>
                  <a:t>kg/ha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86864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1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86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000"/>
      </c:valAx>
      <c:spPr>
        <a:solidFill xmlns:a="http://schemas.openxmlformats.org/drawingml/2006/main">
          <a:srgbClr val="FBFCFA"/>
        </a:solidFill>
        <a:ln xmlns:a="http://schemas.openxmlformats.org/drawingml/2006/main" w="0">
          <a:solidFill>
            <a:srgbClr val="FBFCFA"/>
          </a:solidFill>
          <a:prstDash val="solid"/>
        </a:ln>
      </c:spPr>
    </c:plotArea>
    <c:plotVisOnly val="1"/>
  </c:chart>
  <c:spPr>
    <a:solidFill xmlns:a="http://schemas.openxmlformats.org/drawingml/2006/main">
      <a:srgbClr val="FBFCFA"/>
    </a:solidFill>
    <a:ln xmlns:a="http://schemas.openxmlformats.org/drawingml/2006/main" w="0">
      <a:solidFill>
        <a:srgbClr val="FBFCFA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A729403-2B27-44F6-9D29-952A2A34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农业气象实验记录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2478871-375B-4AB9-B3E1-81C41F42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19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随机天气 QC</a:t>
            </a:r>
          </a:p>
          <a:p xmlns:a="http://schemas.openxmlformats.org/drawingml/2006/main">
            <a:pPr algn="l">
              <a:defRPr sz="31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与 DSSAT 作物 Smoke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8C95B37-ACA2-4264-BFE4-8AA9AD4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2008 单站单季 · WGEN seeds 101–105 · 训练期参考 2004–2013</a:t>
            </a:r>
          </a:p>
        </p:txBody>
      </p:sp>
      <p:sp>
        <p:nvSpPr>
          <p:cNvPr id="4" name="status-band">
            <a:extLst xmlns:a="http://schemas.openxmlformats.org/drawingml/2006/main">
              <a:ext uri="{FF2B5EF4-FFF2-40B4-BE49-F238E27FC236}">
                <a16:creationId xmlns:a16="http://schemas.microsoft.com/office/drawing/2014/main" id="{AE664FAF-2D27-41F7-A575-A76D8C90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B4868F-6704-4BCA-AC10-B5EB253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天气 Gate 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8115C5-2C64-4815-896B-8A2ED116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PASS_WITH_NOTES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5DB1025-0BBC-48CC-9934-EE7D7CE3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33775"/>
            <a:ext cx="706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rPr>
              <a:t>作物运行完成；但坐标未进入 DSSAT runtime，PPO Gate 暂停</a:t>
            </a:r>
          </a:p>
        </p:txBody>
      </p:sp>
      <p:sp>
        <p:nvSpPr>
          <p:cNvPr id="8" name="共同天气窗口-accent">
            <a:extLst xmlns:a="http://schemas.openxmlformats.org/drawingml/2006/main">
              <a:ext uri="{FF2B5EF4-FFF2-40B4-BE49-F238E27FC236}">
                <a16:creationId xmlns:a16="http://schemas.microsoft.com/office/drawing/2014/main" id="{B94528BC-F0EC-470F-8058-D8A59A75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9B3E55C-4654-4F9F-9472-25039CD7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共同天气窗口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39CE3F5-C08F-4932-93D0-27F49F2D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116 天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924D1D-370C-4D73-9861-E40D6CA2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2008-06-01 至 09-24</a:t>
            </a:r>
          </a:p>
        </p:txBody>
      </p:sp>
      <p:sp>
        <p:nvSpPr>
          <p:cNvPr id="12" name="最终 crop smoke-accent">
            <a:extLst xmlns:a="http://schemas.openxmlformats.org/drawingml/2006/main">
              <a:ext uri="{FF2B5EF4-FFF2-40B4-BE49-F238E27FC236}">
                <a16:creationId xmlns:a16="http://schemas.microsoft.com/office/drawing/2014/main" id="{2851FA91-407B-4AC2-AF87-4E6016F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720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011E3AD-E713-4DA5-B4E5-49030B0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72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最终 crop smoke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C6E1B7-2041-44A2-91BD-9381F70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81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3 / 3 PASS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052777-6DDE-47D7-BC61-ED26F4C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历史 control + seeds 101、104</a:t>
            </a:r>
          </a:p>
        </p:txBody>
      </p:sp>
      <p:sp>
        <p:nvSpPr>
          <p:cNvPr id="16" name="PPO 准入-accent">
            <a:extLst xmlns:a="http://schemas.openxmlformats.org/drawingml/2006/main">
              <a:ext uri="{FF2B5EF4-FFF2-40B4-BE49-F238E27FC236}">
                <a16:creationId xmlns:a16="http://schemas.microsoft.com/office/drawing/2014/main" id="{0A9E993C-071A-477A-AC4A-58B4E8A4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4EE6C1A-D20D-4C01-9059-64A900CA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PPO 准入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CE00A86-4A4D-407B-99DA-68E8B4E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NO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C54DF04-6500-479D-A800-E8926015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339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坐标传递 warning 属 C 类阻塞</a:t>
            </a:r>
          </a:p>
        </p:txBody>
      </p:sp>
      <p:sp>
        <p:nvSpPr>
          <p:cNvPr id="20" name="bottom-rule">
            <a:extLst xmlns:a="http://schemas.openxmlformats.org/drawingml/2006/main">
              <a:ext uri="{FF2B5EF4-FFF2-40B4-BE49-F238E27FC236}">
                <a16:creationId xmlns:a16="http://schemas.microsoft.com/office/drawing/2014/main" id="{15292B73-9C1B-419F-B405-FFC45242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C273342-612B-4985-B9D5-C53AAF34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冻结边界：不 refit WGEN · 不改 wet-day 定义 · 不用 validation 拟合 · 不运行 PPO</a:t>
            </a:r>
          </a:p>
        </p:txBody>
      </p:sp>
    </p:spTree>
    <p:extLst>
      <p:ext uri="{BB962C8B-B14F-4D97-AF65-F5344CB8AC3E}">
        <p14:creationId xmlns:p14="http://schemas.microsoft.com/office/powerpoint/2010/main" val="48670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D78AE17-7C2E-4EF4-835B-E1D7AF54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9FF606B-881E-413B-9AB3-2180543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02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9873CDF-3C2F-4FC4-A778-75D33D74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比较口径：先对齐日历，再比较天气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0E1C8C4-4FF0-4615-AD6E-A50183B1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完整模拟期保留独立汇总；不同长度的累计量不直接横向比较。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432A806-4542-43E3-A652-839A10D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5230A5-80C6-46CF-8CD9-AC75F43A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7000D1-F288-4B4F-B368-A8D76791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34E631D3-DC6A-4526-B8A1-9AFD9C7B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44598B-31B3-4377-BDB4-8748FF87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7A6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B29DD0-F614-4EA2-B74B-8B64E229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WGEN seeds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1D3DF1-321D-49AF-8B60-0938EC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101 · 102 · 103 · 104 · 105</a:t>
            </a:r>
          </a:p>
        </p:txBody>
      </p:sp>
      <p:sp>
        <p:nvSpPr>
          <p:cNvPr id="12" name="connector-0">
            <a:extLst xmlns:a="http://schemas.openxmlformats.org/drawingml/2006/main">
              <a:ext uri="{FF2B5EF4-FFF2-40B4-BE49-F238E27FC236}">
                <a16:creationId xmlns:a16="http://schemas.microsoft.com/office/drawing/2014/main" id="{348B5CF4-87F5-4AAB-B6D0-DB9052AE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47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6BC8776-2E80-4C6F-A91A-79A05097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479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98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A6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tage-1">
            <a:extLst xmlns:a="http://schemas.openxmlformats.org/drawingml/2006/main">
              <a:ext uri="{FF2B5EF4-FFF2-40B4-BE49-F238E27FC236}">
                <a16:creationId xmlns:a16="http://schemas.microsoft.com/office/drawing/2014/main" id="{31C575C6-82D6-40CF-B250-CDD14B28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07AC1F-C3A7-481A-B83E-281152A2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764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45D6652-567F-4442-BD64-8AA73333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764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共同日历交集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AC3485E-F455-416E-84E8-903EE137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2008-06-01 → 2008-09-24 · 116 天</a:t>
            </a:r>
          </a:p>
        </p:txBody>
      </p:sp>
      <p:sp>
        <p:nvSpPr>
          <p:cNvPr id="18" name="connector-1">
            <a:extLst xmlns:a="http://schemas.openxmlformats.org/drawingml/2006/main">
              <a:ext uri="{FF2B5EF4-FFF2-40B4-BE49-F238E27FC236}">
                <a16:creationId xmlns:a16="http://schemas.microsoft.com/office/drawing/2014/main" id="{7C337728-DDC6-44DE-BB72-BD066B0D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479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4252CE-8390-460D-A3E3-5D38981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479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98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7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7A6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stage-2">
            <a:extLst xmlns:a="http://schemas.openxmlformats.org/drawingml/2006/main">
              <a:ext uri="{FF2B5EF4-FFF2-40B4-BE49-F238E27FC236}">
                <a16:creationId xmlns:a16="http://schemas.microsoft.com/office/drawing/2014/main" id="{5C1442FC-F1BD-4E53-A990-D5A8746C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C88634B-BA22-4469-BF2D-16D16DD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764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DA49B50-2FFE-4884-9CBB-6317E5CD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76475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训练期参照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973C43A-1A85-490B-BE6B-57D7163C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2004–2013 每年取相同月日</a:t>
            </a:r>
          </a:p>
        </p:txBody>
      </p:sp>
      <p:sp>
        <p:nvSpPr>
          <p:cNvPr id="24" name="window-band">
            <a:extLst xmlns:a="http://schemas.openxmlformats.org/drawingml/2006/main">
              <a:ext uri="{FF2B5EF4-FFF2-40B4-BE49-F238E27FC236}">
                <a16:creationId xmlns:a16="http://schemas.microsoft.com/office/drawing/2014/main" id="{11B61D60-3097-4273-AD53-5FAE2BA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85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57658AA-0329-4F82-B1CE-12BF71E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rPr>
              <a:t>固定窗口 QC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374666B-0F41-4409-8D0C-1695DB85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9525"/>
            <a:ext cx="840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RAIN · wet/dry spells · extremes · TMAX/TMIN · SRAD · 月尺度</a:t>
            </a:r>
          </a:p>
        </p:txBody>
      </p:sp>
      <p:sp>
        <p:nvSpPr>
          <p:cNvPr id="27" name="full-period-band">
            <a:extLst xmlns:a="http://schemas.openxmlformats.org/drawingml/2006/main">
              <a:ext uri="{FF2B5EF4-FFF2-40B4-BE49-F238E27FC236}">
                <a16:creationId xmlns:a16="http://schemas.microsoft.com/office/drawing/2014/main" id="{422B3EDC-D85A-4811-AD96-ED6A9191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1B56FCA-F3E0-4B3E-96E1-A224747A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完整模拟期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B4FE228-9461-4A1A-A0C1-DB8AF5E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81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各 seed 天数、累计雨量等单独列示；累计量标记为不可直接比较。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1DD875C-D9D4-4C89-9D8A-DB3842BD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参考统计是训练气候的描述性范围，不是接受阈值；未使用 2014–2023 validation 天气。</a:t>
            </a:r>
          </a:p>
        </p:txBody>
      </p:sp>
    </p:spTree>
    <p:extLst>
      <p:ext uri="{BB962C8B-B14F-4D97-AF65-F5344CB8AC3E}">
        <p14:creationId xmlns:p14="http://schemas.microsoft.com/office/powerpoint/2010/main" val="336601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438DEF5-5C62-4BAA-B825-8704C1E5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C20AF33-9396-4853-AD20-258EF06C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03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75C6681-3C62-4379-901C-2DF8672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降雨：季节总量重叠，结构有 seed 间差异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4C6683B-44D9-4E53-AF48-02DD6252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共同窗口累计降雨 (mm)；历史年以青绿显示，WGEN seed 以橙色显示。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6C95DA0-BB7A-4898-955E-0EABE323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876968-AB01-4772-A51D-DC0D82A8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978CC2B-E18E-4393-8D1A-381B30A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7429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070d444dfc4c6e"/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8F632E-6155-4D9A-BFBE-C65549E7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seed 101–105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3AC8B74-FB83-4AD7-9E10-F19B0B3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097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历史 2004–2013</a:t>
            </a:r>
          </a:p>
        </p:txBody>
      </p:sp>
      <p:sp>
        <p:nvSpPr>
          <p:cNvPr id="11" name="rain-separator">
            <a:extLst xmlns:a="http://schemas.openxmlformats.org/drawingml/2006/main">
              <a:ext uri="{FF2B5EF4-FFF2-40B4-BE49-F238E27FC236}">
                <a16:creationId xmlns:a16="http://schemas.microsoft.com/office/drawing/2014/main" id="{0EA67F52-DB1F-4FC5-B1C0-EEE5ACE5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ed 雨量范围-accent">
            <a:extLst xmlns:a="http://schemas.openxmlformats.org/drawingml/2006/main">
              <a:ext uri="{FF2B5EF4-FFF2-40B4-BE49-F238E27FC236}">
                <a16:creationId xmlns:a16="http://schemas.microsoft.com/office/drawing/2014/main" id="{85D2D3C5-86D4-4CCD-8F45-6017D87E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2D693BD-DBF0-43FF-A2E1-F901C2A7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seed 雨量范围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99212ED-7E4D-4D6E-BB7E-0209B7B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290–510 mm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67ABED6-A671-4833-A908-B4593C2D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765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5/5 落在历史年范围 290–683 mm</a:t>
            </a:r>
          </a:p>
        </p:txBody>
      </p:sp>
      <p:sp>
        <p:nvSpPr>
          <p:cNvPr id="16" name="湿日数-accent">
            <a:extLst xmlns:a="http://schemas.openxmlformats.org/drawingml/2006/main">
              <a:ext uri="{FF2B5EF4-FFF2-40B4-BE49-F238E27FC236}">
                <a16:creationId xmlns:a16="http://schemas.microsoft.com/office/drawing/2014/main" id="{796CDEF0-23D8-4D00-8992-3776A15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EACA10C-DC33-4ED4-9C3B-FDA02320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湿日数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567535-BE12-4A2C-9388-94CE371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22–37 天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A7A4E60-56E8-4EB0-A18B-F4FBD138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242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历史范围 23–45；seed 104 少 1 天</a:t>
            </a:r>
          </a:p>
        </p:txBody>
      </p:sp>
      <p:sp>
        <p:nvSpPr>
          <p:cNvPr id="20" name="最长干段-accent">
            <a:extLst xmlns:a="http://schemas.openxmlformats.org/drawingml/2006/main">
              <a:ext uri="{FF2B5EF4-FFF2-40B4-BE49-F238E27FC236}">
                <a16:creationId xmlns:a16="http://schemas.microsoft.com/office/drawing/2014/main" id="{FEF78919-1A59-41EB-9D01-129F7EAF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100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42E0CD-D6AA-4EC8-BFFC-8C4B80F6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10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最长干段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67BE698-6083-433F-A158-2F42E6D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19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12–21 天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37F4BC2-06AC-4131-B6DB-F7D5CBA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720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历史范围 7–42；五组均在范围内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FB08643-3803-43AC-A14B-ED1D8FD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月尺度局部偏离：seed 104 的 7–8 月、seed 102 的 6 月低于历史 P05；未见跨 seed 同向偏移。</a:t>
            </a:r>
          </a:p>
        </p:txBody>
      </p:sp>
    </p:spTree>
    <p:extLst>
      <p:ext uri="{BB962C8B-B14F-4D97-AF65-F5344CB8AC3E}">
        <p14:creationId xmlns:p14="http://schemas.microsoft.com/office/powerpoint/2010/main" val="2015507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F0ECF2-CFDF-4894-8663-59CF9F19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35823B0-03F0-4957-B497-492E46E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04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3BE98AD-8BDF-409B-B893-754A90C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温度：未见物理倒置，暖端备注集中在 seed 104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840859-ECAD-4467-8B7A-CB6DC1BC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共同窗口各 WGEN seed 均满足 TMAX ≥ TMIN；图示为 seed 均值，参考范围列于图旁。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D61F597-B9B5-4B2D-BF31-6CEC1036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B982BE-ED83-4C4D-B84D-0E3BFB3B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9EAB8A-49D7-428F-975A-6754D173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3915F4-FC45-4A72-B12B-62FA5AE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平均 TMAX (°C)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90550" y="205740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da2005c8c64cbc"/>
          </a:graphicData>
        </a:graphic>
      </p:graphicFrame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EDAD37-1B96-4D61-A62C-C3CEF285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rPr>
              <a:t>平均 TMIN (°C)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191250" y="205740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d651687c124987"/>
          </a:graphicData>
        </a:graphic>
      </p:graphicFrame>
      <p:sp>
        <p:nvSpPr>
          <p:cNvPr id="12" name="temp-note">
            <a:extLst xmlns:a="http://schemas.openxmlformats.org/drawingml/2006/main">
              <a:ext uri="{FF2B5EF4-FFF2-40B4-BE49-F238E27FC236}">
                <a16:creationId xmlns:a16="http://schemas.microsoft.com/office/drawing/2014/main" id="{1BAC7860-7FDF-4E6B-B43B-8A8015A9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839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8AA78D-116B-44FB-83B6-73089389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TMAX 年均值历史范围 28.97–31.65°C；4/5 seeds 重叠，seed 104 高约 0.45°C。热日数 (高于训练期 pooled P90=35.4°C)：15 / 11 / 17 / 29 / 17；仅 seed 104 超过历史年最高 24 天。</a:t>
            </a:r>
          </a:p>
        </p:txBody>
      </p:sp>
    </p:spTree>
    <p:extLst>
      <p:ext uri="{BB962C8B-B14F-4D97-AF65-F5344CB8AC3E}">
        <p14:creationId xmlns:p14="http://schemas.microsoft.com/office/powerpoint/2010/main" val="1265589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AFC6112-F575-4960-9D0C-DAAD951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A41908-309B-4D01-9161-2042F0D1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05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E882DB9-F839-4059-8D0E-C847CA85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短波辐射：生成均值覆盖训练期年度均值范围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7564C8-4019-4638-9D92-85A7C15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seed 日尺度分布保留变化；所有 SRAD 非负，未见系统性高低偏移或退化。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E5D330E-651B-4AA2-B4B8-B81CF471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A74CB15-040D-4F1D-864A-0F466194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E816561-54DE-404A-9686-E5C52E62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A4DE66-11E4-4CEF-8709-3E7B509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共同窗口平均 SRAD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00075" y="2038350"/>
          <a:ext xmlns:a="http://schemas.openxmlformats.org/drawingml/2006/main" cx="65722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3bd125c3fa4c8c"/>
          </a:graphicData>
        </a:graphic>
      </p:graphicFrame>
      <p:sp>
        <p:nvSpPr>
          <p:cNvPr id="10" name="srad-side-rule">
            <a:extLst xmlns:a="http://schemas.openxmlformats.org/drawingml/2006/main">
              <a:ext uri="{FF2B5EF4-FFF2-40B4-BE49-F238E27FC236}">
                <a16:creationId xmlns:a16="http://schemas.microsoft.com/office/drawing/2014/main" id="{4411E70B-3E62-41B4-8B7F-A090EA2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9525" cy="3552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GEN seed 均值-accent">
            <a:extLst xmlns:a="http://schemas.openxmlformats.org/drawingml/2006/main">
              <a:ext uri="{FF2B5EF4-FFF2-40B4-BE49-F238E27FC236}">
                <a16:creationId xmlns:a16="http://schemas.microsoft.com/office/drawing/2014/main" id="{D4ACE453-292C-42DE-A6BF-28BA167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907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DF2206-A03B-4ADC-8556-2497457D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WGEN seed 均值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1ADA01-6149-4DF1-857A-5A38DEEE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16.04–17.05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C60CAA-E490-46D2-8350-AA5A6CDE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527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MJ m⁻² d⁻¹</a:t>
            </a:r>
          </a:p>
        </p:txBody>
      </p:sp>
      <p:sp>
        <p:nvSpPr>
          <p:cNvPr id="15" name="历史年度均值-accent">
            <a:extLst xmlns:a="http://schemas.openxmlformats.org/drawingml/2006/main">
              <a:ext uri="{FF2B5EF4-FFF2-40B4-BE49-F238E27FC236}">
                <a16:creationId xmlns:a16="http://schemas.microsoft.com/office/drawing/2014/main" id="{76F58B67-0A42-41C5-85EF-277DF8B3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562FF75-8D60-4066-9AB6-3EA842C6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历史年度均值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373CBF3-08BB-4A34-8203-4AF7ACC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15.87–17.40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7BC815-959B-42D6-8F5B-01061F4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957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MJ m⁻² d⁻¹；5/5 seed 均在范围</a:t>
            </a:r>
          </a:p>
        </p:txBody>
      </p:sp>
      <p:sp>
        <p:nvSpPr>
          <p:cNvPr id="19" name="物理 / 变异检查-accent">
            <a:extLst xmlns:a="http://schemas.openxmlformats.org/drawingml/2006/main">
              <a:ext uri="{FF2B5EF4-FFF2-40B4-BE49-F238E27FC236}">
                <a16:creationId xmlns:a16="http://schemas.microsoft.com/office/drawing/2014/main" id="{8791E6FE-3C1D-4C3B-ACD2-B55E82F3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6C68DBA-E722-49A0-8C0D-9872B1D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物理 / 变异检查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8A26C16-9C55-4E81-BAF5-C8C1AFE6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3CD63FD-C9F5-493F-90A9-A39FF3E5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387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逐日非负且存在日际、seed 间变化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E3BC6DA-F1D0-4D32-AC40-15B3F0A7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逐 seed 的 SD、分位数及极值见 srad_qc.csv。</a:t>
            </a:r>
          </a:p>
        </p:txBody>
      </p:sp>
    </p:spTree>
    <p:extLst>
      <p:ext uri="{BB962C8B-B14F-4D97-AF65-F5344CB8AC3E}">
        <p14:creationId xmlns:p14="http://schemas.microsoft.com/office/powerpoint/2010/main" val="68702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BAF181-5DE7-4E30-B9A3-181F2E00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6A5DE8-58DB-4F0F-A6C6-2AA5399A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06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9493244-37C3-4B3B-9DFB-5C4C8C3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Runtime warnings：42 个离散事件，坐标传递是唯一 PPO 阻塞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BECB1D-EC01-468D-979E-2E526EA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三组最终运行共计：A=0，B=6，C=36；按事件计数，不按日志行数。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3C51BBE-4DC4-4477-8181-A2AB331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82913DB-D0CA-460A-BDFF-7352975A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018486E-D406-4A86-9093-1F10C014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47750"/>
                <a:gridCol w="1809750"/>
                <a:gridCol w="5105400"/>
              </a:tblGrid>
              <a:tr h="5429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事件数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</a:tr>
              <a:tr h="5429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PHOTO L →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· 基线局限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 control 同样出现；冻结兼容行为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STONES / ADCOEF 默认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· 基线局限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土壤源值缺失；不猜填，需披露不确定性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  <a:tr h="5429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FileX 纬度 / 经度 / 海拔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· 阻塞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runtime 坐标仍为占位/零；先修复再复跑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Cultivar warning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未观察到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品种字段存在；不推断参数校准充分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</a:tbl>
          </a:graphicData>
        </a:graphic>
      </p:graphicFrame>
      <p:sp>
        <p:nvSpPr>
          <p:cNvPr id="9" name="coordinate-callout">
            <a:extLst xmlns:a="http://schemas.openxmlformats.org/drawingml/2006/main">
              <a:ext uri="{FF2B5EF4-FFF2-40B4-BE49-F238E27FC236}">
                <a16:creationId xmlns:a16="http://schemas.microsoft.com/office/drawing/2014/main" id="{7E0B5F95-17F6-4CE8-AF11-01B40258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82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D7711A-06DC-445E-AD0B-FF1D22F1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rPr>
              <a:t>输入副本写有 36.830 / 116.570 / 22 m，但 DSSAT48.INP 仍为占位值，Summary.OUT 坐标为空，WARNING.OUT 显示坐标变量最终置零。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92C800-FBED-4D0D-9D9B-27C08820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036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结论：当前 crop smoke 可完成 ≠ 地理坐标已正确接收；DSSAT_CROP_SMOKE_READY = NO。</a:t>
            </a:r>
          </a:p>
        </p:txBody>
      </p:sp>
    </p:spTree>
    <p:extLst>
      <p:ext uri="{BB962C8B-B14F-4D97-AF65-F5344CB8AC3E}">
        <p14:creationId xmlns:p14="http://schemas.microsoft.com/office/powerpoint/2010/main" val="1643159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FEE861-D867-4323-B950-A223069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A2C3BCC-54E9-42A3-9236-D1A27921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07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878A994-7D44-4F69-BEA9-FE4CADD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作物 Smoke：三个情景均正常结束，差异不作性能解读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816D77-7ABD-4C09-9F72-4CC0E1AF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相同 YC 2008 treatment、cultivar、soil、management 与 runtime；WTHER 及天气来源按组切换。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A8124D2-091B-47EF-9D9F-E954371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01B3477-30CB-40D9-A5A9-9A1C1D7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40158A-6413-43AC-BAB9-1F59F4DD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66750" y="1847850"/>
          <a:ext xmlns:a="http://schemas.openxmlformats.org/drawingml/2006/main" cx="108585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047750"/>
                <a:gridCol w="1047750"/>
                <a:gridCol w="2190750"/>
                <a:gridCol w="2190750"/>
                <a:gridCol w="1905000"/>
              </a:tblGrid>
              <a:tr h="50006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WTHER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步数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籽粒产量 kg/ha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生物量 kg/ha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 LAI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历史天气 control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7,578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17,752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WGEN seed 101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7,326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17,387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4.61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WGEN seed 104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7,948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16,402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A98837-1F0C-4370-BC98-B0CC7AC4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籽粒产量 (kg/ha)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4419600"/>
          <a:ext xmlns:a="http://schemas.openxmlformats.org/drawingml/2006/main" cx="60007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5e29e5f288440e"/>
          </a:graphicData>
        </a:graphic>
      </p:graphicFrame>
      <p:sp>
        <p:nvSpPr>
          <p:cNvPr id="11" name="smoke-note-rule">
            <a:extLst xmlns:a="http://schemas.openxmlformats.org/drawingml/2006/main">
              <a:ext uri="{FF2B5EF4-FFF2-40B4-BE49-F238E27FC236}">
                <a16:creationId xmlns:a16="http://schemas.microsoft.com/office/drawing/2014/main" id="{250AC721-1F47-476D-B2AC-25569DB7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95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34670A-76E2-487C-B2AF-44917AB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767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有限性检查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12B2D58-D2BA-4195-AC55-39FEEF8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8152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yield、biomass、LAI 有限且非负；biomass ≥ yield。三组 WTHER 归一化 FileX hash 一致。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7B10AC4-4780-4D4E-BD9C-CFE0705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这是模拟链路 smoke，不是 WGEN 产量效应或 seed 排名。</a:t>
            </a:r>
          </a:p>
        </p:txBody>
      </p:sp>
    </p:spTree>
    <p:extLst>
      <p:ext uri="{BB962C8B-B14F-4D97-AF65-F5344CB8AC3E}">
        <p14:creationId xmlns:p14="http://schemas.microsoft.com/office/powerpoint/2010/main" val="1544341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28FB1F11-A187-443D-9B77-704FD5B9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9D71D8-6EF2-40D2-BC47-DBCE1FB1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08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9ED374-984B-4C07-9C1F-FAA62EF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物候：阶段顺序合理，季长随天气而变化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74F5A1-3EA1-4965-87E2-CB8457CA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播种、出苗、抽雄/开花、成熟/收获均存在；随机天气造成的日期差异允许。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42F3006-9BBA-41F2-A12F-34D934F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23CB86-7A6A-42CE-998D-60AF6F1E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62FB2A-95BE-4717-B5B1-04D4DFC8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9764FC-4621-4693-88B0-4C96AF9C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历史 control</a:t>
            </a:r>
          </a:p>
        </p:txBody>
      </p:sp>
      <p:sp>
        <p:nvSpPr>
          <p:cNvPr id="9" name="历史 control-timeline">
            <a:extLst xmlns:a="http://schemas.openxmlformats.org/drawingml/2006/main">
              <a:ext uri="{FF2B5EF4-FFF2-40B4-BE49-F238E27FC236}">
                <a16:creationId xmlns:a16="http://schemas.microsoft.com/office/drawing/2014/main" id="{1EC9B5DB-3C62-49A9-BF0C-C284EFE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719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历史 control-stage-0">
            <a:extLst xmlns:a="http://schemas.openxmlformats.org/drawingml/2006/main">
              <a:ext uri="{FF2B5EF4-FFF2-40B4-BE49-F238E27FC236}">
                <a16:creationId xmlns:a16="http://schemas.microsoft.com/office/drawing/2014/main" id="{6C8F0486-AED7-4C9F-9631-DC6F153D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6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F35D69-E551-49EB-9846-646DAD3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288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06-18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F6B5544-7A38-415F-A91C-DC722D45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52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播种</a:t>
            </a:r>
          </a:p>
        </p:txBody>
      </p:sp>
      <p:sp>
        <p:nvSpPr>
          <p:cNvPr id="13" name="历史 control-stage-1">
            <a:extLst xmlns:a="http://schemas.openxmlformats.org/drawingml/2006/main">
              <a:ext uri="{FF2B5EF4-FFF2-40B4-BE49-F238E27FC236}">
                <a16:creationId xmlns:a16="http://schemas.microsoft.com/office/drawing/2014/main" id="{9D327ECB-B62D-43C9-8040-CA290134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21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6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976646E-6802-4D12-B6F1-53E02F81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21" y="2057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06-23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F5C793-F830-4FDA-86CD-9AC27BEE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171" y="2552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出苗</a:t>
            </a:r>
          </a:p>
        </p:txBody>
      </p:sp>
      <p:sp>
        <p:nvSpPr>
          <p:cNvPr id="16" name="历史 control-stage-2">
            <a:extLst xmlns:a="http://schemas.openxmlformats.org/drawingml/2006/main">
              <a:ext uri="{FF2B5EF4-FFF2-40B4-BE49-F238E27FC236}">
                <a16:creationId xmlns:a16="http://schemas.microsoft.com/office/drawing/2014/main" id="{2B233505-350A-46DC-A1DC-33B6FE3F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864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6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7445B25-05E2-41B2-8C56-0C0ED6E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64" y="2000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08-14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2BEE671-AC6D-4F88-9977-72897787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614" y="2552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抽雄/开花</a:t>
            </a:r>
          </a:p>
        </p:txBody>
      </p:sp>
      <p:sp>
        <p:nvSpPr>
          <p:cNvPr id="19" name="历史 control-stage-3">
            <a:extLst xmlns:a="http://schemas.openxmlformats.org/drawingml/2006/main">
              <a:ext uri="{FF2B5EF4-FFF2-40B4-BE49-F238E27FC236}">
                <a16:creationId xmlns:a16="http://schemas.microsoft.com/office/drawing/2014/main" id="{EE2E829E-9BD3-433F-B574-AE7EBEC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2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564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D936CD9-5834-4924-AF25-8B26B661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10-01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ECE5673-6E93-4C87-8998-1D52B02E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成熟/收获</a:t>
            </a:r>
          </a:p>
        </p:txBody>
      </p:sp>
      <p:sp>
        <p:nvSpPr>
          <p:cNvPr id="22" name="105 DAP-tag-bg">
            <a:extLst xmlns:a="http://schemas.openxmlformats.org/drawingml/2006/main">
              <a:ext uri="{FF2B5EF4-FFF2-40B4-BE49-F238E27FC236}">
                <a16:creationId xmlns:a16="http://schemas.microsoft.com/office/drawing/2014/main" id="{10076765-3C56-4B40-A281-5F78099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19325"/>
            <a:ext cx="971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8CBDC12-6271-439F-A320-20D38BBB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383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105 DAP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1C2F172-AE3B-4AD3-8D8C-1A8930F5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rPr>
              <a:t>WGEN 101</a:t>
            </a:r>
          </a:p>
        </p:txBody>
      </p:sp>
      <p:sp>
        <p:nvSpPr>
          <p:cNvPr id="25" name="WGEN 101-timeline">
            <a:extLst xmlns:a="http://schemas.openxmlformats.org/drawingml/2006/main">
              <a:ext uri="{FF2B5EF4-FFF2-40B4-BE49-F238E27FC236}">
                <a16:creationId xmlns:a16="http://schemas.microsoft.com/office/drawing/2014/main" id="{C8DEC769-C5F9-4016-846A-E101B253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81400"/>
            <a:ext cx="719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GEN 101-stage-0">
            <a:extLst xmlns:a="http://schemas.openxmlformats.org/drawingml/2006/main">
              <a:ext uri="{FF2B5EF4-FFF2-40B4-BE49-F238E27FC236}">
                <a16:creationId xmlns:a16="http://schemas.microsoft.com/office/drawing/2014/main" id="{C95D68D9-5E9F-4029-90FE-F3BA2C24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E2600D2-7890-497D-9EEE-D2309BE1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0289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06-18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591D5FF-557F-4CF2-A9A3-714D8865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52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播种</a:t>
            </a:r>
          </a:p>
        </p:txBody>
      </p:sp>
      <p:sp>
        <p:nvSpPr>
          <p:cNvPr id="29" name="WGEN 101-stage-1">
            <a:extLst xmlns:a="http://schemas.openxmlformats.org/drawingml/2006/main">
              <a:ext uri="{FF2B5EF4-FFF2-40B4-BE49-F238E27FC236}">
                <a16:creationId xmlns:a16="http://schemas.microsoft.com/office/drawing/2014/main" id="{8481D381-AD0E-441D-A529-AA1DAE39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421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D239BBC-6D1E-49E3-81B2-35E4A606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521" y="3257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06-23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5DAB0F3-CC35-437B-88AF-5BFD396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171" y="3752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出苗</a:t>
            </a:r>
          </a:p>
        </p:txBody>
      </p:sp>
      <p:sp>
        <p:nvSpPr>
          <p:cNvPr id="32" name="WGEN 101-stage-2">
            <a:extLst xmlns:a="http://schemas.openxmlformats.org/drawingml/2006/main">
              <a:ext uri="{FF2B5EF4-FFF2-40B4-BE49-F238E27FC236}">
                <a16:creationId xmlns:a16="http://schemas.microsoft.com/office/drawing/2014/main" id="{6414793D-8E32-45DD-8AA8-5DF913D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864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FA7D5A4-4428-4762-889F-9BB608ED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964" y="3200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08-14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38A2BE7-EAD6-494B-9D40-11EF50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614" y="3752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抽雄/开花</a:t>
            </a:r>
          </a:p>
        </p:txBody>
      </p:sp>
      <p:sp>
        <p:nvSpPr>
          <p:cNvPr id="35" name="WGEN 101-stage-3">
            <a:extLst xmlns:a="http://schemas.openxmlformats.org/drawingml/2006/main">
              <a:ext uri="{FF2B5EF4-FFF2-40B4-BE49-F238E27FC236}">
                <a16:creationId xmlns:a16="http://schemas.microsoft.com/office/drawing/2014/main" id="{31E5B798-233B-42A8-ADB2-5FC32CC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882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05B3F91-672A-4B12-BBD6-D614EBEF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982" y="32004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09-28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A322103-6E61-44B0-B4E2-626124DB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632" y="3752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成熟/收获</a:t>
            </a:r>
          </a:p>
        </p:txBody>
      </p:sp>
      <p:sp>
        <p:nvSpPr>
          <p:cNvPr id="38" name="102 DAP-tag-bg">
            <a:extLst xmlns:a="http://schemas.openxmlformats.org/drawingml/2006/main">
              <a:ext uri="{FF2B5EF4-FFF2-40B4-BE49-F238E27FC236}">
                <a16:creationId xmlns:a16="http://schemas.microsoft.com/office/drawing/2014/main" id="{5E3199D5-9166-4D7C-BC94-AF0B1C04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19475"/>
            <a:ext cx="971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20338C6-1BE9-4804-942F-70B287CC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3852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27A9A"/>
                </a:solidFill>
                <a:latin typeface="Microsoft YaHei"/>
                <a:ea typeface="Microsoft YaHei"/>
                <a:cs typeface="Microsoft YaHei"/>
              </a:rPr>
              <a:t>102 DAP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BB078479-DB74-4A52-804E-6C71A8C7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WGEN 104</a:t>
            </a:r>
          </a:p>
        </p:txBody>
      </p:sp>
      <p:sp>
        <p:nvSpPr>
          <p:cNvPr id="41" name="WGEN 104-timeline">
            <a:extLst xmlns:a="http://schemas.openxmlformats.org/drawingml/2006/main">
              <a:ext uri="{FF2B5EF4-FFF2-40B4-BE49-F238E27FC236}">
                <a16:creationId xmlns:a16="http://schemas.microsoft.com/office/drawing/2014/main" id="{115EF850-189E-4AD1-B16F-98F7210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81550"/>
            <a:ext cx="719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GEN 104-stage-0">
            <a:extLst xmlns:a="http://schemas.openxmlformats.org/drawingml/2006/main">
              <a:ext uri="{FF2B5EF4-FFF2-40B4-BE49-F238E27FC236}">
                <a16:creationId xmlns:a16="http://schemas.microsoft.com/office/drawing/2014/main" id="{E500C9DD-B4FB-4151-8B30-9364FEA9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72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713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4DD6BDBC-9468-4720-A4BC-99918B0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2291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06-18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A8B89DAC-9A02-4C61-8321-3B5251F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953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播种</a:t>
            </a:r>
          </a:p>
        </p:txBody>
      </p:sp>
      <p:sp>
        <p:nvSpPr>
          <p:cNvPr id="45" name="WGEN 104-stage-1">
            <a:extLst xmlns:a="http://schemas.openxmlformats.org/drawingml/2006/main">
              <a:ext uri="{FF2B5EF4-FFF2-40B4-BE49-F238E27FC236}">
                <a16:creationId xmlns:a16="http://schemas.microsoft.com/office/drawing/2014/main" id="{0D8230D3-D497-420E-AF3A-0A65F41B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89" y="472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713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6F31AF2D-F1EA-498C-93DE-1D1E5F4D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989" y="4457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06-26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BE3C4C44-70B6-4D35-A3E9-E0BB59F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639" y="4953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出苗</a:t>
            </a:r>
          </a:p>
        </p:txBody>
      </p:sp>
      <p:sp>
        <p:nvSpPr>
          <p:cNvPr id="48" name="WGEN 104-stage-2">
            <a:extLst xmlns:a="http://schemas.openxmlformats.org/drawingml/2006/main">
              <a:ext uri="{FF2B5EF4-FFF2-40B4-BE49-F238E27FC236}">
                <a16:creationId xmlns:a16="http://schemas.microsoft.com/office/drawing/2014/main" id="{EE316A6B-95CC-4835-8FEB-C72842C2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6396" y="472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713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DE151D5C-F9CA-411E-BE3D-893EF1E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496" y="4400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08-11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8FD5B461-72CA-4A2E-A688-E377B67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146" y="4953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抽雄/开花</a:t>
            </a:r>
          </a:p>
        </p:txBody>
      </p:sp>
      <p:sp>
        <p:nvSpPr>
          <p:cNvPr id="51" name="WGEN 104-stage-3">
            <a:extLst xmlns:a="http://schemas.openxmlformats.org/drawingml/2006/main">
              <a:ext uri="{FF2B5EF4-FFF2-40B4-BE49-F238E27FC236}">
                <a16:creationId xmlns:a16="http://schemas.microsoft.com/office/drawing/2014/main" id="{18E85097-86CE-4DB0-98D6-ED645FF8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25" y="4724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713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BDD7BE30-B484-4EEC-AB2B-0EC3CE1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25" y="44005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09-24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84007EFC-6E77-4C53-9A13-68004273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4953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成熟/收获</a:t>
            </a:r>
          </a:p>
        </p:txBody>
      </p:sp>
      <p:sp>
        <p:nvSpPr>
          <p:cNvPr id="54" name="98 DAP-tag-bg">
            <a:extLst xmlns:a="http://schemas.openxmlformats.org/drawingml/2006/main">
              <a:ext uri="{FF2B5EF4-FFF2-40B4-BE49-F238E27FC236}">
                <a16:creationId xmlns:a16="http://schemas.microsoft.com/office/drawing/2014/main" id="{1F0524DD-3262-4C23-9190-A877E742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19625"/>
            <a:ext cx="971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5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7E4E668A-024A-4299-8E8D-790E12A9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38675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F713F"/>
                </a:solidFill>
                <a:latin typeface="Microsoft YaHei"/>
                <a:ea typeface="Microsoft YaHei"/>
                <a:cs typeface="Microsoft YaHei"/>
              </a:rPr>
              <a:t>98 DAP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DF68009C-1F1F-47D0-8DAC-F327BBF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成熟/收获 DAP：105 → 102 → 98</a:t>
            </a:r>
          </a:p>
        </p:txBody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1DED8310-32EB-4780-9E22-F3E41A12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91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未观察到缺失出苗、顺序倒置或立即终止。</a:t>
            </a:r>
          </a:p>
        </p:txBody>
      </p:sp>
    </p:spTree>
    <p:extLst>
      <p:ext uri="{BB962C8B-B14F-4D97-AF65-F5344CB8AC3E}">
        <p14:creationId xmlns:p14="http://schemas.microsoft.com/office/powerpoint/2010/main" val="143540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BB1B95-BA84-4D6F-8E9B-7AEBDF94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B8D5F62-9E77-4AB1-96A4-B4121E95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09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D6E2C88-5C81-46A5-893D-DFA4D54A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水分与氮：管理事件保持一致，输出范围有限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955DFC-558D-4BE0-BD75-925BA4D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检查已输出状态，不改 observation，也不评价 PPO 管理策略。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6386C55-9824-4A60-BC97-E36DCC7D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D00B15-2F05-4D9F-B2FC-893D1E13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436433A-974B-4C59-9C74-4A512EF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905000"/>
                <a:gridCol w="1905000"/>
                <a:gridCol w="1905000"/>
                <a:gridCol w="2533650"/>
              </a:tblGrid>
              <a:tr h="4699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 control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WGEN 101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WGEN 104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 / 判读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</a:tr>
              <a:tr h="4699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降雨 (crop period)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mm；终止日不同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ET / N uptake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405 / 219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/ 213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372 / 205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 / kg N ha⁻¹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  <a:tr h="4699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灌溉 / 施氮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/ 303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/ 303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/ 303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 / kg N ha⁻¹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SWTD profile water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262–411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256–439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183–448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mm；有限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  <a:tr h="4699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WSPD / WSGD / NSTD max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0 / .013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.226 / .013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0 / .012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stress factor，0–1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water-note">
            <a:extLst xmlns:a="http://schemas.openxmlformats.org/drawingml/2006/main">
              <a:ext uri="{FF2B5EF4-FFF2-40B4-BE49-F238E27FC236}">
                <a16:creationId xmlns:a16="http://schemas.microsoft.com/office/drawing/2014/main" id="{C60A0DAC-1100-471B-8DCA-A645DBC8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64464F-3580-4A8A-AE37-2BBB4B8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720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管理闭合：灌溉 120 mm；氮肥 96 + 207 = 303 kg N/ha。累计 crop-period rainfall 因模拟结束日期不同，不能作为固定窗口 seed 间公平比较。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39AC9E-ADA8-4BE3-9E44-A7AF069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原始来源：PlantGro.OUT (WSPD/WSGD/NSTD) · SoilWat.OUT (SWTD/SWXD) · Summary.OUT</a:t>
            </a:r>
          </a:p>
        </p:txBody>
      </p:sp>
    </p:spTree>
    <p:extLst>
      <p:ext uri="{BB962C8B-B14F-4D97-AF65-F5344CB8AC3E}">
        <p14:creationId xmlns:p14="http://schemas.microsoft.com/office/powerpoint/2010/main" val="1252221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421C4D-CEAB-4748-9E63-EB7BB851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9564C"/>
                </a:solidFill>
                <a:latin typeface="Microsoft YaHei"/>
                <a:ea typeface="Microsoft YaHei"/>
                <a:cs typeface="Microsoft YaHei"/>
              </a:rPr>
              <a:t>YC  /  WGEN WEATHER QC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1239E9-FD66-44CC-B71E-0D4DC3A3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10  /  10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C4526C-AA48-4F3C-94F4-D42B7F2B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Gate 决策：先修复坐标传递，再讨论 PPO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9B011C-ED84-4346-9036-033F36D5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把运行成功与研究准入拆开；目前证据只支持 weather QC 与 crop-output smoke。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A5AAFC1-0D45-4637-9C39-8E7BA87D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26BBC0-9390-4B2A-BB99-D7A3E5C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A3BDC8-5B37-4028-BB58-E850EFD1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86864"/>
                </a:solidFill>
                <a:latin typeface="Microsoft YaHei"/>
                <a:ea typeface="Microsoft YaHei"/>
                <a:cs typeface="Microsoft YaHei"/>
              </a:rPr>
              <a:t>YC 单站 · DSSAT 4.8.0.024 · 描述性 QC，不作性能推断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095500"/>
                <a:gridCol w="5867400"/>
              </a:tblGrid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Gate / 项目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solidFill>
                      <a:srgbClr val="19564C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天气完整 QC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PASS_WITH_NOTES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共同窗口 116 天；无物理异常；seed 间有差异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 control + 随机作物 smoke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次均结束；物候、产量、水氮输出有限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Runtime warnings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FileX 坐标实际未接收，传递 warning 归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readiness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B2C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DSSAT_CROP_SMOKE_READY = NO</a:t>
                      </a:r>
                    </a:p>
                  </a:txBody>
                  <a:tcPr marL="91440" marR="91440" marT="45720" marB="45720" anchor="ctr">
                    <a:solidFill>
                      <a:srgbClr val="F0F5F2"/>
                    </a:solidFill>
                  </a:tcPr>
                </a:tc>
              </a:tr>
            </a:tbl>
          </a:graphicData>
        </a:graphic>
      </p:graphicFrame>
      <p:sp>
        <p:nvSpPr>
          <p:cNvPr id="9" name="next-step-band">
            <a:extLst xmlns:a="http://schemas.openxmlformats.org/drawingml/2006/main">
              <a:ext uri="{FF2B5EF4-FFF2-40B4-BE49-F238E27FC236}">
                <a16:creationId xmlns:a16="http://schemas.microsoft.com/office/drawing/2014/main" id="{6EC9B3CC-195E-4F68-9892-D5582B9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A97AEC-BAD0-45DA-BFA0-BBCF3B6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rPr>
              <a:t>下一步最小动作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6B6462C-D229-4314-840B-E0F8C7FE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96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B2C2A"/>
                </a:solidFill>
                <a:latin typeface="Microsoft YaHei"/>
                <a:ea typeface="Microsoft YaHei"/>
                <a:cs typeface="Microsoft YaHei"/>
              </a:rPr>
              <a:t>定位 DSSAT 4.8.0.024 的 FileX XCRD/YCRD/ELEV 解析/传递；确认 DSSAT48.INP、Summary.OUT 和 warnings 的运行时值一致后，用冻结输入串行重跑历史 control、seed 101、104。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FD1C0B-7FEC-432C-B9F1-088BBB27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84B42"/>
                </a:solidFill>
                <a:latin typeface="Microsoft YaHei"/>
                <a:ea typeface="Microsoft YaHei"/>
                <a:cs typeface="Microsoft YaHei"/>
              </a:rPr>
              <a:t>在此之前：不启动 random-weather PPO pilot；不猜填 STONES / ADCOEF。</a:t>
            </a:r>
          </a:p>
        </p:txBody>
      </p:sp>
    </p:spTree>
    <p:extLst>
      <p:ext uri="{BB962C8B-B14F-4D97-AF65-F5344CB8AC3E}">
        <p14:creationId xmlns:p14="http://schemas.microsoft.com/office/powerpoint/2010/main" val="418217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2026-09-25T04:46:55.7700000Z</dcterms:created>
  <dcterms:modified xsi:type="dcterms:W3CDTF">2026-09-25T04:46:55.7700000Z</dcterms:modified>
</coreProperties>
</file>