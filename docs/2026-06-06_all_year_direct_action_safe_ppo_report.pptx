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006_17 All-Year Direct Action-Safe PPO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Microsoft YaHei"/>
              </a:rPr>
              <a:t>Goal: train a simple direct PPO baseline using the 006_15 all-year scenario pool.</a:t>
            </a:r>
          </a:p>
          <a:p>
            <a:r>
              <a:rPr sz="1500">
                <a:solidFill>
                  <a:srgbClr val="000000"/>
                </a:solidFill>
                <a:latin typeface="Microsoft YaHei"/>
              </a:rPr>
              <a:t>Excluded: RF / behavior cloning / expert replay / offline schedule search / rainfall-scaling / reward tuning.</a:t>
            </a:r>
          </a:p>
          <a:p>
            <a:r>
              <a:rPr sz="1500">
                <a:solidFill>
                  <a:srgbClr val="000000"/>
                </a:solidFill>
                <a:latin typeface="Microsoft YaHei"/>
              </a:rPr>
              <a:t>Reward: 0.1*delta_TOPWT + delta_GRNWT - 0.1*irrigation - 0.25*N.</a:t>
            </a:r>
          </a:p>
          <a:p>
            <a:r>
              <a:rPr sz="1500">
                <a:solidFill>
                  <a:srgbClr val="000000"/>
                </a:solidFill>
                <a:latin typeface="Microsoft YaHei"/>
              </a:rPr>
              <a:t>Action safety: season irrigation cap 160.0 mm; season N cap 250.0 kg/ha.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Selected Train/Eval Years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60120"/>
          <a:ext cx="115671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432"/>
                <a:gridCol w="2313432"/>
                <a:gridCol w="2313432"/>
                <a:gridCol w="2313432"/>
                <a:gridCol w="2313432"/>
              </a:tblGrid>
              <a:tr h="288757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station_code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year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scenario_type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selected_for_train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selected_for_eval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wet_year;water_stress_year;nitrogen_stress_year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normal_year;water_stress_year;nitrogen_stress_year;irrigation_responsive_year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normal_year;water_stress_year;nitrogen_stress_year;irrigation_responsive_year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wet_year;water_stress_year;nitrogen_stress_year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2016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normal_year;water_stress_year;nitrogen_stress_year;irrigation_responsive_year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dry_year;water_stress_year;nitrogen_stress_year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2004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dry_year;water_stress_year;nitrogen_stress_year;irrigation_responsive_year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wet_year;nitrogen_stress_year;low_response_year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wet_year;nitrogen_stress_year;low_response_year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dry_year;nitrogen_stress_year;low_response_year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wet_year;nitrogen_stress_year;low_response_year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wet_year;nitrogen_stress_year;low_response_year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wet_year;nitrogen_stress_year;low_response_year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288757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normal_year;nitrogen_stress_year;low_response_year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</a:tr>
              <a:tr h="288774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wet_year;nitrogen_stress_year;low_response_year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Training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60120"/>
          <a:ext cx="115671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240"/>
                <a:gridCol w="1285240"/>
                <a:gridCol w="1285240"/>
                <a:gridCol w="1285240"/>
                <a:gridCol w="1285240"/>
                <a:gridCol w="1285240"/>
                <a:gridCol w="1285240"/>
                <a:gridCol w="1285240"/>
                <a:gridCol w="128524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station_code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train_years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seed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total_timesteps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run_status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model_path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mean_train_reward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final_train_reward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notes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2007,2008,2016,2020,2023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Leave_One_experiments/all_year_direct_action_safe_ppo/models/FQA/ppo_direct_action_safe_seed0.zip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2004,2020,2021,2022,2023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5000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Leave_One_experiments/all_year_direct_action_safe_ppo/models/HLA/ppo_direct_action_safe_seed0.zip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2EBF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2017,2020,2021,2022,2023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Leave_One_experiments/all_year_direct_action_safe_ppo/models/LCA/ppo_direct_action_safe_seed0.zip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2009,2014,2017,2020,2022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5000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Leave_One_experiments/all_year_direct_action_safe_ppo/models/SYA/ppo_direct_action_safe_seed0.zip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2EBF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2004,2014,2015,2019,2022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Leave_One_experiments/all_year_direct_action_safe_ppo/models/YCA/ppo_direct_action_safe_seed0.zip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Evaluation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60120"/>
          <a:ext cx="115671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895"/>
                <a:gridCol w="1445895"/>
                <a:gridCol w="1445895"/>
                <a:gridCol w="1445895"/>
                <a:gridCol w="1445895"/>
                <a:gridCol w="1445895"/>
                <a:gridCol w="1445895"/>
                <a:gridCol w="1445895"/>
              </a:tblGrid>
              <a:tr h="322729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station_code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year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split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run_status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final_grnwt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total_irrigation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total_n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profit_simple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7078.953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-7.71</a:t>
                      </a:r>
                    </a:p>
                  </a:txBody>
                  <a:tcPr/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train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7234.489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-6.155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7358.622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-4.914</a:t>
                      </a:r>
                    </a:p>
                  </a:txBody>
                  <a:tcPr/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train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7990.318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1.403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8224.324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3.743</a:t>
                      </a:r>
                    </a:p>
                  </a:txBody>
                  <a:tcPr/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eval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7339.745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-5.103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5627.328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-22.227</a:t>
                      </a:r>
                    </a:p>
                  </a:txBody>
                  <a:tcPr/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eval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6931.539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-9.185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7603.851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-2.461</a:t>
                      </a:r>
                    </a:p>
                  </a:txBody>
                  <a:tcPr/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2004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train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6024.109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-18.259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6866.949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-9.831</a:t>
                      </a:r>
                    </a:p>
                  </a:txBody>
                  <a:tcPr/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train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5059.636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-27.904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7107.605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-7.424</a:t>
                      </a:r>
                    </a:p>
                  </a:txBody>
                  <a:tcPr/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train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6077.938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-17.721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-78.5</a:t>
                      </a:r>
                    </a:p>
                  </a:txBody>
                  <a:tcPr/>
                </a:tc>
              </a:tr>
              <a:tr h="3227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eval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5172.479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-26.775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Decision Reasonableness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60120"/>
          <a:ext cx="115671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451"/>
                <a:gridCol w="1652451"/>
                <a:gridCol w="1652451"/>
                <a:gridCol w="1652451"/>
                <a:gridCol w="1652451"/>
                <a:gridCol w="1652451"/>
                <a:gridCol w="1652454"/>
              </a:tblGrid>
              <a:tr h="322729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station_code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year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total_irrigation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total_n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irrigation_during_or_before_swfac_stress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fertilization_during_or_before_nstres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decision_reasonableness_label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/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/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/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/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/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2004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/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/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/>
                </a:tc>
              </a:tr>
              <a:tr h="3227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cap_saturated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ppo total irrigation by station year</a:t>
            </a:r>
          </a:p>
        </p:txBody>
      </p:sp>
      <p:pic>
        <p:nvPicPr>
          <p:cNvPr id="3" name="Picture 2" descr="ppo_total_irrigation_by_station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44888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ppo total n by station year</a:t>
            </a:r>
          </a:p>
        </p:txBody>
      </p:sp>
      <p:pic>
        <p:nvPicPr>
          <p:cNvPr id="3" name="Picture 2" descr="ppo_total_n_by_station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44888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ppo final grnwt by station year</a:t>
            </a:r>
          </a:p>
        </p:txBody>
      </p:sp>
      <p:pic>
        <p:nvPicPr>
          <p:cNvPr id="3" name="Picture 2" descr="ppo_final_grnwt_by_station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44888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ppo decision reasonableness summary</a:t>
            </a:r>
          </a:p>
        </p:txBody>
      </p:sp>
      <p:pic>
        <p:nvPicPr>
          <p:cNvPr id="3" name="Picture 2" descr="ppo_decision_reasonablenes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62701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FQA_2005_four_panel</a:t>
            </a:r>
          </a:p>
        </p:txBody>
      </p:sp>
      <p:pic>
        <p:nvPicPr>
          <p:cNvPr id="3" name="Picture 2" descr="FQA_2005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FQA_2007_four_panel</a:t>
            </a:r>
          </a:p>
        </p:txBody>
      </p:sp>
      <p:pic>
        <p:nvPicPr>
          <p:cNvPr id="3" name="Picture 2" descr="FQA_2007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FQA_2008_four_panel</a:t>
            </a:r>
          </a:p>
        </p:txBody>
      </p:sp>
      <p:pic>
        <p:nvPicPr>
          <p:cNvPr id="3" name="Picture 2" descr="FQA_2008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FQA_2011_four_panel</a:t>
            </a:r>
          </a:p>
        </p:txBody>
      </p:sp>
      <p:pic>
        <p:nvPicPr>
          <p:cNvPr id="3" name="Picture 2" descr="FQA_2011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FQA_2015_four_panel</a:t>
            </a:r>
          </a:p>
        </p:txBody>
      </p:sp>
      <p:pic>
        <p:nvPicPr>
          <p:cNvPr id="3" name="Picture 2" descr="FQA_2015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FQA_2016_four_panel</a:t>
            </a:r>
          </a:p>
        </p:txBody>
      </p:sp>
      <p:pic>
        <p:nvPicPr>
          <p:cNvPr id="3" name="Picture 2" descr="FQA_2016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FQA_2019_four_panel</a:t>
            </a:r>
          </a:p>
        </p:txBody>
      </p:sp>
      <p:pic>
        <p:nvPicPr>
          <p:cNvPr id="3" name="Picture 2" descr="FQA_2019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FQA_2020_four_panel</a:t>
            </a:r>
          </a:p>
        </p:txBody>
      </p:sp>
      <p:pic>
        <p:nvPicPr>
          <p:cNvPr id="3" name="Picture 2" descr="FQA_2020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FQA_2023_four_panel</a:t>
            </a:r>
          </a:p>
        </p:txBody>
      </p:sp>
      <p:pic>
        <p:nvPicPr>
          <p:cNvPr id="3" name="Picture 2" descr="FQA_2023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HLA_2004_four_panel</a:t>
            </a:r>
          </a:p>
        </p:txBody>
      </p:sp>
      <p:pic>
        <p:nvPicPr>
          <p:cNvPr id="3" name="Picture 2" descr="HLA_2004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HLA_2012_four_panel</a:t>
            </a:r>
          </a:p>
        </p:txBody>
      </p:sp>
      <p:pic>
        <p:nvPicPr>
          <p:cNvPr id="3" name="Picture 2" descr="HLA_2012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HLA_2013_four_panel</a:t>
            </a:r>
          </a:p>
        </p:txBody>
      </p:sp>
      <p:pic>
        <p:nvPicPr>
          <p:cNvPr id="3" name="Picture 2" descr="HLA_2013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HLA_2015_four_panel</a:t>
            </a:r>
          </a:p>
        </p:txBody>
      </p:sp>
      <p:pic>
        <p:nvPicPr>
          <p:cNvPr id="3" name="Picture 2" descr="HLA_2015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HLA_2018_four_panel</a:t>
            </a:r>
          </a:p>
        </p:txBody>
      </p:sp>
      <p:pic>
        <p:nvPicPr>
          <p:cNvPr id="3" name="Picture 2" descr="HLA_2018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HLA_2020_four_panel</a:t>
            </a:r>
          </a:p>
        </p:txBody>
      </p:sp>
      <p:pic>
        <p:nvPicPr>
          <p:cNvPr id="3" name="Picture 2" descr="HLA_2020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HLA_2021_four_panel</a:t>
            </a:r>
          </a:p>
        </p:txBody>
      </p:sp>
      <p:pic>
        <p:nvPicPr>
          <p:cNvPr id="3" name="Picture 2" descr="HLA_2021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HLA_2022_four_panel</a:t>
            </a:r>
          </a:p>
        </p:txBody>
      </p:sp>
      <p:pic>
        <p:nvPicPr>
          <p:cNvPr id="3" name="Picture 2" descr="HLA_2022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HLA_2023_four_panel</a:t>
            </a:r>
          </a:p>
        </p:txBody>
      </p:sp>
      <p:pic>
        <p:nvPicPr>
          <p:cNvPr id="3" name="Picture 2" descr="HLA_2023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LCA_2006_four_panel</a:t>
            </a:r>
          </a:p>
        </p:txBody>
      </p:sp>
      <p:pic>
        <p:nvPicPr>
          <p:cNvPr id="3" name="Picture 2" descr="LCA_2006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LCA_2008_four_panel</a:t>
            </a:r>
          </a:p>
        </p:txBody>
      </p:sp>
      <p:pic>
        <p:nvPicPr>
          <p:cNvPr id="3" name="Picture 2" descr="LCA_2008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LCA_2009_four_panel</a:t>
            </a:r>
          </a:p>
        </p:txBody>
      </p:sp>
      <p:pic>
        <p:nvPicPr>
          <p:cNvPr id="3" name="Picture 2" descr="LCA_2009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LCA_2013_four_panel</a:t>
            </a:r>
          </a:p>
        </p:txBody>
      </p:sp>
      <p:pic>
        <p:nvPicPr>
          <p:cNvPr id="3" name="Picture 2" descr="LCA_2013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LCA_2017_four_panel</a:t>
            </a:r>
          </a:p>
        </p:txBody>
      </p:sp>
      <p:pic>
        <p:nvPicPr>
          <p:cNvPr id="3" name="Picture 2" descr="LCA_2017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LCA_2020_four_panel</a:t>
            </a:r>
          </a:p>
        </p:txBody>
      </p:sp>
      <p:pic>
        <p:nvPicPr>
          <p:cNvPr id="3" name="Picture 2" descr="LCA_2020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LCA_2021_four_panel</a:t>
            </a:r>
          </a:p>
        </p:txBody>
      </p:sp>
      <p:pic>
        <p:nvPicPr>
          <p:cNvPr id="3" name="Picture 2" descr="LCA_2021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LCA_2022_four_panel</a:t>
            </a:r>
          </a:p>
        </p:txBody>
      </p:sp>
      <p:pic>
        <p:nvPicPr>
          <p:cNvPr id="3" name="Picture 2" descr="LCA_2022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LCA_2023_four_panel</a:t>
            </a:r>
          </a:p>
        </p:txBody>
      </p:sp>
      <p:pic>
        <p:nvPicPr>
          <p:cNvPr id="3" name="Picture 2" descr="LCA_2023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SYA_2008_four_panel</a:t>
            </a:r>
          </a:p>
        </p:txBody>
      </p:sp>
      <p:pic>
        <p:nvPicPr>
          <p:cNvPr id="3" name="Picture 2" descr="SYA_2008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SYA_2009_four_panel</a:t>
            </a:r>
          </a:p>
        </p:txBody>
      </p:sp>
      <p:pic>
        <p:nvPicPr>
          <p:cNvPr id="3" name="Picture 2" descr="SYA_2009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SYA_2010_four_panel</a:t>
            </a:r>
          </a:p>
        </p:txBody>
      </p:sp>
      <p:pic>
        <p:nvPicPr>
          <p:cNvPr id="3" name="Picture 2" descr="SYA_2010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SYA_2012_four_panel</a:t>
            </a:r>
          </a:p>
        </p:txBody>
      </p:sp>
      <p:pic>
        <p:nvPicPr>
          <p:cNvPr id="3" name="Picture 2" descr="SYA_2012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SYA_2014_four_panel</a:t>
            </a:r>
          </a:p>
        </p:txBody>
      </p:sp>
      <p:pic>
        <p:nvPicPr>
          <p:cNvPr id="3" name="Picture 2" descr="SYA_2014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SYA_2017_four_panel</a:t>
            </a:r>
          </a:p>
        </p:txBody>
      </p:sp>
      <p:pic>
        <p:nvPicPr>
          <p:cNvPr id="3" name="Picture 2" descr="SYA_2017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SYA_2020_four_panel</a:t>
            </a:r>
          </a:p>
        </p:txBody>
      </p:sp>
      <p:pic>
        <p:nvPicPr>
          <p:cNvPr id="3" name="Picture 2" descr="SYA_2020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SYA_2022_four_panel</a:t>
            </a:r>
          </a:p>
        </p:txBody>
      </p:sp>
      <p:pic>
        <p:nvPicPr>
          <p:cNvPr id="3" name="Picture 2" descr="SYA_2022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SYA_2023_four_panel</a:t>
            </a:r>
          </a:p>
        </p:txBody>
      </p:sp>
      <p:pic>
        <p:nvPicPr>
          <p:cNvPr id="3" name="Picture 2" descr="SYA_2023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YCA_2004_four_panel</a:t>
            </a:r>
          </a:p>
        </p:txBody>
      </p:sp>
      <p:pic>
        <p:nvPicPr>
          <p:cNvPr id="3" name="Picture 2" descr="YCA_2004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YCA_2005_four_panel</a:t>
            </a:r>
          </a:p>
        </p:txBody>
      </p:sp>
      <p:pic>
        <p:nvPicPr>
          <p:cNvPr id="3" name="Picture 2" descr="YCA_2005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YCA_2010_four_panel</a:t>
            </a:r>
          </a:p>
        </p:txBody>
      </p:sp>
      <p:pic>
        <p:nvPicPr>
          <p:cNvPr id="3" name="Picture 2" descr="YCA_2010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YCA_2012_four_panel</a:t>
            </a:r>
          </a:p>
        </p:txBody>
      </p:sp>
      <p:pic>
        <p:nvPicPr>
          <p:cNvPr id="3" name="Picture 2" descr="YCA_2012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YCA_2014_four_panel</a:t>
            </a:r>
          </a:p>
        </p:txBody>
      </p:sp>
      <p:pic>
        <p:nvPicPr>
          <p:cNvPr id="3" name="Picture 2" descr="YCA_2014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YCA_2015_four_panel</a:t>
            </a:r>
          </a:p>
        </p:txBody>
      </p:sp>
      <p:pic>
        <p:nvPicPr>
          <p:cNvPr id="3" name="Picture 2" descr="YCA_2015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YCA_2019_four_panel</a:t>
            </a:r>
          </a:p>
        </p:txBody>
      </p:sp>
      <p:pic>
        <p:nvPicPr>
          <p:cNvPr id="3" name="Picture 2" descr="YCA_2019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YCA_2022_four_panel</a:t>
            </a:r>
          </a:p>
        </p:txBody>
      </p:sp>
      <p:pic>
        <p:nvPicPr>
          <p:cNvPr id="3" name="Picture 2" descr="YCA_2022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YCA_2023_four_panel</a:t>
            </a:r>
          </a:p>
        </p:txBody>
      </p:sp>
      <p:pic>
        <p:nvPicPr>
          <p:cNvPr id="3" name="Picture 2" descr="YCA_2023_fou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10972800" cy="120700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Microsoft YaHei"/>
              </a:rPr>
              <a:t>This file records whether the simple direct PPO baseline is presentable.</a:t>
            </a:r>
          </a:p>
          <a:p>
            <a:r>
              <a:rPr sz="1500">
                <a:solidFill>
                  <a:srgbClr val="000000"/>
                </a:solidFill>
                <a:latin typeface="Microsoft YaHei"/>
              </a:rPr>
              <a:t>If outputs are cap-saturated, the result should be shown as a baseline limitation rather than a final management recommendation.</a:t>
            </a:r>
          </a:p>
          <a:p>
            <a:r>
              <a:rPr sz="1500">
                <a:solidFill>
                  <a:srgbClr val="000000"/>
                </a:solidFill>
                <a:latin typeface="Microsoft YaHei"/>
              </a:rPr>
              <a:t>The four figure types allow mentor-facing inspection of weather, stress, actions, and crop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