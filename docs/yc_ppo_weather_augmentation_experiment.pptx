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84511298fca455c" /><Relationship Type="http://schemas.openxmlformats.org/officeDocument/2006/relationships/extended-properties" Target="/docProps/app.xml" Id="Rb6cc232b7b014bf6" /><Relationship Type="http://schemas.openxmlformats.org/officeDocument/2006/relationships/officeDocument" Target="/ppt/presentation.xml" Id="R25665dff6db34f6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cbdef2b44154a87"/>
  </p:sldMasterIdLst>
  <p:notesMasterIdLst>
    <p:notesMasterId xmlns:r="http://schemas.openxmlformats.org/officeDocument/2006/relationships" r:id="R112e73a720c140d4"/>
  </p:notesMasterIdLst>
  <p:sldIdLst>
    <p:sldId xmlns:r="http://schemas.openxmlformats.org/officeDocument/2006/relationships" id="256" r:id="R16053f0711a043a8"/>
    <p:sldId xmlns:r="http://schemas.openxmlformats.org/officeDocument/2006/relationships" id="257" r:id="R85dca012e2974b4b"/>
    <p:sldId xmlns:r="http://schemas.openxmlformats.org/officeDocument/2006/relationships" id="258" r:id="R09bd6279c4ef4a5d"/>
    <p:sldId xmlns:r="http://schemas.openxmlformats.org/officeDocument/2006/relationships" id="259" r:id="R97c241a7cb9e451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d83c78936fa4793" /><Relationship Type="http://schemas.openxmlformats.org/officeDocument/2006/relationships/slideMaster" Target="/ppt/slideMasters/slideMaster1.xml" Id="R0cbdef2b44154a87" /><Relationship Type="http://schemas.openxmlformats.org/officeDocument/2006/relationships/notesMaster" Target="/ppt/notesMasters/notesMaster1.xml" Id="R112e73a720c140d4" /><Relationship Type="http://schemas.openxmlformats.org/officeDocument/2006/relationships/presProps" Target="/ppt/presProps.xml" Id="R3a278ad804af4cdd" /><Relationship Type="http://schemas.openxmlformats.org/officeDocument/2006/relationships/tableStyles" Target="/ppt/tableStyles.xml" Id="R11d51d5f6fb04850" /><Relationship Type="http://schemas.openxmlformats.org/officeDocument/2006/relationships/slide" Target="/ppt/slides/slide1.xml" Id="R16053f0711a043a8" /><Relationship Type="http://schemas.openxmlformats.org/officeDocument/2006/relationships/slide" Target="/ppt/slides/slide2.xml" Id="R85dca012e2974b4b" /><Relationship Type="http://schemas.openxmlformats.org/officeDocument/2006/relationships/slide" Target="/ppt/slides/slide3.xml" Id="R09bd6279c4ef4a5d" /><Relationship Type="http://schemas.openxmlformats.org/officeDocument/2006/relationships/slide" Target="/ppt/slides/slide4.xml" Id="R97c241a7cb9e451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4430b2b08ff459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fa38c5b88094e89" /><Relationship Type="http://schemas.openxmlformats.org/officeDocument/2006/relationships/notesMaster" Target="/ppt/notesMasters/notesMaster1.xml" Id="Rd581022ed8344bc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3748b7359734293" /><Relationship Type="http://schemas.openxmlformats.org/officeDocument/2006/relationships/notesMaster" Target="/ppt/notesMasters/notesMaster1.xml" Id="Rf24a5cd9ce6943a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c5a9fcce1054809" /><Relationship Type="http://schemas.openxmlformats.org/officeDocument/2006/relationships/notesMaster" Target="/ppt/notesMasters/notesMaster1.xml" Id="R99d44bfeb9d74c5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4c4885055434534" /><Relationship Type="http://schemas.openxmlformats.org/officeDocument/2006/relationships/notesMaster" Target="/ppt/notesMasters/notesMaster1.xml" Id="Re1c550bbb36447e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依据：prompt_02/004_yc_ppo_weather_augmentation_experiment.md；结果为 BLOCKED_UPSTREAM_WGEN_NOT_READY。未启动任何 PPO 训练。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依据：docs/yc_weather_gapfill_finalize.md；docs/yc_wgen_cli_pilot.md；results/yc_wgen_cli_pilot/yc_cli_provenance.json。项目中未找到 results/yc_train_only_cli_and_wgen_pilot。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来源：results/yc_wgen_cli_pilot/yc_cli_provenance.json 与 docs/yc_wgen_cli_pilot.md。旧 CLI 不符合 train-only 2004-2013 前置条件，因此排除。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004 定义的 Historical-only 与 Historical+WGEN arms、天气 bank 和 success criteria 均未运行或冻结。只有上游状态 PASS_YC_WGEN_PILOT 后才能启动。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959477052c4fa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5118aff8078413a" /><Relationship Type="http://schemas.openxmlformats.org/officeDocument/2006/relationships/slideLayout" Target="/ppt/slideLayouts/slideLayout1.xml" Id="R0fde2a9508f84a7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fde2a9508f84a7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cad0de0bc84e80" /><Relationship Type="http://schemas.openxmlformats.org/officeDocument/2006/relationships/notesSlide" Target="/ppt/notesSlides/notesSlide1.xml" Id="R089128cd44e04f9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44078ce3b440bd" /><Relationship Type="http://schemas.openxmlformats.org/officeDocument/2006/relationships/notesSlide" Target="/ppt/notesSlides/notesSlide2.xml" Id="Rbc8d736b9d634f6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4741aa0dce4630" /><Relationship Type="http://schemas.openxmlformats.org/officeDocument/2006/relationships/notesSlide" Target="/ppt/notesSlides/notesSlide3.xml" Id="Rdbe0457893764ab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a9c3e656bf4d0d" /><Relationship Type="http://schemas.openxmlformats.org/officeDocument/2006/relationships/notesSlide" Target="/ppt/notesSlides/notesSlide4.xml" Id="R701ee4787ade407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cover-rule">
            <a:extLst xmlns:a="http://schemas.openxmlformats.org/drawingml/2006/main">
              <a:ext uri="{FF2B5EF4-FFF2-40B4-BE49-F238E27FC236}">
                <a16:creationId xmlns:a16="http://schemas.microsoft.com/office/drawing/2014/main" id="{0A6293C5-B899-419A-B274-F37BEB05B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76200" cy="462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14C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56A7127B-2F6D-4BE2-83B5-2518F917F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914400"/>
            <a:ext cx="98107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83238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183238"/>
                </a:solidFill>
                <a:latin typeface="Arial"/>
                <a:ea typeface="Arial"/>
                <a:cs typeface="Arial"/>
              </a:rPr>
              <a:t>YC PPO 天气增强</a:t>
            </a:r>
          </a:p>
          <a:p xmlns:a="http://schemas.openxmlformats.org/drawingml/2006/main">
            <a:pPr>
              <a:defRPr sz="4050" b="1">
                <a:solidFill>
                  <a:srgbClr val="183238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183238"/>
                </a:solidFill>
                <a:latin typeface="Arial"/>
                <a:ea typeface="Arial"/>
                <a:cs typeface="Arial"/>
              </a:rPr>
              <a:t>受控实验</a:t>
            </a:r>
          </a:p>
        </p:txBody>
      </p:sp>
      <p:sp>
        <p:nvSpPr>
          <p:cNvPr id="3" name="cover-status">
            <a:extLst xmlns:a="http://schemas.openxmlformats.org/drawingml/2006/main">
              <a:ext uri="{FF2B5EF4-FFF2-40B4-BE49-F238E27FC236}">
                <a16:creationId xmlns:a16="http://schemas.microsoft.com/office/drawing/2014/main" id="{94DAA398-0BD0-46E1-A6FD-780EA15B7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781300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B14C3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B14C3F"/>
                </a:solidFill>
                <a:latin typeface="Arial"/>
                <a:ea typeface="Arial"/>
                <a:cs typeface="Arial"/>
              </a:rPr>
              <a:t>BLOCKED_UPSTREAM_WGEN_NOT_READY</a:t>
            </a:r>
          </a:p>
        </p:txBody>
      </p:sp>
      <p:sp>
        <p:nvSpPr>
          <p:cNvPr id="4" name="cover-decision">
            <a:extLst xmlns:a="http://schemas.openxmlformats.org/drawingml/2006/main">
              <a:ext uri="{FF2B5EF4-FFF2-40B4-BE49-F238E27FC236}">
                <a16:creationId xmlns:a16="http://schemas.microsoft.com/office/drawing/2014/main" id="{524382E8-BDD1-41E8-979D-72B3BF3AF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638550"/>
            <a:ext cx="9525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8323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83238"/>
                </a:solidFill>
                <a:latin typeface="Arial"/>
                <a:ea typeface="Arial"/>
                <a:cs typeface="Arial"/>
              </a:rPr>
              <a:t>003_06 未取得 PASS_YC_WGEN_PILOT 证据，按前置条件停止。</a:t>
            </a:r>
          </a:p>
        </p:txBody>
      </p:sp>
      <p:sp>
        <p:nvSpPr>
          <p:cNvPr id="5" name="cover-boundary">
            <a:extLst xmlns:a="http://schemas.openxmlformats.org/drawingml/2006/main">
              <a:ext uri="{FF2B5EF4-FFF2-40B4-BE49-F238E27FC236}">
                <a16:creationId xmlns:a16="http://schemas.microsoft.com/office/drawing/2014/main" id="{A01E38AA-79DE-471A-A693-CC294CC00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714875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C707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C7072"/>
                </a:solidFill>
                <a:latin typeface="Arial"/>
                <a:ea typeface="Arial"/>
                <a:cs typeface="Arial"/>
              </a:rPr>
              <a:t>本轮未生成天气 bank，未启动 PPO、DSSAT smoke 或 validation。</a:t>
            </a:r>
          </a:p>
        </p:txBody>
      </p:sp>
      <p:sp>
        <p:nvSpPr>
          <p:cNvPr id="6" name="cover-date">
            <a:extLst xmlns:a="http://schemas.openxmlformats.org/drawingml/2006/main">
              <a:ext uri="{FF2B5EF4-FFF2-40B4-BE49-F238E27FC236}">
                <a16:creationId xmlns:a16="http://schemas.microsoft.com/office/drawing/2014/main" id="{C2BD83F4-7E98-4309-B668-FAFA2C719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8170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C707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C7072"/>
                </a:solidFill>
                <a:latin typeface="Arial"/>
                <a:ea typeface="Arial"/>
                <a:cs typeface="Arial"/>
              </a:rPr>
              <a:t>YC 单站  |  train 2004–2013  |  validation 2014–2023</a:t>
            </a:r>
          </a:p>
        </p:txBody>
      </p:sp>
    </p:spTree>
    <p:extLst>
      <p:ext uri="{BB962C8B-B14F-4D97-AF65-F5344CB8AC3E}">
        <p14:creationId xmlns:p14="http://schemas.microsoft.com/office/powerpoint/2010/main" val="69057115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top-rule-2">
            <a:extLst xmlns:a="http://schemas.openxmlformats.org/drawingml/2006/main">
              <a:ext uri="{FF2B5EF4-FFF2-40B4-BE49-F238E27FC236}">
                <a16:creationId xmlns:a16="http://schemas.microsoft.com/office/drawing/2014/main" id="{556FE9F9-0282-4C43-AFCC-0803EDBD4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4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1F1C8835-3BA5-45B4-8011-88006E9CE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323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83238"/>
                </a:solidFill>
                <a:latin typeface="Arial"/>
                <a:ea typeface="Arial"/>
                <a:cs typeface="Arial"/>
              </a:rPr>
              <a:t>上游 Gate 核验</a:t>
            </a:r>
          </a:p>
        </p:txBody>
      </p:sp>
      <p:sp>
        <p:nvSpPr>
          <p:cNvPr id="3" name="footer-rule-2">
            <a:extLst xmlns:a="http://schemas.openxmlformats.org/drawingml/2006/main">
              <a:ext uri="{FF2B5EF4-FFF2-40B4-BE49-F238E27FC236}">
                <a16:creationId xmlns:a16="http://schemas.microsoft.com/office/drawing/2014/main" id="{8D59FB49-E0DF-4AC6-964E-6CF030DC5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2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2">
            <a:extLst xmlns:a="http://schemas.openxmlformats.org/drawingml/2006/main">
              <a:ext uri="{FF2B5EF4-FFF2-40B4-BE49-F238E27FC236}">
                <a16:creationId xmlns:a16="http://schemas.microsoft.com/office/drawing/2014/main" id="{2132EEEE-4318-4B61-8BBA-D6369518A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4583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707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C7072"/>
                </a:solidFill>
                <a:latin typeface="Arial"/>
                <a:ea typeface="Arial"/>
                <a:cs typeface="Arial"/>
              </a:rPr>
              <a:t>YC PPO 天气增强实验  |  004</a:t>
            </a:r>
          </a:p>
        </p:txBody>
      </p:sp>
      <p:sp>
        <p:nvSpPr>
          <p:cNvPr id="5" name="page-2">
            <a:extLst xmlns:a="http://schemas.openxmlformats.org/drawingml/2006/main">
              <a:ext uri="{FF2B5EF4-FFF2-40B4-BE49-F238E27FC236}">
                <a16:creationId xmlns:a16="http://schemas.microsoft.com/office/drawing/2014/main" id="{0208D5DC-7F10-464D-A271-2B2FEAE4E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579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4583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707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C7072"/>
                </a:solidFill>
                <a:latin typeface="Arial"/>
                <a:ea typeface="Arial"/>
                <a:cs typeface="Arial"/>
              </a:rPr>
              <a:t>2 / 4</a:t>
            </a:r>
          </a:p>
        </p:txBody>
      </p:sp>
      <p:sp>
        <p:nvSpPr>
          <p:cNvPr id="6" name="gate-timeline">
            <a:extLst xmlns:a="http://schemas.openxmlformats.org/drawingml/2006/main">
              <a:ext uri="{FF2B5EF4-FFF2-40B4-BE49-F238E27FC236}">
                <a16:creationId xmlns:a16="http://schemas.microsoft.com/office/drawing/2014/main" id="{D82C7C5C-2BCA-481D-AE5D-74D49F768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352800"/>
            <a:ext cx="8572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2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gate-node-1">
            <a:extLst xmlns:a="http://schemas.openxmlformats.org/drawingml/2006/main">
              <a:ext uri="{FF2B5EF4-FFF2-40B4-BE49-F238E27FC236}">
                <a16:creationId xmlns:a16="http://schemas.microsoft.com/office/drawing/2014/main" id="{01FDC681-0F19-4C10-AC56-D9DB00752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2575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F80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gate-node-2">
            <a:extLst xmlns:a="http://schemas.openxmlformats.org/drawingml/2006/main">
              <a:ext uri="{FF2B5EF4-FFF2-40B4-BE49-F238E27FC236}">
                <a16:creationId xmlns:a16="http://schemas.microsoft.com/office/drawing/2014/main" id="{66303FDD-C439-4FC5-9461-937174803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2575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14C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gate-node-3">
            <a:extLst xmlns:a="http://schemas.openxmlformats.org/drawingml/2006/main">
              <a:ext uri="{FF2B5EF4-FFF2-40B4-BE49-F238E27FC236}">
                <a16:creationId xmlns:a16="http://schemas.microsoft.com/office/drawing/2014/main" id="{D82B97E2-FE20-41DC-BE07-A7FC9B11E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2575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81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gate-node-4">
            <a:extLst xmlns:a="http://schemas.openxmlformats.org/drawingml/2006/main">
              <a:ext uri="{FF2B5EF4-FFF2-40B4-BE49-F238E27FC236}">
                <a16:creationId xmlns:a16="http://schemas.microsoft.com/office/drawing/2014/main" id="{96F99E8D-198A-4BFB-A684-7751D8A42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32575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9969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gate-label-0">
            <a:extLst xmlns:a="http://schemas.openxmlformats.org/drawingml/2006/main">
              <a:ext uri="{FF2B5EF4-FFF2-40B4-BE49-F238E27FC236}">
                <a16:creationId xmlns:a16="http://schemas.microsoft.com/office/drawing/2014/main" id="{27699041-104F-40A5-82F5-A64C420EF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764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8406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8323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83238"/>
                </a:solidFill>
                <a:latin typeface="Arial"/>
                <a:ea typeface="Arial"/>
                <a:cs typeface="Arial"/>
              </a:rPr>
              <a:t>003_05_01</a:t>
            </a:r>
          </a:p>
        </p:txBody>
      </p:sp>
      <p:sp>
        <p:nvSpPr>
          <p:cNvPr id="12" name="gate-stage-0">
            <a:extLst xmlns:a="http://schemas.openxmlformats.org/drawingml/2006/main">
              <a:ext uri="{FF2B5EF4-FFF2-40B4-BE49-F238E27FC236}">
                <a16:creationId xmlns:a16="http://schemas.microsoft.com/office/drawing/2014/main" id="{3A7929AD-79DE-4935-8CA3-C7D48B9FB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7650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C707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C7072"/>
                </a:solidFill>
                <a:latin typeface="Arial"/>
                <a:ea typeface="Arial"/>
                <a:cs typeface="Arial"/>
              </a:rPr>
              <a:t>天气 candidate</a:t>
            </a:r>
          </a:p>
        </p:txBody>
      </p:sp>
      <p:sp>
        <p:nvSpPr>
          <p:cNvPr id="13" name="gate-result-0">
            <a:extLst xmlns:a="http://schemas.openxmlformats.org/drawingml/2006/main">
              <a:ext uri="{FF2B5EF4-FFF2-40B4-BE49-F238E27FC236}">
                <a16:creationId xmlns:a16="http://schemas.microsoft.com/office/drawing/2014/main" id="{0640F217-FFFC-4548-BE9D-BAF8F906F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733800"/>
            <a:ext cx="238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3F805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3F805F"/>
                </a:solidFill>
                <a:latin typeface="Arial"/>
                <a:ea typeface="Arial"/>
                <a:cs typeface="Arial"/>
              </a:rPr>
              <a:t>PASS</a:t>
            </a:r>
          </a:p>
          <a:p xmlns:a="http://schemas.openxmlformats.org/drawingml/2006/main">
            <a:pPr>
              <a:defRPr sz="1875" b="1">
                <a:solidFill>
                  <a:srgbClr val="3F805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3F805F"/>
                </a:solidFill>
                <a:latin typeface="Arial"/>
                <a:ea typeface="Arial"/>
                <a:cs typeface="Arial"/>
              </a:rPr>
              <a:t>3653 天 QC</a:t>
            </a:r>
          </a:p>
        </p:txBody>
      </p:sp>
      <p:sp>
        <p:nvSpPr>
          <p:cNvPr id="14" name="gate-label-1">
            <a:extLst xmlns:a="http://schemas.openxmlformats.org/drawingml/2006/main">
              <a:ext uri="{FF2B5EF4-FFF2-40B4-BE49-F238E27FC236}">
                <a16:creationId xmlns:a16="http://schemas.microsoft.com/office/drawing/2014/main" id="{3F3A011E-DB7F-4B84-AF01-C2041C36E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0764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8406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B14C3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B14C3F"/>
                </a:solidFill>
                <a:latin typeface="Arial"/>
                <a:ea typeface="Arial"/>
                <a:cs typeface="Arial"/>
              </a:rPr>
              <a:t>train-only CLI</a:t>
            </a:r>
          </a:p>
        </p:txBody>
      </p:sp>
      <p:sp>
        <p:nvSpPr>
          <p:cNvPr id="15" name="gate-stage-1">
            <a:extLst xmlns:a="http://schemas.openxmlformats.org/drawingml/2006/main">
              <a:ext uri="{FF2B5EF4-FFF2-40B4-BE49-F238E27FC236}">
                <a16:creationId xmlns:a16="http://schemas.microsoft.com/office/drawing/2014/main" id="{AC0D6EEA-3509-470C-A1EA-1C4460EB7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47650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C707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C7072"/>
                </a:solidFill>
                <a:latin typeface="Arial"/>
                <a:ea typeface="Arial"/>
                <a:cs typeface="Arial"/>
              </a:rPr>
              <a:t>参数来源</a:t>
            </a:r>
          </a:p>
        </p:txBody>
      </p:sp>
      <p:sp>
        <p:nvSpPr>
          <p:cNvPr id="16" name="gate-result-1">
            <a:extLst xmlns:a="http://schemas.openxmlformats.org/drawingml/2006/main">
              <a:ext uri="{FF2B5EF4-FFF2-40B4-BE49-F238E27FC236}">
                <a16:creationId xmlns:a16="http://schemas.microsoft.com/office/drawing/2014/main" id="{D24BE4D6-3350-48DE-BA65-E3D4B5F0E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733800"/>
            <a:ext cx="238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B14C3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B14C3F"/>
                </a:solidFill>
                <a:latin typeface="Arial"/>
                <a:ea typeface="Arial"/>
                <a:cs typeface="Arial"/>
              </a:rPr>
              <a:t>未通过</a:t>
            </a:r>
          </a:p>
          <a:p xmlns:a="http://schemas.openxmlformats.org/drawingml/2006/main">
            <a:pPr>
              <a:defRPr sz="1875" b="1">
                <a:solidFill>
                  <a:srgbClr val="B14C3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B14C3F"/>
                </a:solidFill>
                <a:latin typeface="Arial"/>
                <a:ea typeface="Arial"/>
                <a:cs typeface="Arial"/>
              </a:rPr>
              <a:t>合格 CLI 缺失</a:t>
            </a:r>
          </a:p>
        </p:txBody>
      </p:sp>
      <p:sp>
        <p:nvSpPr>
          <p:cNvPr id="17" name="gate-label-2">
            <a:extLst xmlns:a="http://schemas.openxmlformats.org/drawingml/2006/main">
              <a:ext uri="{FF2B5EF4-FFF2-40B4-BE49-F238E27FC236}">
                <a16:creationId xmlns:a16="http://schemas.microsoft.com/office/drawing/2014/main" id="{B19F617D-10C0-4978-8763-1023AB402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0764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8406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B14C3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B14C3F"/>
                </a:solidFill>
                <a:latin typeface="Arial"/>
                <a:ea typeface="Arial"/>
                <a:cs typeface="Arial"/>
              </a:rPr>
              <a:t>003_06</a:t>
            </a:r>
          </a:p>
        </p:txBody>
      </p:sp>
      <p:sp>
        <p:nvSpPr>
          <p:cNvPr id="18" name="gate-stage-2">
            <a:extLst xmlns:a="http://schemas.openxmlformats.org/drawingml/2006/main">
              <a:ext uri="{FF2B5EF4-FFF2-40B4-BE49-F238E27FC236}">
                <a16:creationId xmlns:a16="http://schemas.microsoft.com/office/drawing/2014/main" id="{A75F549D-DEDE-42F3-A4E3-4E2546703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47650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C707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C7072"/>
                </a:solidFill>
                <a:latin typeface="Arial"/>
                <a:ea typeface="Arial"/>
                <a:cs typeface="Arial"/>
              </a:rPr>
              <a:t>WGEN pilot</a:t>
            </a:r>
          </a:p>
        </p:txBody>
      </p:sp>
      <p:sp>
        <p:nvSpPr>
          <p:cNvPr id="19" name="gate-result-2">
            <a:extLst xmlns:a="http://schemas.openxmlformats.org/drawingml/2006/main">
              <a:ext uri="{FF2B5EF4-FFF2-40B4-BE49-F238E27FC236}">
                <a16:creationId xmlns:a16="http://schemas.microsoft.com/office/drawing/2014/main" id="{35911D3B-3642-46E8-A5FF-FBD930F0B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733800"/>
            <a:ext cx="238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B14C3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B14C3F"/>
                </a:solidFill>
                <a:latin typeface="Arial"/>
                <a:ea typeface="Arial"/>
                <a:cs typeface="Arial"/>
              </a:rPr>
              <a:t>未找到</a:t>
            </a:r>
          </a:p>
          <a:p xmlns:a="http://schemas.openxmlformats.org/drawingml/2006/main">
            <a:pPr>
              <a:defRPr sz="1875" b="1">
                <a:solidFill>
                  <a:srgbClr val="B14C3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B14C3F"/>
                </a:solidFill>
                <a:latin typeface="Arial"/>
                <a:ea typeface="Arial"/>
                <a:cs typeface="Arial"/>
              </a:rPr>
              <a:t>无 PASS 证据</a:t>
            </a:r>
          </a:p>
        </p:txBody>
      </p:sp>
      <p:sp>
        <p:nvSpPr>
          <p:cNvPr id="20" name="gate-label-3">
            <a:extLst xmlns:a="http://schemas.openxmlformats.org/drawingml/2006/main">
              <a:ext uri="{FF2B5EF4-FFF2-40B4-BE49-F238E27FC236}">
                <a16:creationId xmlns:a16="http://schemas.microsoft.com/office/drawing/2014/main" id="{3BDE0C8E-E02F-4BF8-8B7D-A22AEDC27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0764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8406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8323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83238"/>
                </a:solidFill>
                <a:latin typeface="Arial"/>
                <a:ea typeface="Arial"/>
                <a:cs typeface="Arial"/>
              </a:rPr>
              <a:t>004</a:t>
            </a:r>
          </a:p>
        </p:txBody>
      </p:sp>
      <p:sp>
        <p:nvSpPr>
          <p:cNvPr id="21" name="gate-stage-3">
            <a:extLst xmlns:a="http://schemas.openxmlformats.org/drawingml/2006/main">
              <a:ext uri="{FF2B5EF4-FFF2-40B4-BE49-F238E27FC236}">
                <a16:creationId xmlns:a16="http://schemas.microsoft.com/office/drawing/2014/main" id="{2FFB391F-CC2D-4C72-BC78-7A098DE55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47650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C707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C7072"/>
                </a:solidFill>
                <a:latin typeface="Arial"/>
                <a:ea typeface="Arial"/>
                <a:cs typeface="Arial"/>
              </a:rPr>
              <a:t>PPO 实验</a:t>
            </a:r>
          </a:p>
        </p:txBody>
      </p:sp>
      <p:sp>
        <p:nvSpPr>
          <p:cNvPr id="22" name="gate-result-3">
            <a:extLst xmlns:a="http://schemas.openxmlformats.org/drawingml/2006/main">
              <a:ext uri="{FF2B5EF4-FFF2-40B4-BE49-F238E27FC236}">
                <a16:creationId xmlns:a16="http://schemas.microsoft.com/office/drawing/2014/main" id="{A96ED01E-739C-4F57-9FF1-EAD511D0E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733800"/>
            <a:ext cx="238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89969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899695"/>
                </a:solidFill>
                <a:latin typeface="Arial"/>
                <a:ea typeface="Arial"/>
                <a:cs typeface="Arial"/>
              </a:rPr>
              <a:t>未启动</a:t>
            </a:r>
          </a:p>
          <a:p xmlns:a="http://schemas.openxmlformats.org/drawingml/2006/main">
            <a:pPr>
              <a:defRPr sz="1875" b="1">
                <a:solidFill>
                  <a:srgbClr val="89969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899695"/>
                </a:solidFill>
                <a:latin typeface="Arial"/>
                <a:ea typeface="Arial"/>
                <a:cs typeface="Arial"/>
              </a:rPr>
              <a:t>按 Gate 停止</a:t>
            </a:r>
          </a:p>
        </p:txBody>
      </p:sp>
      <p:sp>
        <p:nvSpPr>
          <p:cNvPr id="23" name="gate-footnote">
            <a:extLst xmlns:a="http://schemas.openxmlformats.org/drawingml/2006/main">
              <a:ext uri="{FF2B5EF4-FFF2-40B4-BE49-F238E27FC236}">
                <a16:creationId xmlns:a16="http://schemas.microsoft.com/office/drawing/2014/main" id="{1896C433-2832-469D-A0DA-637973661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7685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C707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C7072"/>
                </a:solidFill>
                <a:latin typeface="Arial"/>
                <a:ea typeface="Arial"/>
                <a:cs typeface="Arial"/>
              </a:rPr>
              <a:t>003_05_01 只交付天气 candidate；其任务范围明确没有生成 .CLI 或运行 WGEN。</a:t>
            </a:r>
          </a:p>
        </p:txBody>
      </p:sp>
    </p:spTree>
    <p:extLst>
      <p:ext uri="{BB962C8B-B14F-4D97-AF65-F5344CB8AC3E}">
        <p14:creationId xmlns:p14="http://schemas.microsoft.com/office/powerpoint/2010/main" val="206921381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op-rule-3">
            <a:extLst xmlns:a="http://schemas.openxmlformats.org/drawingml/2006/main">
              <a:ext uri="{FF2B5EF4-FFF2-40B4-BE49-F238E27FC236}">
                <a16:creationId xmlns:a16="http://schemas.microsoft.com/office/drawing/2014/main" id="{052166F7-CA7D-47F9-9D93-D1F984EBB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4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AEC28ED4-BEE5-4B7E-A8B8-9CD1ACD96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323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83238"/>
                </a:solidFill>
                <a:latin typeface="Arial"/>
                <a:ea typeface="Arial"/>
                <a:cs typeface="Arial"/>
              </a:rPr>
              <a:t>train-only CLI 尚未成立</a:t>
            </a:r>
          </a:p>
        </p:txBody>
      </p:sp>
      <p:sp>
        <p:nvSpPr>
          <p:cNvPr id="3" name="footer-rule-3">
            <a:extLst xmlns:a="http://schemas.openxmlformats.org/drawingml/2006/main">
              <a:ext uri="{FF2B5EF4-FFF2-40B4-BE49-F238E27FC236}">
                <a16:creationId xmlns:a16="http://schemas.microsoft.com/office/drawing/2014/main" id="{CC41B6A1-CA2C-41B7-B0D7-719CDDBEA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2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3">
            <a:extLst xmlns:a="http://schemas.openxmlformats.org/drawingml/2006/main">
              <a:ext uri="{FF2B5EF4-FFF2-40B4-BE49-F238E27FC236}">
                <a16:creationId xmlns:a16="http://schemas.microsoft.com/office/drawing/2014/main" id="{E9A2BE51-B0A3-42EC-AF44-E23C6C61D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4583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707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C7072"/>
                </a:solidFill>
                <a:latin typeface="Arial"/>
                <a:ea typeface="Arial"/>
                <a:cs typeface="Arial"/>
              </a:rPr>
              <a:t>YC PPO 天气增强实验  |  004</a:t>
            </a:r>
          </a:p>
        </p:txBody>
      </p:sp>
      <p:sp>
        <p:nvSpPr>
          <p:cNvPr id="5" name="page-3">
            <a:extLst xmlns:a="http://schemas.openxmlformats.org/drawingml/2006/main">
              <a:ext uri="{FF2B5EF4-FFF2-40B4-BE49-F238E27FC236}">
                <a16:creationId xmlns:a16="http://schemas.microsoft.com/office/drawing/2014/main" id="{BF5463D8-2AA5-4DAC-9E7E-AEA1596FD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579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4583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707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C7072"/>
                </a:solidFill>
                <a:latin typeface="Arial"/>
                <a:ea typeface="Arial"/>
                <a:cs typeface="Arial"/>
              </a:rPr>
              <a:t>3 / 4</a:t>
            </a:r>
          </a:p>
        </p:txBody>
      </p:sp>
      <p:sp>
        <p:nvSpPr>
          <p:cNvPr id="6" name="blocker-label-0">
            <a:extLst xmlns:a="http://schemas.openxmlformats.org/drawingml/2006/main">
              <a:ext uri="{FF2B5EF4-FFF2-40B4-BE49-F238E27FC236}">
                <a16:creationId xmlns:a16="http://schemas.microsoft.com/office/drawing/2014/main" id="{BAD8404E-2CC6-4096-864E-E3E26B025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573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4667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B14C3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B14C3F"/>
                </a:solidFill>
                <a:latin typeface="Arial"/>
                <a:ea typeface="Arial"/>
                <a:cs typeface="Arial"/>
              </a:rPr>
              <a:t>当前输入目录</a:t>
            </a:r>
          </a:p>
        </p:txBody>
      </p:sp>
      <p:sp>
        <p:nvSpPr>
          <p:cNvPr id="7" name="blocker-detail-0">
            <a:extLst xmlns:a="http://schemas.openxmlformats.org/drawingml/2006/main">
              <a:ext uri="{FF2B5EF4-FFF2-40B4-BE49-F238E27FC236}">
                <a16:creationId xmlns:a16="http://schemas.microsoft.com/office/drawing/2014/main" id="{6999AD6C-FE6A-49F6-A938-C95293B9B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63830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8323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83238"/>
                </a:solidFill>
                <a:latin typeface="Arial"/>
                <a:ea typeface="Arial"/>
                <a:cs typeface="Arial"/>
              </a:rPr>
              <a:t>没有可核验的 YC lowIC CNYC.CLI。</a:t>
            </a:r>
          </a:p>
        </p:txBody>
      </p:sp>
      <p:sp>
        <p:nvSpPr>
          <p:cNvPr id="8" name="blocker-separator-0">
            <a:extLst xmlns:a="http://schemas.openxmlformats.org/drawingml/2006/main">
              <a:ext uri="{FF2B5EF4-FFF2-40B4-BE49-F238E27FC236}">
                <a16:creationId xmlns:a16="http://schemas.microsoft.com/office/drawing/2014/main" id="{8D248CA6-9F03-4922-8442-29AED375C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90775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2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blocker-label-1">
            <a:extLst xmlns:a="http://schemas.openxmlformats.org/drawingml/2006/main">
              <a:ext uri="{FF2B5EF4-FFF2-40B4-BE49-F238E27FC236}">
                <a16:creationId xmlns:a16="http://schemas.microsoft.com/office/drawing/2014/main" id="{014761A6-7ECF-4541-AAD9-FBA85C4EE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241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4667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B14C3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B14C3F"/>
                </a:solidFill>
                <a:latin typeface="Arial"/>
                <a:ea typeface="Arial"/>
                <a:cs typeface="Arial"/>
              </a:rPr>
              <a:t>旧 CLI 候选</a:t>
            </a:r>
          </a:p>
        </p:txBody>
      </p:sp>
      <p:sp>
        <p:nvSpPr>
          <p:cNvPr id="10" name="blocker-detail-1">
            <a:extLst xmlns:a="http://schemas.openxmlformats.org/drawingml/2006/main">
              <a:ext uri="{FF2B5EF4-FFF2-40B4-BE49-F238E27FC236}">
                <a16:creationId xmlns:a16="http://schemas.microsoft.com/office/drawing/2014/main" id="{7E5E630A-24BC-4D50-B678-40CAC9D51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70510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8323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83238"/>
                </a:solidFill>
                <a:latin typeface="Arial"/>
                <a:ea typeface="Arial"/>
                <a:cs typeface="Arial"/>
              </a:rPr>
              <a:t>标注窗口为 2008-01-01 至 2014-12-31，包含 validation 年份。</a:t>
            </a:r>
          </a:p>
        </p:txBody>
      </p:sp>
      <p:sp>
        <p:nvSpPr>
          <p:cNvPr id="11" name="blocker-separator-1">
            <a:extLst xmlns:a="http://schemas.openxmlformats.org/drawingml/2006/main">
              <a:ext uri="{FF2B5EF4-FFF2-40B4-BE49-F238E27FC236}">
                <a16:creationId xmlns:a16="http://schemas.microsoft.com/office/drawing/2014/main" id="{70F5411B-0959-48C6-B0D6-A0EDFD416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57575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2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blocker-label-2">
            <a:extLst xmlns:a="http://schemas.openxmlformats.org/drawingml/2006/main">
              <a:ext uri="{FF2B5EF4-FFF2-40B4-BE49-F238E27FC236}">
                <a16:creationId xmlns:a16="http://schemas.microsoft.com/office/drawing/2014/main" id="{2B3D3EE9-BA6B-4D51-85CD-D08B5B5DF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909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4667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B14C3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B14C3F"/>
                </a:solidFill>
                <a:latin typeface="Arial"/>
                <a:ea typeface="Arial"/>
                <a:cs typeface="Arial"/>
              </a:rPr>
              <a:t>旧运行记录</a:t>
            </a:r>
          </a:p>
        </p:txBody>
      </p:sp>
      <p:sp>
        <p:nvSpPr>
          <p:cNvPr id="13" name="blocker-detail-2">
            <a:extLst xmlns:a="http://schemas.openxmlformats.org/drawingml/2006/main">
              <a:ext uri="{FF2B5EF4-FFF2-40B4-BE49-F238E27FC236}">
                <a16:creationId xmlns:a16="http://schemas.microsoft.com/office/drawing/2014/main" id="{38619BA3-EB9C-40D3-82D0-E0FDF8225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77190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8323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83238"/>
                </a:solidFill>
                <a:latin typeface="Arial"/>
                <a:ea typeface="Arial"/>
                <a:cs typeface="Arial"/>
              </a:rPr>
              <a:t>random_weather=false，不能证明 DSSAT 实际读取 WGEN 参数。</a:t>
            </a:r>
          </a:p>
        </p:txBody>
      </p:sp>
      <p:sp>
        <p:nvSpPr>
          <p:cNvPr id="14" name="blocker-separator-2">
            <a:extLst xmlns:a="http://schemas.openxmlformats.org/drawingml/2006/main">
              <a:ext uri="{FF2B5EF4-FFF2-40B4-BE49-F238E27FC236}">
                <a16:creationId xmlns:a16="http://schemas.microsoft.com/office/drawing/2014/main" id="{E37F25A9-D941-44E3-ACD8-F478DCADF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24375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2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blocker-label-3">
            <a:extLst xmlns:a="http://schemas.openxmlformats.org/drawingml/2006/main">
              <a:ext uri="{FF2B5EF4-FFF2-40B4-BE49-F238E27FC236}">
                <a16:creationId xmlns:a16="http://schemas.microsoft.com/office/drawing/2014/main" id="{452F37D9-396C-454C-BBD6-4C493E176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577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4667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B14C3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B14C3F"/>
                </a:solidFill>
                <a:latin typeface="Arial"/>
                <a:ea typeface="Arial"/>
                <a:cs typeface="Arial"/>
              </a:rPr>
              <a:t>尚待验证</a:t>
            </a:r>
          </a:p>
        </p:txBody>
      </p:sp>
      <p:sp>
        <p:nvSpPr>
          <p:cNvPr id="16" name="blocker-detail-3">
            <a:extLst xmlns:a="http://schemas.openxmlformats.org/drawingml/2006/main">
              <a:ext uri="{FF2B5EF4-FFF2-40B4-BE49-F238E27FC236}">
                <a16:creationId xmlns:a16="http://schemas.microsoft.com/office/drawing/2014/main" id="{6F79B9E3-D21F-4E63-9942-749874E96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83870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8323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83238"/>
                </a:solidFill>
                <a:latin typeface="Arial"/>
                <a:ea typeface="Arial"/>
                <a:cs typeface="Arial"/>
              </a:rPr>
              <a:t>WeatherMan 拟合来源缺失，FileX WSTA 与 CLI 映射仍需运行时确认。</a:t>
            </a:r>
          </a:p>
        </p:txBody>
      </p:sp>
      <p:sp>
        <p:nvSpPr>
          <p:cNvPr id="17" name="legacy-hash">
            <a:extLst xmlns:a="http://schemas.openxmlformats.org/drawingml/2006/main">
              <a:ext uri="{FF2B5EF4-FFF2-40B4-BE49-F238E27FC236}">
                <a16:creationId xmlns:a16="http://schemas.microsoft.com/office/drawing/2014/main" id="{9A492F78-FB66-4358-8EF3-DA97E9B29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86450"/>
            <a:ext cx="10363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707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C7072"/>
                </a:solidFill>
                <a:latin typeface="Arial"/>
                <a:ea typeface="Arial"/>
                <a:cs typeface="Arial"/>
              </a:rPr>
              <a:t>旧文件 SHA256：58dbe11fdb3af9d34cc25644d8fb965627403778eb92da31a8f91619bd100d51</a:t>
            </a:r>
          </a:p>
        </p:txBody>
      </p:sp>
    </p:spTree>
    <p:extLst>
      <p:ext uri="{BB962C8B-B14F-4D97-AF65-F5344CB8AC3E}">
        <p14:creationId xmlns:p14="http://schemas.microsoft.com/office/powerpoint/2010/main" val="42718043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op-rule-4">
            <a:extLst xmlns:a="http://schemas.openxmlformats.org/drawingml/2006/main">
              <a:ext uri="{FF2B5EF4-FFF2-40B4-BE49-F238E27FC236}">
                <a16:creationId xmlns:a16="http://schemas.microsoft.com/office/drawing/2014/main" id="{8E810675-48C5-48FD-AAF8-96B00C9FD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4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1F500620-E7E1-4BF5-90A2-47ADC9824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323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83238"/>
                </a:solidFill>
                <a:latin typeface="Arial"/>
                <a:ea typeface="Arial"/>
                <a:cs typeface="Arial"/>
              </a:rPr>
              <a:t>004 执行边界与恢复条件</a:t>
            </a:r>
          </a:p>
        </p:txBody>
      </p:sp>
      <p:sp>
        <p:nvSpPr>
          <p:cNvPr id="3" name="footer-rule-4">
            <a:extLst xmlns:a="http://schemas.openxmlformats.org/drawingml/2006/main">
              <a:ext uri="{FF2B5EF4-FFF2-40B4-BE49-F238E27FC236}">
                <a16:creationId xmlns:a16="http://schemas.microsoft.com/office/drawing/2014/main" id="{8C4164D5-3EF2-4C1B-BA33-C75C0215C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2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4">
            <a:extLst xmlns:a="http://schemas.openxmlformats.org/drawingml/2006/main">
              <a:ext uri="{FF2B5EF4-FFF2-40B4-BE49-F238E27FC236}">
                <a16:creationId xmlns:a16="http://schemas.microsoft.com/office/drawing/2014/main" id="{3E0C27C2-9CA1-42B4-B1AD-C9642F763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4583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707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C7072"/>
                </a:solidFill>
                <a:latin typeface="Arial"/>
                <a:ea typeface="Arial"/>
                <a:cs typeface="Arial"/>
              </a:rPr>
              <a:t>YC PPO 天气增强实验  |  004</a:t>
            </a:r>
          </a:p>
        </p:txBody>
      </p:sp>
      <p:sp>
        <p:nvSpPr>
          <p:cNvPr id="5" name="page-4">
            <a:extLst xmlns:a="http://schemas.openxmlformats.org/drawingml/2006/main">
              <a:ext uri="{FF2B5EF4-FFF2-40B4-BE49-F238E27FC236}">
                <a16:creationId xmlns:a16="http://schemas.microsoft.com/office/drawing/2014/main" id="{EEE092E9-1D35-4D5F-9907-CC7BB7095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579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4583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707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C7072"/>
                </a:solidFill>
                <a:latin typeface="Arial"/>
                <a:ea typeface="Arial"/>
                <a:cs typeface="Arial"/>
              </a:rPr>
              <a:t>4 / 4</a:t>
            </a:r>
          </a:p>
        </p:txBody>
      </p:sp>
      <p:sp>
        <p:nvSpPr>
          <p:cNvPr id="6" name="not-run-title">
            <a:extLst xmlns:a="http://schemas.openxmlformats.org/drawingml/2006/main">
              <a:ext uri="{FF2B5EF4-FFF2-40B4-BE49-F238E27FC236}">
                <a16:creationId xmlns:a16="http://schemas.microsoft.com/office/drawing/2014/main" id="{15DD2702-D930-45CF-807B-EE62DD19A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81150"/>
            <a:ext cx="438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5556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B14C3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B14C3F"/>
                </a:solidFill>
                <a:latin typeface="Arial"/>
                <a:ea typeface="Arial"/>
                <a:cs typeface="Arial"/>
              </a:rPr>
              <a:t>当前均未执行</a:t>
            </a:r>
          </a:p>
        </p:txBody>
      </p:sp>
      <p:sp>
        <p:nvSpPr>
          <p:cNvPr id="7" name="not-run-list">
            <a:extLst xmlns:a="http://schemas.openxmlformats.org/drawingml/2006/main">
              <a:ext uri="{FF2B5EF4-FFF2-40B4-BE49-F238E27FC236}">
                <a16:creationId xmlns:a16="http://schemas.microsoft.com/office/drawing/2014/main" id="{B32AD32B-BA28-45D5-AB29-BE9098767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71700"/>
            <a:ext cx="476250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8323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83238"/>
                </a:solidFill>
                <a:latin typeface="Arial"/>
                <a:ea typeface="Arial"/>
                <a:cs typeface="Arial"/>
              </a:rPr>
              <a:t>Synthetic bank：0 套</a:t>
            </a:r>
          </a:p>
          <a:p xmlns:a="http://schemas.openxmlformats.org/drawingml/2006/main">
            <a:pPr>
              <a:defRPr sz="1725" b="0">
                <a:solidFill>
                  <a:srgbClr val="18323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83238"/>
                </a:solidFill>
                <a:latin typeface="Arial"/>
                <a:ea typeface="Arial"/>
                <a:cs typeface="Arial"/>
              </a:rPr>
              <a:t>50/50 source sampler：未 smoke</a:t>
            </a:r>
          </a:p>
          <a:p xmlns:a="http://schemas.openxmlformats.org/drawingml/2006/main">
            <a:pPr>
              <a:defRPr sz="1725" b="0">
                <a:solidFill>
                  <a:srgbClr val="18323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83238"/>
                </a:solidFill>
                <a:latin typeface="Arial"/>
                <a:ea typeface="Arial"/>
                <a:cs typeface="Arial"/>
              </a:rPr>
              <a:t>PPO config 与 seed set：未冻结</a:t>
            </a:r>
          </a:p>
          <a:p xmlns:a="http://schemas.openxmlformats.org/drawingml/2006/main">
            <a:pPr>
              <a:defRPr sz="1725" b="0">
                <a:solidFill>
                  <a:srgbClr val="18323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83238"/>
                </a:solidFill>
                <a:latin typeface="Arial"/>
                <a:ea typeface="Arial"/>
                <a:cs typeface="Arial"/>
              </a:rPr>
              <a:t>Stage 0 / full training / validation：未运行</a:t>
            </a:r>
          </a:p>
        </p:txBody>
      </p:sp>
      <p:sp>
        <p:nvSpPr>
          <p:cNvPr id="8" name="resume-divider">
            <a:extLst xmlns:a="http://schemas.openxmlformats.org/drawingml/2006/main">
              <a:ext uri="{FF2B5EF4-FFF2-40B4-BE49-F238E27FC236}">
                <a16:creationId xmlns:a16="http://schemas.microsoft.com/office/drawing/2014/main" id="{BC1BD205-F4A6-4DA6-AA4F-AD6DB10E4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600200"/>
            <a:ext cx="190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2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resume-title">
            <a:extLst xmlns:a="http://schemas.openxmlformats.org/drawingml/2006/main">
              <a:ext uri="{FF2B5EF4-FFF2-40B4-BE49-F238E27FC236}">
                <a16:creationId xmlns:a16="http://schemas.microsoft.com/office/drawing/2014/main" id="{709DD25B-0E2A-4A29-B43C-F4F7D3BB2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58115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5556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6746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6746F"/>
                </a:solidFill>
                <a:latin typeface="Arial"/>
                <a:ea typeface="Arial"/>
                <a:cs typeface="Arial"/>
              </a:rPr>
              <a:t>恢复顺序</a:t>
            </a:r>
          </a:p>
        </p:txBody>
      </p:sp>
      <p:sp>
        <p:nvSpPr>
          <p:cNvPr id="10" name="resume-list">
            <a:extLst xmlns:a="http://schemas.openxmlformats.org/drawingml/2006/main">
              <a:ext uri="{FF2B5EF4-FFF2-40B4-BE49-F238E27FC236}">
                <a16:creationId xmlns:a16="http://schemas.microsoft.com/office/drawing/2014/main" id="{4E347331-C65B-48A1-A1A7-BFF7A9146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171700"/>
            <a:ext cx="47625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8323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83238"/>
                </a:solidFill>
                <a:latin typeface="Arial"/>
                <a:ea typeface="Arial"/>
                <a:cs typeface="Arial"/>
              </a:rPr>
              <a:t>1. 完成 003_06 train-only CLI provenance</a:t>
            </a:r>
          </a:p>
          <a:p xmlns:a="http://schemas.openxmlformats.org/drawingml/2006/main">
            <a:pPr>
              <a:defRPr sz="1650" b="0">
                <a:solidFill>
                  <a:srgbClr val="18323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83238"/>
                </a:solidFill>
                <a:latin typeface="Arial"/>
                <a:ea typeface="Arial"/>
                <a:cs typeface="Arial"/>
              </a:rPr>
              <a:t>2. 确认 FileX WSTA 映射</a:t>
            </a:r>
          </a:p>
          <a:p xmlns:a="http://schemas.openxmlformats.org/drawingml/2006/main">
            <a:pPr>
              <a:defRPr sz="1650" b="0">
                <a:solidFill>
                  <a:srgbClr val="18323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83238"/>
                </a:solidFill>
                <a:latin typeface="Arial"/>
                <a:ea typeface="Arial"/>
                <a:cs typeface="Arial"/>
              </a:rPr>
              <a:t>3. 通过 WGEN seed 复现与 DSSAT smoke</a:t>
            </a:r>
          </a:p>
          <a:p xmlns:a="http://schemas.openxmlformats.org/drawingml/2006/main">
            <a:pPr>
              <a:defRPr sz="1650" b="0">
                <a:solidFill>
                  <a:srgbClr val="18323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83238"/>
                </a:solidFill>
                <a:latin typeface="Arial"/>
                <a:ea typeface="Arial"/>
                <a:cs typeface="Arial"/>
              </a:rPr>
              <a:t>4. 取得 PASS_YC_WGEN_PILOT 后再进入 004</a:t>
            </a:r>
          </a:p>
        </p:txBody>
      </p:sp>
      <p:sp>
        <p:nvSpPr>
          <p:cNvPr id="11" name="resume-note">
            <a:extLst xmlns:a="http://schemas.openxmlformats.org/drawingml/2006/main">
              <a:ext uri="{FF2B5EF4-FFF2-40B4-BE49-F238E27FC236}">
                <a16:creationId xmlns:a16="http://schemas.microsoft.com/office/drawing/2014/main" id="{3A344697-7CC0-426D-9A8B-61C72763B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48300"/>
            <a:ext cx="10363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C707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C7072"/>
                </a:solidFill>
                <a:latin typeface="Arial"/>
                <a:ea typeface="Arial"/>
                <a:cs typeface="Arial"/>
              </a:rPr>
              <a:t>2014–2023 仍称 validation；independent test 尚未验证。</a:t>
            </a:r>
          </a:p>
        </p:txBody>
      </p:sp>
    </p:spTree>
    <p:extLst>
      <p:ext uri="{BB962C8B-B14F-4D97-AF65-F5344CB8AC3E}">
        <p14:creationId xmlns:p14="http://schemas.microsoft.com/office/powerpoint/2010/main" val="95316677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2026-09-24T09:46:32.3940000Z</dcterms:created>
  <dcterms:modified xsi:type="dcterms:W3CDTF">2026-09-24T09:46:32.3940000Z</dcterms:modified>
</coreProperties>
</file>