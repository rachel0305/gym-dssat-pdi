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2120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1A7470"/>
                </a:solidFill>
                <a:latin typeface="Microsoft YaHei"/>
              </a:rPr>
              <a:t>决策摘要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400" b="1">
                <a:solidFill>
                  <a:srgbClr val="223237"/>
                </a:solidFill>
                <a:latin typeface="Microsoft YaHei"/>
              </a:rPr>
              <a:t>YC 训练天气候选已通过变量级补齐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83680"/>
            <a:ext cx="886968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657577"/>
                </a:solidFill>
                <a:latin typeface="Microsoft YaHei"/>
              </a:rPr>
              <a:t>YC TRAIN WEATHER  |  003_05_01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6400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657577"/>
                </a:solidFill>
                <a:latin typeface="Microsoft YaHei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6537960" cy="4526280"/>
          </a:xfrm>
          <a:prstGeom prst="rect">
            <a:avLst/>
          </a:prstGeom>
          <a:solidFill>
            <a:srgbClr val="E3F1EE"/>
          </a:solidFill>
          <a:ln>
            <a:solidFill>
              <a:srgbClr val="E3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682496"/>
            <a:ext cx="580644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A7470"/>
                </a:solidFill>
                <a:latin typeface="Microsoft YaHei"/>
              </a:rPr>
              <a:t>最终状态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11680"/>
            <a:ext cx="5806440" cy="5486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100" b="1">
                <a:solidFill>
                  <a:srgbClr val="223237"/>
                </a:solidFill>
                <a:latin typeface="Microsoft YaHei"/>
              </a:rPr>
              <a:t>PASS_YC_WEATHER_CANDIDATE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43200"/>
            <a:ext cx="5715000" cy="74980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0">
                <a:solidFill>
                  <a:srgbClr val="223237"/>
                </a:solidFill>
                <a:latin typeface="Microsoft YaHei"/>
              </a:rPr>
              <a:t>温度与辐射缺口按独立 Gate 接受；降雨缺口仅接受通过重叠验证的近邻地面站值。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3858768"/>
            <a:ext cx="73152" cy="73152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767328"/>
            <a:ext cx="5486400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223237"/>
                </a:solidFill>
                <a:latin typeface="Microsoft YaHei"/>
              </a:rPr>
              <a:t>NASA POWER：TMAX 107 天、TMIN 107 天、SRAD 151 天；RAIN 0 天。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4498848"/>
            <a:ext cx="73152" cy="73152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407408"/>
            <a:ext cx="5486400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223237"/>
                </a:solidFill>
                <a:latin typeface="Microsoft YaHei"/>
              </a:rPr>
              <a:t>五个雨日：CHM00054823 JINAN，49.8 km，事件一致率 85.32%。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5138927"/>
            <a:ext cx="73152" cy="73152"/>
          </a:xfrm>
          <a:prstGeom prst="rect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047488"/>
            <a:ext cx="5486400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223237"/>
                </a:solidFill>
                <a:latin typeface="Microsoft YaHei"/>
              </a:rPr>
              <a:t>本任务未生成 CLI，也未启动 WeatherMan、WGEN、DSSAT 或 PPO。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88352" y="1508760"/>
            <a:ext cx="19202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88352" y="1508760"/>
            <a:ext cx="64008" cy="1188720"/>
          </a:xfrm>
          <a:prstGeom prst="rect">
            <a:avLst/>
          </a:prstGeom>
          <a:solidFill>
            <a:srgbClr val="517F63"/>
          </a:solidFill>
          <a:ln>
            <a:solidFill>
              <a:srgbClr val="51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1618488"/>
            <a:ext cx="162763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657577"/>
                </a:solidFill>
                <a:latin typeface="Microsoft YaHei"/>
              </a:rPr>
              <a:t>天气日数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1856231"/>
            <a:ext cx="1627632" cy="4114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200" b="1">
                <a:solidFill>
                  <a:srgbClr val="517F63"/>
                </a:solidFill>
                <a:latin typeface="Microsoft YaHei"/>
              </a:rPr>
              <a:t>3,653 / 3,653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40864"/>
            <a:ext cx="162763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657577"/>
                </a:solidFill>
                <a:latin typeface="Microsoft YaHei"/>
              </a:rPr>
              <a:t>2004–2013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508760"/>
            <a:ext cx="19202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1508760"/>
            <a:ext cx="64008" cy="1188720"/>
          </a:xfrm>
          <a:prstGeom prst="rect">
            <a:avLst/>
          </a:prstGeom>
          <a:solidFill>
            <a:srgbClr val="517F63"/>
          </a:solidFill>
          <a:ln>
            <a:solidFill>
              <a:srgbClr val="51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1618488"/>
            <a:ext cx="162763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657577"/>
                </a:solidFill>
                <a:latin typeface="Microsoft YaHei"/>
              </a:rPr>
              <a:t>候选 QC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1856231"/>
            <a:ext cx="1627632" cy="4114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200" b="1">
                <a:solidFill>
                  <a:srgbClr val="517F63"/>
                </a:solidFill>
                <a:latin typeface="Microsoft YaHei"/>
              </a:rPr>
              <a:t>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340864"/>
            <a:ext cx="162763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657577"/>
                </a:solidFill>
                <a:latin typeface="Microsoft YaHei"/>
              </a:rPr>
              <a:t>完整性 / 物理 / provenance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88352" y="2944368"/>
            <a:ext cx="19202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944368"/>
            <a:ext cx="64008" cy="118872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3054096"/>
            <a:ext cx="162763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657577"/>
                </a:solidFill>
                <a:latin typeface="Microsoft YaHei"/>
              </a:rPr>
              <a:t>邻站候选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3291840"/>
            <a:ext cx="1627632" cy="4114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200" b="1">
                <a:solidFill>
                  <a:srgbClr val="1A7470"/>
                </a:solidFill>
                <a:latin typeface="Microsoft YaHei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2944" y="3776472"/>
            <a:ext cx="162763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657577"/>
                </a:solidFill>
                <a:latin typeface="Microsoft YaHei"/>
              </a:rPr>
              <a:t>通过雨量 Gate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2944368"/>
            <a:ext cx="19202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9760" y="2944368"/>
            <a:ext cx="64008" cy="1188720"/>
          </a:xfrm>
          <a:prstGeom prst="rect">
            <a:avLst/>
          </a:prstGeom>
          <a:solidFill>
            <a:srgbClr val="517F63"/>
          </a:solidFill>
          <a:ln>
            <a:solidFill>
              <a:srgbClr val="51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4352" y="3054096"/>
            <a:ext cx="162763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657577"/>
                </a:solidFill>
                <a:latin typeface="Microsoft YaHei"/>
              </a:rPr>
              <a:t>泄漏上限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4352" y="3291840"/>
            <a:ext cx="1627632" cy="4114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200" b="1">
                <a:solidFill>
                  <a:srgbClr val="517F63"/>
                </a:solidFill>
                <a:latin typeface="Microsoft YaHei"/>
              </a:rPr>
              <a:t>2013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3776472"/>
            <a:ext cx="162763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657577"/>
                </a:solidFill>
                <a:latin typeface="Microsoft YaHei"/>
              </a:rPr>
              <a:t>2014+ 天气值未用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4645152"/>
            <a:ext cx="3886200" cy="8229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1">
                <a:solidFill>
                  <a:srgbClr val="223237"/>
                </a:solidFill>
                <a:latin typeface="Microsoft YaHei"/>
              </a:rPr>
              <a:t>训练天气 candidate 已形成，可交给独立的 train-only `.CLI` / WGEN pilot 任务审阅。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2120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1A7470"/>
                </a:solidFill>
                <a:latin typeface="Microsoft YaHei"/>
              </a:rPr>
              <a:t>验证结果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400" b="1">
                <a:solidFill>
                  <a:srgbClr val="223237"/>
                </a:solidFill>
                <a:latin typeface="Microsoft YaHei"/>
              </a:rPr>
              <a:t>变量 Gate：只放行已通过的列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83680"/>
            <a:ext cx="886968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657577"/>
                </a:solidFill>
                <a:latin typeface="Microsoft YaHei"/>
              </a:rPr>
              <a:t>YC TRAIN WEATHER  |  003_05_01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6400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657577"/>
                </a:solidFill>
                <a:latin typeface="Microsoft YaHei"/>
              </a:rPr>
              <a:t>02 / 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81328"/>
          <a:ext cx="10863072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234440"/>
                <a:gridCol w="1325880"/>
                <a:gridCol w="1325880"/>
                <a:gridCol w="1234440"/>
                <a:gridCol w="1508760"/>
                <a:gridCol w="2816352"/>
              </a:tblGrid>
              <a:tr h="4425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变量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Overlap n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校正 MAE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校正 RMSE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Pearson r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NASA 填补日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Gate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</a:tr>
              <a:tr h="4425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TMAX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3180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1.721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2.316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0.9808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107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425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TMIN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3180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1.630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2.120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0.9814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107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</a:tr>
              <a:tr h="44256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SRAD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3136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1.562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2.482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0.9363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151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425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RAIN (NASA)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3287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BLOCKED 71.98%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3977639"/>
            <a:ext cx="10863072" cy="1481328"/>
          </a:xfrm>
          <a:prstGeom prst="rect">
            <a:avLst/>
          </a:prstGeom>
          <a:solidFill>
            <a:srgbClr val="FAEEE5"/>
          </a:solidFill>
          <a:ln>
            <a:solidFill>
              <a:srgbClr val="FA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24528"/>
            <a:ext cx="192024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D36F43"/>
                </a:solidFill>
                <a:latin typeface="Microsoft YaHei"/>
              </a:rPr>
              <a:t>RAIN overlap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553712"/>
            <a:ext cx="2834640" cy="4572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000" b="1">
                <a:solidFill>
                  <a:srgbClr val="D36F43"/>
                </a:solidFill>
                <a:latin typeface="Microsoft YaHei"/>
              </a:rPr>
              <a:t>2366 / 3287 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4187952"/>
            <a:ext cx="7132320" cy="8686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71.98% 未达到本项目预先设定的 80% 门槛；阈值未下调。NASA RAIN 不进入 candidate，原官方 2005–2013 日值和正式 0 mm 原样保留。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2120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1A7470"/>
                </a:solidFill>
                <a:latin typeface="Microsoft YaHei"/>
              </a:rPr>
              <a:t>地面站筛选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400" b="1">
                <a:solidFill>
                  <a:srgbClr val="223237"/>
                </a:solidFill>
                <a:latin typeface="Microsoft YaHei"/>
              </a:rPr>
              <a:t>近邻日雨量站比较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83680"/>
            <a:ext cx="886968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657577"/>
                </a:solidFill>
                <a:latin typeface="Microsoft YaHei"/>
              </a:rPr>
              <a:t>YC TRAIN WEATHER  |  003_05_01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6400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657577"/>
                </a:solidFill>
                <a:latin typeface="Microsoft YaHei"/>
              </a:rPr>
              <a:t>03 / 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" y="1344168"/>
          <a:ext cx="109728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00200"/>
                <a:gridCol w="777240"/>
                <a:gridCol w="1097280"/>
                <a:gridCol w="1508760"/>
                <a:gridCol w="1234440"/>
                <a:gridCol w="2788920"/>
              </a:tblGrid>
              <a:tr h="369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站号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站名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km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配对日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事件一致率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2004 五日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Gate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CHM00054823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JINAN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49.8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3039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85.3%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5/5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CHM00054725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HUIMIN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113.3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3038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86.3%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5/5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CHM00054618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POTOU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139.3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3024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85.4%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5/5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CHM00054916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YANZHOU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142.7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3027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84.7%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5/5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CHM00054616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CANGZHOU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168.7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NA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0/5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FAIL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CHM00054906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HEZE/CAOZHOU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203.3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NA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0/5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FAIL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CHM00053898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ANYANG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212.6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3042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82.4%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5/5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CHM00054909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DINGTAO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216.1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3019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82.0%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5/5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CHM00053698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SHIJIAZHUANG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232.4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3029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79.3%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5/5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FAIL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CHM00054843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WEIFANG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232.8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3053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81.5%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5/5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CHM00054527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TIANJIN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257.8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3029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81.7%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5/5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CHM00058027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XUZHOU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288.0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3063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74.4%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5/5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3237"/>
                          </a:solidFill>
                          <a:latin typeface="Microsoft YaHei"/>
                        </a:rPr>
                        <a:t>FAIL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6199632"/>
            <a:ext cx="1078992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657577"/>
                </a:solidFill>
                <a:latin typeface="Microsoft YaHei"/>
              </a:rPr>
              <a:t>配对期 2005–2013；2013 年仅 117/365 日有效配对，未计入完整年总量比摘要。原始子集、flags 与文件 SHA 已记录。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2120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1A7470"/>
                </a:solidFill>
                <a:latin typeface="Microsoft YaHei"/>
              </a:rPr>
              <a:t>gap-fill 决议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400" b="1">
                <a:solidFill>
                  <a:srgbClr val="223237"/>
                </a:solidFill>
                <a:latin typeface="Microsoft YaHei"/>
              </a:rPr>
              <a:t>五天降雨值与来源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83680"/>
            <a:ext cx="886968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657577"/>
                </a:solidFill>
                <a:latin typeface="Microsoft YaHei"/>
              </a:rPr>
              <a:t>YC TRAIN WEATHER  |  003_05_01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6400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657577"/>
                </a:solidFill>
                <a:latin typeface="Microsoft YaHei"/>
              </a:rPr>
              <a:t>04 / 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508760"/>
          <a:ext cx="106527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417320"/>
                <a:gridCol w="2880360"/>
                <a:gridCol w="1234440"/>
                <a:gridCol w="1097280"/>
                <a:gridCol w="1691640"/>
              </a:tblGrid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日期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PRCP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Station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Source flag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Q flag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决议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2004-10-16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0.0 mm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CHM00054823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空白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2004-10-17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0.0 mm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CHM00054823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空白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2004-10-18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0.0 mm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CHM00054823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空白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2004-10-19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0.0 mm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CHM00054823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空白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2004-10-20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0.0 mm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CHM00054823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空白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3237"/>
                          </a:solidFill>
                          <a:latin typeface="Microsoft YaHei"/>
                        </a:rPr>
                        <a:t>PASS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9808" y="4828032"/>
            <a:ext cx="10652760" cy="868680"/>
          </a:xfrm>
          <a:prstGeom prst="rect">
            <a:avLst/>
          </a:prstGeom>
          <a:solidFill>
            <a:srgbClr val="F9F5E2"/>
          </a:solidFill>
          <a:ln>
            <a:solidFill>
              <a:srgbClr val="F9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1010412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五天均采用 Jinan 的 GHCN-Daily PRCP 0.0 mm。NASA POWER 同日也为 0.0 mm，但只作辅助比较，没有参与选择或填补。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815584"/>
            <a:ext cx="10469880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657577"/>
                </a:solidFill>
                <a:latin typeface="Microsoft YaHei"/>
              </a:rPr>
              <a:t>Jinan overlap：3039 日；事件一致 85.32%，wet-day precision 52.91%，recall 94.98%。湿日 precision 偏低，来源仅支持本次五天限定填补。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2120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1A7470"/>
                </a:solidFill>
                <a:latin typeface="Microsoft YaHei"/>
              </a:rPr>
              <a:t>Candidate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400" b="1">
                <a:solidFill>
                  <a:srgbClr val="223237"/>
                </a:solidFill>
                <a:latin typeface="Microsoft YaHei"/>
              </a:rPr>
              <a:t>完整性、气候统计与填补比例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83680"/>
            <a:ext cx="886968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657577"/>
                </a:solidFill>
                <a:latin typeface="Microsoft YaHei"/>
              </a:rPr>
              <a:t>YC TRAIN WEATHER  |  003_05_01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6400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657577"/>
                </a:solidFill>
                <a:latin typeface="Microsoft YaHei"/>
              </a:rPr>
              <a:t>05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23317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17320"/>
            <a:ext cx="64008" cy="1188720"/>
          </a:xfrm>
          <a:prstGeom prst="rect">
            <a:avLst/>
          </a:prstGeom>
          <a:solidFill>
            <a:srgbClr val="517F63"/>
          </a:solidFill>
          <a:ln>
            <a:solidFill>
              <a:srgbClr val="51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27048"/>
            <a:ext cx="203911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657577"/>
                </a:solidFill>
                <a:latin typeface="Microsoft YaHei"/>
              </a:rPr>
              <a:t>完整天气日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64792"/>
            <a:ext cx="2039112" cy="4114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200" b="1">
                <a:solidFill>
                  <a:srgbClr val="517F63"/>
                </a:solidFill>
                <a:latin typeface="Microsoft YaHei"/>
              </a:rPr>
              <a:t>3,653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249424"/>
            <a:ext cx="203911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657577"/>
                </a:solidFill>
                <a:latin typeface="Microsoft YaHei"/>
              </a:rPr>
              <a:t>无重复 / 无缺日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1417320"/>
            <a:ext cx="23317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2112" y="1417320"/>
            <a:ext cx="64008" cy="1188720"/>
          </a:xfrm>
          <a:prstGeom prst="rect">
            <a:avLst/>
          </a:prstGeom>
          <a:solidFill>
            <a:srgbClr val="517F63"/>
          </a:solidFill>
          <a:ln>
            <a:solidFill>
              <a:srgbClr val="51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6704" y="1527048"/>
            <a:ext cx="203911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657577"/>
                </a:solidFill>
                <a:latin typeface="Microsoft YaHei"/>
              </a:rPr>
              <a:t>物理异常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1764792"/>
            <a:ext cx="2039112" cy="4114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200" b="1">
                <a:solidFill>
                  <a:srgbClr val="517F63"/>
                </a:solidFill>
                <a:latin typeface="Microsoft YaHe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2249424"/>
            <a:ext cx="203911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657577"/>
                </a:solidFill>
                <a:latin typeface="Microsoft YaHei"/>
              </a:rPr>
              <a:t>TMAX≥TMIN / SRAD≥0 / RAIN≥0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05856" y="1417320"/>
            <a:ext cx="23317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05856" y="1417320"/>
            <a:ext cx="64008" cy="118872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0448" y="1527048"/>
            <a:ext cx="203911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657577"/>
                </a:solidFill>
                <a:latin typeface="Microsoft YaHei"/>
              </a:rPr>
              <a:t>2004 年降水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764792"/>
            <a:ext cx="2039112" cy="4114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200" b="1">
                <a:solidFill>
                  <a:srgbClr val="1A7470"/>
                </a:solidFill>
                <a:latin typeface="Microsoft YaHei"/>
              </a:rPr>
              <a:t>846.2 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2249424"/>
            <a:ext cx="203911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657577"/>
                </a:solidFill>
                <a:latin typeface="Microsoft YaHei"/>
              </a:rPr>
              <a:t>ChinaFLUX 年产品同为 846.2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417320"/>
            <a:ext cx="23317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417320"/>
            <a:ext cx="64008" cy="1188720"/>
          </a:xfrm>
          <a:prstGeom prst="rect">
            <a:avLst/>
          </a:prstGeom>
          <a:solidFill>
            <a:srgbClr val="D0A448"/>
          </a:solidFill>
          <a:ln>
            <a:solidFill>
              <a:srgbClr val="D0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1527048"/>
            <a:ext cx="203911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657577"/>
                </a:solidFill>
                <a:latin typeface="Microsoft YaHei"/>
              </a:rPr>
              <a:t>2004 雨日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1764792"/>
            <a:ext cx="2039112" cy="4114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200" b="1">
                <a:solidFill>
                  <a:srgbClr val="D0A448"/>
                </a:solidFill>
                <a:latin typeface="Microsoft YaHei"/>
              </a:rPr>
              <a:t>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249424"/>
            <a:ext cx="2039112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657577"/>
                </a:solidFill>
                <a:latin typeface="Microsoft YaHei"/>
              </a:rPr>
              <a:t>最长干旱期 32 日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49808" y="3072384"/>
          <a:ext cx="4983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325880"/>
                <a:gridCol w="160020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变量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填补日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占 3653 日</a:t>
                      </a:r>
                    </a:p>
                  </a:txBody>
                  <a:tcPr marL="45720" marR="45720" marT="22860" marB="22860" anchor="ctr">
                    <a:solidFill>
                      <a:srgbClr val="2232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3237"/>
                          </a:solidFill>
                          <a:latin typeface="Microsoft YaHei"/>
                        </a:rPr>
                        <a:t>TMAX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3237"/>
                          </a:solidFill>
                          <a:latin typeface="Microsoft YaHei"/>
                        </a:rPr>
                        <a:t>107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3237"/>
                          </a:solidFill>
                          <a:latin typeface="Microsoft YaHei"/>
                        </a:rPr>
                        <a:t>2.93%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3237"/>
                          </a:solidFill>
                          <a:latin typeface="Microsoft YaHei"/>
                        </a:rPr>
                        <a:t>TMIN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3237"/>
                          </a:solidFill>
                          <a:latin typeface="Microsoft YaHei"/>
                        </a:rPr>
                        <a:t>107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3237"/>
                          </a:solidFill>
                          <a:latin typeface="Microsoft YaHei"/>
                        </a:rPr>
                        <a:t>2.93%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3237"/>
                          </a:solidFill>
                          <a:latin typeface="Microsoft YaHei"/>
                        </a:rPr>
                        <a:t>SRAD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3237"/>
                          </a:solidFill>
                          <a:latin typeface="Microsoft YaHei"/>
                        </a:rPr>
                        <a:t>151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3237"/>
                          </a:solidFill>
                          <a:latin typeface="Microsoft YaHei"/>
                        </a:rPr>
                        <a:t>4.13%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3237"/>
                          </a:solidFill>
                          <a:latin typeface="Microsoft YaHei"/>
                        </a:rPr>
                        <a:t>RAIN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3237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3237"/>
                          </a:solidFill>
                          <a:latin typeface="Microsoft YaHei"/>
                        </a:rPr>
                        <a:t>0.14%</a:t>
                      </a:r>
                    </a:p>
                  </a:txBody>
                  <a:tcPr marL="45720" marR="45720" marT="22860" marB="22860" anchor="ctr">
                    <a:solidFill>
                      <a:srgbClr val="E3F1EE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6035040" y="3072384"/>
            <a:ext cx="53492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310128"/>
            <a:ext cx="47548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A7470"/>
                </a:solidFill>
                <a:latin typeface="Microsoft YaHei"/>
              </a:rPr>
              <a:t>2004 气候摘要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675887"/>
            <a:ext cx="4709160" cy="9875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223237"/>
                </a:solidFill>
                <a:latin typeface="Microsoft YaHei"/>
              </a:rPr>
              <a:t>TMAX 均值 18.92°C（范围 -4.9–37.1）；TMIN 均值 8.35°C；SRAD 均值 13.29 MJ/m²/d。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376672"/>
            <a:ext cx="10424160" cy="5943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657577"/>
                </a:solidFill>
                <a:latin typeface="Microsoft YaHei"/>
              </a:rPr>
              <a:t>ChinaFLUX 年值/月值只用于交叉对照；匹配结果不是填补规则，也没有按聚合总量反推逐日降水。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2120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1A7470"/>
                </a:solidFill>
                <a:latin typeface="Microsoft YaHei"/>
              </a:rPr>
              <a:t>复现与下一步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400" b="1">
                <a:solidFill>
                  <a:srgbClr val="223237"/>
                </a:solidFill>
                <a:latin typeface="Microsoft YaHei"/>
              </a:rPr>
              <a:t>泄漏审计与本轮边界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83680"/>
            <a:ext cx="886968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657577"/>
                </a:solidFill>
                <a:latin typeface="Microsoft YaHei"/>
              </a:rPr>
              <a:t>YC TRAIN WEATHER  |  003_05_01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6400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657577"/>
                </a:solidFill>
                <a:latin typeface="Microsoft YaHei"/>
              </a:rPr>
              <a:t>06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5047488" cy="4553712"/>
          </a:xfrm>
          <a:prstGeom prst="rect">
            <a:avLst/>
          </a:prstGeom>
          <a:solidFill>
            <a:srgbClr val="E3F1EE"/>
          </a:solidFill>
          <a:ln>
            <a:solidFill>
              <a:srgbClr val="E3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82496"/>
            <a:ext cx="446227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1">
                <a:solidFill>
                  <a:srgbClr val="517F63"/>
                </a:solidFill>
                <a:latin typeface="Microsoft YaHei"/>
              </a:rPr>
              <a:t>泄漏审计：通过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304288"/>
            <a:ext cx="73152" cy="73152"/>
          </a:xfrm>
          <a:prstGeom prst="rect">
            <a:avLst/>
          </a:prstGeom>
          <a:solidFill>
            <a:srgbClr val="517F63"/>
          </a:solidFill>
          <a:ln>
            <a:solidFill>
              <a:srgbClr val="51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12848"/>
            <a:ext cx="4279392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223237"/>
                </a:solidFill>
                <a:latin typeface="Microsoft YaHei"/>
              </a:rPr>
              <a:t>用于值或校准的最高天气年份：2013。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17520"/>
            <a:ext cx="73152" cy="73152"/>
          </a:xfrm>
          <a:prstGeom prst="rect">
            <a:avLst/>
          </a:prstGeom>
          <a:solidFill>
            <a:srgbClr val="517F63"/>
          </a:solidFill>
          <a:ln>
            <a:solidFill>
              <a:srgbClr val="51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926080"/>
            <a:ext cx="4279392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223237"/>
                </a:solidFill>
                <a:latin typeface="Microsoft YaHei"/>
              </a:rPr>
              <a:t>GHCN 2014+ 行只纳入文件 SHA，不解析天气值。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730752"/>
            <a:ext cx="73152" cy="73152"/>
          </a:xfrm>
          <a:prstGeom prst="rect">
            <a:avLst/>
          </a:prstGeom>
          <a:solidFill>
            <a:srgbClr val="517F63"/>
          </a:solidFill>
          <a:ln>
            <a:solidFill>
              <a:srgbClr val="51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639312"/>
            <a:ext cx="4279392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223237"/>
                </a:solidFill>
                <a:latin typeface="Microsoft YaHei"/>
              </a:rPr>
              <a:t>NASA 校正和 overlap 只用 2005–2013。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443983"/>
            <a:ext cx="73152" cy="73152"/>
          </a:xfrm>
          <a:prstGeom prst="rect">
            <a:avLst/>
          </a:prstGeom>
          <a:solidFill>
            <a:srgbClr val="517F63"/>
          </a:solidFill>
          <a:ln>
            <a:solidFill>
              <a:srgbClr val="51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352544"/>
            <a:ext cx="4279392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223237"/>
                </a:solidFill>
                <a:latin typeface="Microsoft YaHei"/>
              </a:rPr>
              <a:t>Candidate 的逐日 source / QC 字段完整。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417320"/>
            <a:ext cx="5349240" cy="2852928"/>
          </a:xfrm>
          <a:prstGeom prst="rect">
            <a:avLst/>
          </a:prstGeom>
          <a:solidFill>
            <a:srgbClr val="FAEEE5"/>
          </a:solidFill>
          <a:ln>
            <a:solidFill>
              <a:srgbClr val="FA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682496"/>
            <a:ext cx="4754880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1">
                <a:solidFill>
                  <a:srgbClr val="D36F43"/>
                </a:solidFill>
                <a:latin typeface="Microsoft YaHei"/>
              </a:rPr>
              <a:t>本轮停止边界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2267712"/>
            <a:ext cx="73152" cy="73152"/>
          </a:xfrm>
          <a:prstGeom prst="rect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176272"/>
            <a:ext cx="4434840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223237"/>
                </a:solidFill>
                <a:latin typeface="Microsoft YaHei"/>
              </a:rPr>
              <a:t>未生成 `.CLI`，未运行 WeatherMan 或 WGEN。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2926080"/>
            <a:ext cx="73152" cy="73152"/>
          </a:xfrm>
          <a:prstGeom prst="rect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2834640"/>
            <a:ext cx="4434840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223237"/>
                </a:solidFill>
                <a:latin typeface="Microsoft YaHei"/>
              </a:rPr>
              <a:t>未运行 DSSAT smoke 或 PPO。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507992"/>
            <a:ext cx="5349240" cy="1463040"/>
          </a:xfrm>
          <a:prstGeom prst="rect">
            <a:avLst/>
          </a:prstGeom>
          <a:solidFill>
            <a:srgbClr val="F9F5E2"/>
          </a:solidFill>
          <a:ln>
            <a:solidFill>
              <a:srgbClr val="F9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4736592"/>
            <a:ext cx="4736592" cy="2743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1">
                <a:solidFill>
                  <a:srgbClr val="D0A448"/>
                </a:solidFill>
                <a:latin typeface="Microsoft YaHei"/>
              </a:rPr>
              <a:t>下一项最小任务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5074920"/>
            <a:ext cx="466344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223237"/>
                </a:solidFill>
                <a:latin typeface="Microsoft YaHei"/>
              </a:rPr>
              <a:t>003_06：在冻结本 candidate 后，独立准备 train-only `.CLI` 与 WGEN pilot。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6163056"/>
            <a:ext cx="1078992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657577"/>
                </a:solidFill>
                <a:latin typeface="Microsoft YaHei"/>
              </a:rPr>
              <a:t>NOAA/NCEI GHCN-Daily README：ncei.noaa.gov/pub/data/ghcn/daily/readme.txt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