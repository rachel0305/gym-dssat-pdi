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00000"/>
                </a:solidFill>
                <a:latin typeface="Microsoft YaHei"/>
              </a:rPr>
              <a:t>006_16 all-year offline schedule 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000000"/>
                </a:solidFill>
                <a:latin typeface="Microsoft YaHei"/>
              </a:defRPr>
            </a:pPr>
            <a:r>
              <a:t>Selected station-years: 55</a:t>
            </a:r>
          </a:p>
          <a:p>
            <a:pPr>
              <a:defRPr sz="1500">
                <a:solidFill>
                  <a:srgbClr val="000000"/>
                </a:solidFill>
                <a:latin typeface="Microsoft YaHei"/>
              </a:defRPr>
            </a:pPr>
            <a:r>
              <a:t>Water-stress years: 20</a:t>
            </a:r>
          </a:p>
          <a:p>
            <a:pPr>
              <a:defRPr sz="1500">
                <a:solidFill>
                  <a:srgbClr val="000000"/>
                </a:solidFill>
                <a:latin typeface="Microsoft YaHei"/>
              </a:defRPr>
            </a:pPr>
            <a:r>
              <a:t>Irrigation-responsive years: 6</a:t>
            </a:r>
          </a:p>
          <a:p>
            <a:pPr>
              <a:defRPr sz="1500">
                <a:solidFill>
                  <a:srgbClr val="000000"/>
                </a:solidFill>
                <a:latin typeface="Microsoft YaHei"/>
              </a:defRPr>
            </a:pPr>
            <a:r>
              <a:t>No PPO training; no rainfall scaling; no my_data modification.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00000"/>
                </a:solidFill>
                <a:latin typeface="Microsoft YaHei"/>
              </a:rPr>
              <a:t>Why this stage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000000"/>
                </a:solidFill>
                <a:latin typeface="Microsoft YaHei"/>
              </a:defRPr>
            </a:pPr>
            <a:r>
              <a:t>006_15 showed that all-year weather increases swfac samples compared with observed-year-only.</a:t>
            </a:r>
          </a:p>
          <a:p>
            <a:pPr>
              <a:defRPr sz="1500">
                <a:solidFill>
                  <a:srgbClr val="000000"/>
                </a:solidFill>
                <a:latin typeface="Microsoft YaHei"/>
              </a:defRPr>
            </a:pPr>
            <a:r>
              <a:t>This stage builds expert schedules first, then trains imitation priors.</a:t>
            </a:r>
          </a:p>
          <a:p>
            <a:pPr>
              <a:defRPr sz="1500">
                <a:solidFill>
                  <a:srgbClr val="000000"/>
                </a:solidFill>
                <a:latin typeface="Microsoft YaHei"/>
              </a:defRPr>
            </a:pPr>
            <a:r>
              <a:t>The goal is an interpretable prior for later constrained PPO, not a final RL result.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00000"/>
                </a:solidFill>
                <a:latin typeface="Microsoft YaHei"/>
              </a:rPr>
              <a:t>Schedule search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000000"/>
                </a:solidFill>
                <a:latin typeface="Microsoft YaHei"/>
              </a:defRPr>
            </a:pPr>
            <a:r>
              <a:t>N events: DAP 1, 30, 60; total N cap 250 kg/ha.</a:t>
            </a:r>
          </a:p>
          <a:p>
            <a:pPr>
              <a:defRPr sz="1500">
                <a:solidFill>
                  <a:srgbClr val="000000"/>
                </a:solidFill>
                <a:latin typeface="Microsoft YaHei"/>
              </a:defRPr>
            </a:pPr>
            <a:r>
              <a:t>Irrigation events: DAP 20, 35, 50, 65, 80, 95 for stress/response years; simplified events for low-response years.</a:t>
            </a:r>
          </a:p>
          <a:p>
            <a:pPr>
              <a:defRPr sz="1500">
                <a:solidFill>
                  <a:srgbClr val="000000"/>
                </a:solidFill>
                <a:latin typeface="Microsoft YaHei"/>
              </a:defRPr>
            </a:pPr>
            <a:r>
              <a:t>Expert schedules keep profit, yield, Pareto-balanced, low-input, and irrigation-positive categories.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00000"/>
                </a:solidFill>
                <a:latin typeface="Microsoft YaHei"/>
              </a:rPr>
              <a:t>Key counts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000000"/>
                </a:solidFill>
                <a:latin typeface="Microsoft YaHei"/>
              </a:defRPr>
            </a:pPr>
            <a:r>
              <a:t>Schedule evaluations: 2180</a:t>
            </a:r>
          </a:p>
          <a:p>
            <a:pPr>
              <a:defRPr sz="1500">
                <a:solidFill>
                  <a:srgbClr val="000000"/>
                </a:solidFill>
                <a:latin typeface="Microsoft YaHei"/>
              </a:defRPr>
            </a:pPr>
            <a:r>
              <a:t>Expert schedules retained: 217</a:t>
            </a:r>
          </a:p>
          <a:p>
            <a:pPr>
              <a:defRPr sz="1500">
                <a:solidFill>
                  <a:srgbClr val="000000"/>
                </a:solidFill>
                <a:latin typeface="Microsoft YaHei"/>
              </a:defRPr>
            </a:pPr>
            <a:r>
              <a:t>Expert schedules with irrigation &gt; 0: 124</a:t>
            </a:r>
          </a:p>
          <a:p>
            <a:pPr>
              <a:defRPr sz="1500">
                <a:solidFill>
                  <a:srgbClr val="000000"/>
                </a:solidFill>
                <a:latin typeface="Microsoft YaHei"/>
              </a:defRPr>
            </a:pPr>
            <a:r>
              <a:t>Imitation rows: 25298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00000"/>
                </a:solidFill>
                <a:latin typeface="Microsoft YaHei"/>
              </a:rPr>
              <a:t>Expert library coverage</a:t>
            </a:r>
          </a:p>
        </p:txBody>
      </p:sp>
      <p:pic>
        <p:nvPicPr>
          <p:cNvPr id="3" name="Picture 2" descr="all_year_expert_library_scenario_cover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97280"/>
            <a:ext cx="1078992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00000"/>
                </a:solidFill>
                <a:latin typeface="Microsoft YaHei"/>
              </a:rPr>
              <a:t>Action distribution</a:t>
            </a:r>
          </a:p>
        </p:txBody>
      </p:sp>
      <p:pic>
        <p:nvPicPr>
          <p:cNvPr id="3" name="Picture 2" descr="all_year_imitation_action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97280"/>
            <a:ext cx="1078992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00000"/>
                </a:solidFill>
                <a:latin typeface="Microsoft YaHei"/>
              </a:rPr>
              <a:t>BC supervised metrics</a:t>
            </a:r>
          </a:p>
        </p:txBody>
      </p:sp>
      <p:pic>
        <p:nvPicPr>
          <p:cNvPr id="3" name="Picture 2" descr="all_year_bc_supervised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97280"/>
            <a:ext cx="10789920" cy="48554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00000"/>
                </a:solidFill>
                <a:latin typeface="Microsoft YaHei"/>
              </a:rPr>
              <a:t>Policy yield vs input</a:t>
            </a:r>
          </a:p>
        </p:txBody>
      </p:sp>
      <p:pic>
        <p:nvPicPr>
          <p:cNvPr id="3" name="Picture 2" descr="all_year_policy_yield_vs_inp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97280"/>
            <a:ext cx="10789920" cy="67437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00000"/>
                </a:solidFill>
                <a:latin typeface="Microsoft YaHei"/>
              </a:rPr>
              <a:t>Water-stress policy comparison</a:t>
            </a:r>
          </a:p>
        </p:txBody>
      </p:sp>
      <p:pic>
        <p:nvPicPr>
          <p:cNvPr id="3" name="Picture 2" descr="water_stress_year_policy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97280"/>
            <a:ext cx="1078992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00000"/>
                </a:solidFill>
                <a:latin typeface="Microsoft YaHei"/>
              </a:rPr>
              <a:t>Recommendation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000000"/>
                </a:solidFill>
                <a:latin typeface="Microsoft YaHei"/>
              </a:defRPr>
            </a:pPr>
            <a:r>
              <a:t>policy_name: BC_random_forest_regressor_all_year</a:t>
            </a:r>
          </a:p>
          <a:p>
            <a:pPr>
              <a:defRPr sz="1500">
                <a:solidFill>
                  <a:srgbClr val="000000"/>
                </a:solidFill>
                <a:latin typeface="Microsoft YaHei"/>
              </a:defRPr>
            </a:pPr>
            <a:r>
              <a:t>recommended: False</a:t>
            </a:r>
          </a:p>
          <a:p>
            <a:pPr>
              <a:defRPr sz="1500">
                <a:solidFill>
                  <a:srgbClr val="000000"/>
                </a:solidFill>
                <a:latin typeface="Microsoft YaHei"/>
              </a:defRPr>
            </a:pPr>
            <a:r>
              <a:t>mean_irrigation: 0.0</a:t>
            </a:r>
          </a:p>
          <a:p>
            <a:pPr>
              <a:defRPr sz="1500">
                <a:solidFill>
                  <a:srgbClr val="000000"/>
                </a:solidFill>
                <a:latin typeface="Microsoft YaHei"/>
              </a:defRPr>
            </a:pPr>
            <a:r>
              <a:t>mean_n: 128.70979864418192</a:t>
            </a:r>
          </a:p>
          <a:p>
            <a:pPr>
              <a:defRPr sz="1500">
                <a:solidFill>
                  <a:srgbClr val="000000"/>
                </a:solidFill>
                <a:latin typeface="Microsoft YaHei"/>
              </a:defRPr>
            </a:pPr>
            <a:r>
              <a:t>mean_yield_loss_vs_best_expert: -0.4189502526421728</a:t>
            </a:r>
          </a:p>
          <a:p>
            <a:pPr>
              <a:defRPr sz="1500">
                <a:solidFill>
                  <a:srgbClr val="000000"/>
                </a:solidFill>
                <a:latin typeface="Microsoft YaHei"/>
              </a:defRPr>
            </a:pPr>
            <a:r>
              <a:t>water_stress_nonzero_irrigation_rate: 0.0</a:t>
            </a:r>
          </a:p>
          <a:p>
            <a:pPr>
              <a:defRPr sz="1500">
                <a:solidFill>
                  <a:srgbClr val="000000"/>
                </a:solidFill>
                <a:latin typeface="Microsoft YaHei"/>
              </a:defRPr>
            </a:pPr>
            <a:r>
              <a:t>supervised_irrigation_event_recall: 0.9508196721311476</a:t>
            </a:r>
          </a:p>
          <a:p>
            <a:pPr>
              <a:defRPr sz="1500">
                <a:solidFill>
                  <a:srgbClr val="000000"/>
                </a:solidFill>
                <a:latin typeface="Microsoft YaHei"/>
              </a:defRPr>
            </a:pPr>
            <a:r>
              <a:t>reason: does_not_pass_basic_all_year_prior_gate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