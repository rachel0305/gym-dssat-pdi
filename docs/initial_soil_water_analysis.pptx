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965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Microsoft YaHei"/>
              </a:rPr>
              <a:t>五个站点 DSSAT 初始土壤水分设定分析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889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595959"/>
                </a:solidFill>
                <a:latin typeface="Microsoft YaHei"/>
              </a:rPr>
              <a:t>基于 SLLL、SDUL 与相对可利用水比例的 SH2O 修正方案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852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  <a:latin typeface="Microsoft YaHei"/>
              </a:rPr>
              <a:t>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Microsoft YaHei"/>
              </a:rPr>
              <a:t>问题背景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 b="0">
                <a:solidFill>
                  <a:srgbClr val="000000"/>
                </a:solidFill>
                <a:latin typeface="Microsoft YaHei"/>
              </a:rPr>
              <a:t>原始实验中，多个站点初始土壤水分接近或统一设为 SH2O = 0.30。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000000"/>
                </a:solidFill>
                <a:latin typeface="Microsoft YaHei"/>
              </a:rPr>
              <a:t>真实历史天气条件下，部分站点几乎没有明显 SWFAC 土壤水分胁迫。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000000"/>
                </a:solidFill>
                <a:latin typeface="Microsoft YaHei"/>
              </a:rPr>
              <a:t>一个可能原因是初始 SH2O 偏高，使模拟初期根区水分过于充足。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000000"/>
                </a:solidFill>
                <a:latin typeface="Microsoft YaHei"/>
              </a:rPr>
              <a:t>但 0.30 是否偏湿不能脱离土壤参数判断，必须结合每层 SLLL、SDUL、SSAT。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Microsoft YaHei"/>
              </a:rPr>
              <a:t>DSSAT 土壤水分参数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 b="0">
                <a:solidFill>
                  <a:srgbClr val="000000"/>
                </a:solidFill>
                <a:latin typeface="Microsoft YaHei"/>
              </a:rPr>
              <a:t>SLLL：土壤水分下限，近似作物无法继续有效吸水的下限。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000000"/>
                </a:solidFill>
                <a:latin typeface="Microsoft YaHei"/>
              </a:rPr>
              <a:t>SDUL：排水上限，近似田间持水量。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000000"/>
                </a:solidFill>
                <a:latin typeface="Microsoft YaHei"/>
              </a:rPr>
              <a:t>SSAT：饱和含水量。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000000"/>
                </a:solidFill>
                <a:latin typeface="Microsoft YaHei"/>
              </a:rPr>
              <a:t>SH2O：模拟开始时的初始土壤体积含水量。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000000"/>
                </a:solidFill>
                <a:latin typeface="Microsoft YaHei"/>
              </a:rPr>
              <a:t>作物可利用水范围可近似表示为 SDUL - SLLL（Jones et al., 2003; Allen et al., 1998）。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Microsoft YaHei"/>
              </a:rPr>
              <a:t>判断 SH2O 是否偏湿的方法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Microsoft YaHei"/>
              </a:rPr>
              <a:t>相对可利用水比例 = (SH2O - SLLL) / (SDUL - SLLL)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88720" y="2057400"/>
          <a:ext cx="98755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493776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Microsoft YaHei"/>
                        </a:rPr>
                        <a:t>比例范围</a:t>
                      </a:r>
                    </a:p>
                  </a:txBody>
                  <a:tcPr marL="36576" marR="36576" marT="18288" marB="18288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Microsoft YaHei"/>
                        </a:rPr>
                        <a:t>含义</a:t>
                      </a:r>
                    </a:p>
                  </a:txBody>
                  <a:tcPr marL="36576" marR="36576" marT="18288" marB="18288">
                    <a:solidFill>
                      <a:srgbClr val="4472C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Microsoft YaHei"/>
                        </a:rPr>
                        <a:t>0%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Microsoft YaHei"/>
                        </a:rPr>
                        <a:t>接近萎蔫点，非常干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Microsoft YaHei"/>
                        </a:rPr>
                        <a:t>50%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Microsoft YaHei"/>
                        </a:rPr>
                        <a:t>中等水分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Microsoft YaHei"/>
                        </a:rPr>
                        <a:t>80% 以上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Microsoft YaHei"/>
                        </a:rPr>
                        <a:t>偏湿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Microsoft YaHei"/>
                        </a:rPr>
                        <a:t>100%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Microsoft YaHei"/>
                        </a:rPr>
                        <a:t>接近 SDUL / 田间持水量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Microsoft YaHei"/>
                        </a:rPr>
                        <a:t>超过 100%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Microsoft YaHei"/>
                        </a:rPr>
                        <a:t>高于 SDUL，过湿，可能产生排水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Microsoft YaHei"/>
              </a:rPr>
              <a:t>原始 SH2O 设置的问题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43000"/>
          <a:ext cx="11155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站点</a:t>
                      </a:r>
                    </a:p>
                  </a:txBody>
                  <a:tcPr marL="36576" marR="36576" marT="18288" marB="18288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原始 SH2O 情况</a:t>
                      </a:r>
                    </a:p>
                  </a:txBody>
                  <a:tcPr marL="36576" marR="36576" marT="18288" marB="18288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判断</a:t>
                      </a:r>
                    </a:p>
                  </a:txBody>
                  <a:tcPr marL="36576" marR="36576" marT="18288" marB="18288">
                    <a:solidFill>
                      <a:srgbClr val="4472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海伦 HL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全层 0.30，约 68%-76% 可利用水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中等偏湿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沈阳 SY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全层 0.30，约 70%-94% 可利用水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明显偏湿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栾城 LC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0.23/0.25/0.28/0.30，约 56%-70% 可利用水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基本合理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禹城 YC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0.30/0.30/0.31/0.31，约 73%-88% 可利用水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偏湿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封丘 FQ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第一层 0.30，但 SDUL=0.21，相对可利用水约 200%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</a:rPr>
                        <a:t>第一层严重过湿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Microsoft YaHei"/>
              </a:rPr>
              <a:t>最终设定方法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Microsoft YaHei"/>
              </a:rPr>
              <a:t>SH2O = SLLL + 0.55 × (SDUL - SLLL)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Microsoft YaHei"/>
              </a:rPr>
              <a:t>使用每层土壤自己的 SLLL 和 SDUL，避免不同土壤统一写 0.30 造成偏差。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Microsoft YaHei"/>
              </a:rPr>
              <a:t>f = 0.55 表示中等偏干 / 适中略偏干，不是极端干旱，也不是田间持水量附近的偏湿状态。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Microsoft YaHei"/>
              </a:rPr>
              <a:t>该设定更适合作为主实验的统一初始水分方案。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Microsoft YaHei"/>
              </a:rPr>
              <a:t>本阶段只采用一个主方案，暂时不做土壤水分敏感性测试。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Microsoft YaHei"/>
              </a:rPr>
              <a:t>最终 SH2O 结果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14400"/>
          <a:ext cx="10927080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253538"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Microsoft YaHei"/>
                        </a:rPr>
                        <a:t>站点</a:t>
                      </a:r>
                    </a:p>
                  </a:txBody>
                  <a:tcPr marL="36576" marR="36576" marT="18288" marB="18288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Microsoft YaHei"/>
                        </a:rPr>
                        <a:t>ICBL/cm</a:t>
                      </a:r>
                    </a:p>
                  </a:txBody>
                  <a:tcPr marL="36576" marR="36576" marT="18288" marB="18288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Microsoft YaHei"/>
                        </a:rPr>
                        <a:t>SLLL</a:t>
                      </a:r>
                    </a:p>
                  </a:txBody>
                  <a:tcPr marL="36576" marR="36576" marT="18288" marB="18288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Microsoft YaHei"/>
                        </a:rPr>
                        <a:t>SDUL</a:t>
                      </a:r>
                    </a:p>
                  </a:txBody>
                  <a:tcPr marL="36576" marR="36576" marT="18288" marB="18288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Microsoft YaHei"/>
                        </a:rPr>
                        <a:t>新 SH2O</a:t>
                      </a:r>
                    </a:p>
                  </a:txBody>
                  <a:tcPr marL="36576" marR="36576" marT="18288" marB="18288">
                    <a:solidFill>
                      <a:srgbClr val="4472C4"/>
                    </a:solidFill>
                  </a:tcPr>
                </a:tc>
              </a:tr>
              <a:tr h="253538"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HL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0.11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0.39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53538"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HL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40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0.11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0.38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0.26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</a:tr>
              <a:tr h="253538"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HL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60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0.11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0.38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53538"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HL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90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0.11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0.36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0.25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</a:tr>
              <a:tr h="253538"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SY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0.14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0.37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0.27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53538"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SY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0.15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0.32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0.24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</a:tr>
              <a:tr h="253538"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SY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30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0.16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0.31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0.24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53538"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SY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40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0.14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0.32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0.24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</a:tr>
              <a:tr h="253538"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SY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60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0.13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0.31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0.23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53538"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SY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100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0.13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0.35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0.25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</a:tr>
              <a:tr h="253538"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LC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0.09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0.33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0.22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53538"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LC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40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0.11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0.36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0.25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</a:tr>
              <a:tr h="253538"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LC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110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0.12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0.37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53538"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LC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150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0.07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0.40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0.25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</a:tr>
              <a:tr h="253538"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YC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15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0.09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0.33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0.22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53538"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YC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30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0.11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0.36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0.25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</a:tr>
              <a:tr h="253538"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YC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60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0.12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0.37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53538"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YC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90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0.07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0.40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0.25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</a:tr>
              <a:tr h="253538"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FQ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30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0.12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0.21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0.17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53538"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FQ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70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0.24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0.31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0.28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</a:tr>
              <a:tr h="253542"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FQ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100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0.15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0.36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0">
                          <a:solidFill>
                            <a:srgbClr val="000000"/>
                          </a:solidFill>
                          <a:latin typeface="Microsoft YaHei"/>
                        </a:rPr>
                        <a:t>0.27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Microsoft YaHei"/>
              </a:rPr>
              <a:t>最终结论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Microsoft YaHei"/>
              </a:rPr>
              <a:t>不能继续让所有站点统一使用 SH2O = 0.30。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Microsoft YaHei"/>
              </a:rPr>
              <a:t>沈阳、禹城、封丘原始设定明显偏湿，尤其封丘 30 cm 层已经超过 SDUL。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Microsoft YaHei"/>
              </a:rPr>
              <a:t>海伦 0.30 虽未超过 SDUL，但属于中等偏湿，可能降低水分胁迫出现概率。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Microsoft YaHei"/>
              </a:rPr>
              <a:t>栾城原设置相对合理，但为保证方法统一，也改为基于 0.55 × 可利用水的设定。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Microsoft YaHei"/>
              </a:rPr>
              <a:t>本研究最终采用 SH2O = SLLL + 0.55 × (SDUL - SLLL) 作为五个站点主实验的初始土壤水分设定。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Microsoft YaHei"/>
              </a:rPr>
              <a:t>参考文献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0">
                <a:solidFill>
                  <a:srgbClr val="000000"/>
                </a:solidFill>
                <a:latin typeface="Microsoft YaHei"/>
              </a:rPr>
              <a:t>Jones, J. W., Hoogenboom, G., Porter, C. H., Boote, K. J., Batchelor, W. D., Hunt, L. A., Wilkens, P. W., Singh, U., Gijsman, A. J., &amp; Ritchie, J. T. (2003). The DSSAT cropping system model. European Journal of Agronomy, 18(3-4), 235-265. https://doi.org/10.1016/S1161-0301(02)00107-7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000000"/>
                </a:solidFill>
                <a:latin typeface="Microsoft YaHei"/>
              </a:rPr>
              <a:t>DSSAT Foundation. Soil water balance overview. https://dssat.net/soil-water/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000000"/>
                </a:solidFill>
                <a:latin typeface="Microsoft YaHei"/>
              </a:rPr>
              <a:t>Allen, R. G., Pereira, L. S., Raes, D., &amp; Smith, M. (1998). Crop evapotranspiration: Guidelines for computing crop water requirements. FAO Irrigation and Drainage Paper 56. FAO. https://www.fao.org/4/x0490e/x0490e00.htm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000000"/>
                </a:solidFill>
                <a:latin typeface="Microsoft YaHei"/>
              </a:rPr>
              <a:t>Ritchie, J. T. (1998). Soil water balance and plant water stress. In G. Y. Tsuji, G. Hoogenboom, &amp; P. K. Thornton (Eds.), Understanding Options for Agricultural Production. Springer.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