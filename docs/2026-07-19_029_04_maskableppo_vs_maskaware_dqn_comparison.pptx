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fec55bb25154c4b" /><Relationship Type="http://schemas.openxmlformats.org/officeDocument/2006/relationships/extended-properties" Target="/docProps/app.xml" Id="R21a7086e829a45e6" /><Relationship Type="http://schemas.openxmlformats.org/officeDocument/2006/relationships/officeDocument" Target="/ppt/presentation.xml" Id="R5c984cccb5c846e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b657036550c4304"/>
  </p:sldMasterIdLst>
  <p:notesMasterIdLst>
    <p:notesMasterId xmlns:r="http://schemas.openxmlformats.org/officeDocument/2006/relationships" r:id="R6a562409026949ca"/>
  </p:notesMasterIdLst>
  <p:sldIdLst>
    <p:sldId xmlns:r="http://schemas.openxmlformats.org/officeDocument/2006/relationships" id="256" r:id="Ref4fe526cc50484d"/>
    <p:sldId xmlns:r="http://schemas.openxmlformats.org/officeDocument/2006/relationships" id="257" r:id="R88138a713fad4381"/>
    <p:sldId xmlns:r="http://schemas.openxmlformats.org/officeDocument/2006/relationships" id="258" r:id="R750a82fe777f4191"/>
    <p:sldId xmlns:r="http://schemas.openxmlformats.org/officeDocument/2006/relationships" id="259" r:id="R67a1e368cda045c0"/>
    <p:sldId xmlns:r="http://schemas.openxmlformats.org/officeDocument/2006/relationships" id="260" r:id="R9221821374e24a34"/>
    <p:sldId xmlns:r="http://schemas.openxmlformats.org/officeDocument/2006/relationships" id="261" r:id="Re87a979408144d60"/>
    <p:sldId xmlns:r="http://schemas.openxmlformats.org/officeDocument/2006/relationships" id="262" r:id="R7d02ba943b5a4606"/>
    <p:sldId xmlns:r="http://schemas.openxmlformats.org/officeDocument/2006/relationships" id="263" r:id="Rd711235773e24895"/>
    <p:sldId xmlns:r="http://schemas.openxmlformats.org/officeDocument/2006/relationships" id="264" r:id="R2be572af336e48fe"/>
    <p:sldId xmlns:r="http://schemas.openxmlformats.org/officeDocument/2006/relationships" id="265" r:id="R83c4d906eadc4e09"/>
    <p:sldId xmlns:r="http://schemas.openxmlformats.org/officeDocument/2006/relationships" id="266" r:id="R10b2dcd9fe964430"/>
    <p:sldId xmlns:r="http://schemas.openxmlformats.org/officeDocument/2006/relationships" id="267" r:id="Rf58384187648446b"/>
    <p:sldId xmlns:r="http://schemas.openxmlformats.org/officeDocument/2006/relationships" id="268" r:id="Rac30462987e14d60"/>
    <p:sldId xmlns:r="http://schemas.openxmlformats.org/officeDocument/2006/relationships" id="269" r:id="R6546d7a3bcac475b"/>
    <p:sldId xmlns:r="http://schemas.openxmlformats.org/officeDocument/2006/relationships" id="270" r:id="Re410ca2d6f624b43"/>
    <p:sldId xmlns:r="http://schemas.openxmlformats.org/officeDocument/2006/relationships" id="271" r:id="R61eadc4296b44add"/>
    <p:sldId xmlns:r="http://schemas.openxmlformats.org/officeDocument/2006/relationships" id="272" r:id="R1039eef16f1e4339"/>
    <p:sldId xmlns:r="http://schemas.openxmlformats.org/officeDocument/2006/relationships" id="273" r:id="R1bec24645cea4d31"/>
    <p:sldId xmlns:r="http://schemas.openxmlformats.org/officeDocument/2006/relationships" id="274" r:id="R45e7aafc7c5346b5"/>
    <p:sldId xmlns:r="http://schemas.openxmlformats.org/officeDocument/2006/relationships" id="275" r:id="R2cfb3338d40142b6"/>
    <p:sldId xmlns:r="http://schemas.openxmlformats.org/officeDocument/2006/relationships" id="276" r:id="R63f8bf9e69424dba"/>
    <p:sldId xmlns:r="http://schemas.openxmlformats.org/officeDocument/2006/relationships" id="277" r:id="R7fbbd13dcd214528"/>
    <p:sldId xmlns:r="http://schemas.openxmlformats.org/officeDocument/2006/relationships" id="278" r:id="R56f63cf05c1347b1"/>
    <p:sldId xmlns:r="http://schemas.openxmlformats.org/officeDocument/2006/relationships" id="279" r:id="R434a30f754e54ce9"/>
    <p:sldId xmlns:r="http://schemas.openxmlformats.org/officeDocument/2006/relationships" id="280" r:id="R6aa3dec4934e4e2b"/>
    <p:sldId xmlns:r="http://schemas.openxmlformats.org/officeDocument/2006/relationships" id="281" r:id="Rba3273e3eb3847f8"/>
    <p:sldId xmlns:r="http://schemas.openxmlformats.org/officeDocument/2006/relationships" id="282" r:id="R6e30cbb5625b41e0"/>
    <p:sldId xmlns:r="http://schemas.openxmlformats.org/officeDocument/2006/relationships" id="283" r:id="R841e71cb67c345a8"/>
    <p:sldId xmlns:r="http://schemas.openxmlformats.org/officeDocument/2006/relationships" id="284" r:id="R4b811fa6fe5b4648"/>
    <p:sldId xmlns:r="http://schemas.openxmlformats.org/officeDocument/2006/relationships" id="285" r:id="R0ebb56ae6e6846e6"/>
    <p:sldId xmlns:r="http://schemas.openxmlformats.org/officeDocument/2006/relationships" id="286" r:id="R13cca4d81ed04c76"/>
    <p:sldId xmlns:r="http://schemas.openxmlformats.org/officeDocument/2006/relationships" id="287" r:id="R74eae025bc114a59"/>
    <p:sldId xmlns:r="http://schemas.openxmlformats.org/officeDocument/2006/relationships" id="288" r:id="R57daf708db654f12"/>
    <p:sldId xmlns:r="http://schemas.openxmlformats.org/officeDocument/2006/relationships" id="289" r:id="R2c14f163782b46ae"/>
    <p:sldId xmlns:r="http://schemas.openxmlformats.org/officeDocument/2006/relationships" id="290" r:id="R67df55c1c90d4f2b"/>
    <p:sldId xmlns:r="http://schemas.openxmlformats.org/officeDocument/2006/relationships" id="291" r:id="Rc15afcb2b8184132"/>
    <p:sldId xmlns:r="http://schemas.openxmlformats.org/officeDocument/2006/relationships" id="292" r:id="R34c9c66ed1704b96"/>
    <p:sldId xmlns:r="http://schemas.openxmlformats.org/officeDocument/2006/relationships" id="293" r:id="R01f6d5fc5b524108"/>
    <p:sldId xmlns:r="http://schemas.openxmlformats.org/officeDocument/2006/relationships" id="294" r:id="R7e8462d48a264316"/>
    <p:sldId xmlns:r="http://schemas.openxmlformats.org/officeDocument/2006/relationships" id="295" r:id="R5e1582c3b9cc43a5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8f8b46a228445e6" /><Relationship Type="http://schemas.openxmlformats.org/officeDocument/2006/relationships/slideMaster" Target="/ppt/slideMasters/slideMaster1.xml" Id="R0b657036550c4304" /><Relationship Type="http://schemas.openxmlformats.org/officeDocument/2006/relationships/notesMaster" Target="/ppt/notesMasters/notesMaster1.xml" Id="R6a562409026949ca" /><Relationship Type="http://schemas.openxmlformats.org/officeDocument/2006/relationships/presProps" Target="/ppt/presProps.xml" Id="Rb336bd951c1945ab" /><Relationship Type="http://schemas.openxmlformats.org/officeDocument/2006/relationships/tableStyles" Target="/ppt/tableStyles.xml" Id="R4aa82d93bae6495b" /><Relationship Type="http://schemas.openxmlformats.org/officeDocument/2006/relationships/slide" Target="/ppt/slides/slide1.xml" Id="Ref4fe526cc50484d" /><Relationship Type="http://schemas.openxmlformats.org/officeDocument/2006/relationships/slide" Target="/ppt/slides/slide2.xml" Id="R88138a713fad4381" /><Relationship Type="http://schemas.openxmlformats.org/officeDocument/2006/relationships/slide" Target="/ppt/slides/slide3.xml" Id="R750a82fe777f4191" /><Relationship Type="http://schemas.openxmlformats.org/officeDocument/2006/relationships/slide" Target="/ppt/slides/slide4.xml" Id="R67a1e368cda045c0" /><Relationship Type="http://schemas.openxmlformats.org/officeDocument/2006/relationships/slide" Target="/ppt/slides/slide5.xml" Id="R9221821374e24a34" /><Relationship Type="http://schemas.openxmlformats.org/officeDocument/2006/relationships/slide" Target="/ppt/slides/slide6.xml" Id="Re87a979408144d60" /><Relationship Type="http://schemas.openxmlformats.org/officeDocument/2006/relationships/slide" Target="/ppt/slides/slide7.xml" Id="R7d02ba943b5a4606" /><Relationship Type="http://schemas.openxmlformats.org/officeDocument/2006/relationships/slide" Target="/ppt/slides/slide8.xml" Id="Rd711235773e24895" /><Relationship Type="http://schemas.openxmlformats.org/officeDocument/2006/relationships/slide" Target="/ppt/slides/slide9.xml" Id="R2be572af336e48fe" /><Relationship Type="http://schemas.openxmlformats.org/officeDocument/2006/relationships/slide" Target="/ppt/slides/slide10.xml" Id="R83c4d906eadc4e09" /><Relationship Type="http://schemas.openxmlformats.org/officeDocument/2006/relationships/slide" Target="/ppt/slides/slide11.xml" Id="R10b2dcd9fe964430" /><Relationship Type="http://schemas.openxmlformats.org/officeDocument/2006/relationships/slide" Target="/ppt/slides/slide12.xml" Id="Rf58384187648446b" /><Relationship Type="http://schemas.openxmlformats.org/officeDocument/2006/relationships/slide" Target="/ppt/slides/slide13.xml" Id="Rac30462987e14d60" /><Relationship Type="http://schemas.openxmlformats.org/officeDocument/2006/relationships/slide" Target="/ppt/slides/slide14.xml" Id="R6546d7a3bcac475b" /><Relationship Type="http://schemas.openxmlformats.org/officeDocument/2006/relationships/slide" Target="/ppt/slides/slide15.xml" Id="Re410ca2d6f624b43" /><Relationship Type="http://schemas.openxmlformats.org/officeDocument/2006/relationships/slide" Target="/ppt/slides/slide16.xml" Id="R61eadc4296b44add" /><Relationship Type="http://schemas.openxmlformats.org/officeDocument/2006/relationships/slide" Target="/ppt/slides/slide17.xml" Id="R1039eef16f1e4339" /><Relationship Type="http://schemas.openxmlformats.org/officeDocument/2006/relationships/slide" Target="/ppt/slides/slide18.xml" Id="R1bec24645cea4d31" /><Relationship Type="http://schemas.openxmlformats.org/officeDocument/2006/relationships/slide" Target="/ppt/slides/slide19.xml" Id="R45e7aafc7c5346b5" /><Relationship Type="http://schemas.openxmlformats.org/officeDocument/2006/relationships/slide" Target="/ppt/slides/slide20.xml" Id="R2cfb3338d40142b6" /><Relationship Type="http://schemas.openxmlformats.org/officeDocument/2006/relationships/slide" Target="/ppt/slides/slide21.xml" Id="R63f8bf9e69424dba" /><Relationship Type="http://schemas.openxmlformats.org/officeDocument/2006/relationships/slide" Target="/ppt/slides/slide22.xml" Id="R7fbbd13dcd214528" /><Relationship Type="http://schemas.openxmlformats.org/officeDocument/2006/relationships/slide" Target="/ppt/slides/slide23.xml" Id="R56f63cf05c1347b1" /><Relationship Type="http://schemas.openxmlformats.org/officeDocument/2006/relationships/slide" Target="/ppt/slides/slide24.xml" Id="R434a30f754e54ce9" /><Relationship Type="http://schemas.openxmlformats.org/officeDocument/2006/relationships/slide" Target="/ppt/slides/slide25.xml" Id="R6aa3dec4934e4e2b" /><Relationship Type="http://schemas.openxmlformats.org/officeDocument/2006/relationships/slide" Target="/ppt/slides/slide26.xml" Id="Rba3273e3eb3847f8" /><Relationship Type="http://schemas.openxmlformats.org/officeDocument/2006/relationships/slide" Target="/ppt/slides/slide27.xml" Id="R6e30cbb5625b41e0" /><Relationship Type="http://schemas.openxmlformats.org/officeDocument/2006/relationships/slide" Target="/ppt/slides/slide28.xml" Id="R841e71cb67c345a8" /><Relationship Type="http://schemas.openxmlformats.org/officeDocument/2006/relationships/slide" Target="/ppt/slides/slide29.xml" Id="R4b811fa6fe5b4648" /><Relationship Type="http://schemas.openxmlformats.org/officeDocument/2006/relationships/slide" Target="/ppt/slides/slide30.xml" Id="R0ebb56ae6e6846e6" /><Relationship Type="http://schemas.openxmlformats.org/officeDocument/2006/relationships/slide" Target="/ppt/slides/slide31.xml" Id="R13cca4d81ed04c76" /><Relationship Type="http://schemas.openxmlformats.org/officeDocument/2006/relationships/slide" Target="/ppt/slides/slide32.xml" Id="R74eae025bc114a59" /><Relationship Type="http://schemas.openxmlformats.org/officeDocument/2006/relationships/slide" Target="/ppt/slides/slide33.xml" Id="R57daf708db654f12" /><Relationship Type="http://schemas.openxmlformats.org/officeDocument/2006/relationships/slide" Target="/ppt/slides/slide34.xml" Id="R2c14f163782b46ae" /><Relationship Type="http://schemas.openxmlformats.org/officeDocument/2006/relationships/slide" Target="/ppt/slides/slide35.xml" Id="R67df55c1c90d4f2b" /><Relationship Type="http://schemas.openxmlformats.org/officeDocument/2006/relationships/slide" Target="/ppt/slides/slide36.xml" Id="Rc15afcb2b8184132" /><Relationship Type="http://schemas.openxmlformats.org/officeDocument/2006/relationships/slide" Target="/ppt/slides/slide37.xml" Id="R34c9c66ed1704b96" /><Relationship Type="http://schemas.openxmlformats.org/officeDocument/2006/relationships/slide" Target="/ppt/slides/slide38.xml" Id="R01f6d5fc5b524108" /><Relationship Type="http://schemas.openxmlformats.org/officeDocument/2006/relationships/slide" Target="/ppt/slides/slide39.xml" Id="R7e8462d48a264316" /><Relationship Type="http://schemas.openxmlformats.org/officeDocument/2006/relationships/slide" Target="/ppt/slides/slide40.xml" Id="R5e1582c3b9cc43a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0602db22564476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67122bdc53744cb" /><Relationship Type="http://schemas.openxmlformats.org/officeDocument/2006/relationships/notesMaster" Target="/ppt/notesMasters/notesMaster1.xml" Id="R0bd5c26454fa41a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4a913b5f32e4c12" /><Relationship Type="http://schemas.openxmlformats.org/officeDocument/2006/relationships/notesMaster" Target="/ppt/notesMasters/notesMaster1.xml" Id="R8bf04cda3ed0470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cdef38329ff4c00" /><Relationship Type="http://schemas.openxmlformats.org/officeDocument/2006/relationships/notesMaster" Target="/ppt/notesMasters/notesMaster1.xml" Id="R5c8a90c83681400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900c5c06ddd4e64" /><Relationship Type="http://schemas.openxmlformats.org/officeDocument/2006/relationships/notesMaster" Target="/ppt/notesMasters/notesMaster1.xml" Id="Re9de2eb380644a8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1c1500e9cfd4cca" /><Relationship Type="http://schemas.openxmlformats.org/officeDocument/2006/relationships/notesMaster" Target="/ppt/notesMasters/notesMaster1.xml" Id="Rdfe44c96139646c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809582847b04222" /><Relationship Type="http://schemas.openxmlformats.org/officeDocument/2006/relationships/notesMaster" Target="/ppt/notesMasters/notesMaster1.xml" Id="Rb93e40ec95e0418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dcebe99f16b43d7" /><Relationship Type="http://schemas.openxmlformats.org/officeDocument/2006/relationships/notesMaster" Target="/ppt/notesMasters/notesMaster1.xml" Id="Rfdec068b96fc41b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025d76a72234f6d" /><Relationship Type="http://schemas.openxmlformats.org/officeDocument/2006/relationships/notesMaster" Target="/ppt/notesMasters/notesMaster1.xml" Id="Refee2d2b64974a3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6343447a1e84095" /><Relationship Type="http://schemas.openxmlformats.org/officeDocument/2006/relationships/notesMaster" Target="/ppt/notesMasters/notesMaster1.xml" Id="R9312f4be8a57448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768c9dbe6c54af7" /><Relationship Type="http://schemas.openxmlformats.org/officeDocument/2006/relationships/notesMaster" Target="/ppt/notesMasters/notesMaster1.xml" Id="R0026e037e1a3469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fb7293c51224ee3" /><Relationship Type="http://schemas.openxmlformats.org/officeDocument/2006/relationships/notesMaster" Target="/ppt/notesMasters/notesMaster1.xml" Id="Rf8c366ecc026457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e64a30074a24509" /><Relationship Type="http://schemas.openxmlformats.org/officeDocument/2006/relationships/notesMaster" Target="/ppt/notesMasters/notesMaster1.xml" Id="Ra0f93c401bb9490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694243697214cf0" /><Relationship Type="http://schemas.openxmlformats.org/officeDocument/2006/relationships/notesMaster" Target="/ppt/notesMasters/notesMaster1.xml" Id="R3ce1e49976604e9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aee51d2ddee42ef" /><Relationship Type="http://schemas.openxmlformats.org/officeDocument/2006/relationships/notesMaster" Target="/ppt/notesMasters/notesMaster1.xml" Id="R06176ed9223849c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349281b21034ec2" /><Relationship Type="http://schemas.openxmlformats.org/officeDocument/2006/relationships/notesMaster" Target="/ppt/notesMasters/notesMaster1.xml" Id="R2a124853ded343b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4c692608fb44bfc" /><Relationship Type="http://schemas.openxmlformats.org/officeDocument/2006/relationships/notesMaster" Target="/ppt/notesMasters/notesMaster1.xml" Id="R1830eedc962d43f7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87ca3935f2e94941" /><Relationship Type="http://schemas.openxmlformats.org/officeDocument/2006/relationships/notesMaster" Target="/ppt/notesMasters/notesMaster1.xml" Id="R92d5596117c5472b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f1e11158f1ef4733" /><Relationship Type="http://schemas.openxmlformats.org/officeDocument/2006/relationships/notesMaster" Target="/ppt/notesMasters/notesMaster1.xml" Id="Re6f37d4752df44b8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aed33ba5e319446d" /><Relationship Type="http://schemas.openxmlformats.org/officeDocument/2006/relationships/notesMaster" Target="/ppt/notesMasters/notesMaster1.xml" Id="R285dc2bc20b140a4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dfecf98f9369429f" /><Relationship Type="http://schemas.openxmlformats.org/officeDocument/2006/relationships/notesMaster" Target="/ppt/notesMasters/notesMaster1.xml" Id="R884802bc38584a9d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0d32b32d83a44a68" /><Relationship Type="http://schemas.openxmlformats.org/officeDocument/2006/relationships/notesMaster" Target="/ppt/notesMasters/notesMaster1.xml" Id="R361dc47e0b3a46c5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0fb79a499f1840d9" /><Relationship Type="http://schemas.openxmlformats.org/officeDocument/2006/relationships/notesMaster" Target="/ppt/notesMasters/notesMaster1.xml" Id="R00b82c97d5694449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061cbb4bdcd841c5" /><Relationship Type="http://schemas.openxmlformats.org/officeDocument/2006/relationships/notesMaster" Target="/ppt/notesMasters/notesMaster1.xml" Id="Re3f4dec7dfbf4b2b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5ca263ba5049402a" /><Relationship Type="http://schemas.openxmlformats.org/officeDocument/2006/relationships/notesMaster" Target="/ppt/notesMasters/notesMaster1.xml" Id="R525d55b78e544042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e12a755fa4524ba5" /><Relationship Type="http://schemas.openxmlformats.org/officeDocument/2006/relationships/notesMaster" Target="/ppt/notesMasters/notesMaster1.xml" Id="R415eabbbdc8f421a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162b742f9a1d480a" /><Relationship Type="http://schemas.openxmlformats.org/officeDocument/2006/relationships/notesMaster" Target="/ppt/notesMasters/notesMaster1.xml" Id="Reed62c8c7f744a6f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81831252f6b04181" /><Relationship Type="http://schemas.openxmlformats.org/officeDocument/2006/relationships/notesMaster" Target="/ppt/notesMasters/notesMaster1.xml" Id="Re24af507a56945d4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7c33b9563bc945e9" /><Relationship Type="http://schemas.openxmlformats.org/officeDocument/2006/relationships/notesMaster" Target="/ppt/notesMasters/notesMaster1.xml" Id="Rea27c286708f46ce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a5e015a1cc074d92" /><Relationship Type="http://schemas.openxmlformats.org/officeDocument/2006/relationships/notesMaster" Target="/ppt/notesMasters/notesMaster1.xml" Id="Rc5c675c0d8334721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f2571bf1b3594d1f" /><Relationship Type="http://schemas.openxmlformats.org/officeDocument/2006/relationships/notesMaster" Target="/ppt/notesMasters/notesMaster1.xml" Id="Rd7ee1ddebd3c458e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c11244f3adf24409" /><Relationship Type="http://schemas.openxmlformats.org/officeDocument/2006/relationships/notesMaster" Target="/ppt/notesMasters/notesMaster1.xml" Id="R197ec87b9a454e83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de93685e53a845ee" /><Relationship Type="http://schemas.openxmlformats.org/officeDocument/2006/relationships/notesMaster" Target="/ppt/notesMasters/notesMaster1.xml" Id="R0f31ce92c34b44f7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4af40dae90144ede" /><Relationship Type="http://schemas.openxmlformats.org/officeDocument/2006/relationships/notesMaster" Target="/ppt/notesMasters/notesMaster1.xml" Id="R0cd552fc94d642de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1cddda3dcbca43e2" /><Relationship Type="http://schemas.openxmlformats.org/officeDocument/2006/relationships/notesMaster" Target="/ppt/notesMasters/notesMaster1.xml" Id="R7130578674044de6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97e29820b76f429f" /><Relationship Type="http://schemas.openxmlformats.org/officeDocument/2006/relationships/notesMaster" Target="/ppt/notesMasters/notesMaster1.xml" Id="R8fb27bda5840464b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1f1f5acadeb648fa" /><Relationship Type="http://schemas.openxmlformats.org/officeDocument/2006/relationships/notesMaster" Target="/ppt/notesMasters/notesMaster1.xml" Id="R1813c5130d9444aa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c441f6d5ada349d6" /><Relationship Type="http://schemas.openxmlformats.org/officeDocument/2006/relationships/notesMaster" Target="/ppt/notesMasters/notesMaster1.xml" Id="R0f692883e6be4021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6d9a20f893c64835" /><Relationship Type="http://schemas.openxmlformats.org/officeDocument/2006/relationships/notesMaster" Target="/ppt/notesMasters/notesMaster1.xml" Id="R7f535095185842cc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d6d677009d6647a4" /><Relationship Type="http://schemas.openxmlformats.org/officeDocument/2006/relationships/notesMaster" Target="/ppt/notesMasters/notesMaster1.xml" Id="Rc89ea89f3fdc48c8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24bda960e9ec4e70" /><Relationship Type="http://schemas.openxmlformats.org/officeDocument/2006/relationships/notesMaster" Target="/ppt/notesMasters/notesMaster1.xml" Id="Rb77fdd50ac264ed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8489e25352b40b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7c79e95550d49d1" /><Relationship Type="http://schemas.openxmlformats.org/officeDocument/2006/relationships/slideLayout" Target="/ppt/slideLayouts/slideLayout1.xml" Id="R3524d0252a974af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524d0252a974af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13459bce494de0" /><Relationship Type="http://schemas.openxmlformats.org/officeDocument/2006/relationships/notesSlide" Target="/ppt/notesSlides/notesSlide1.xml" Id="Rda826cc9992b4db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5253664c8c4017" /><Relationship Type="http://schemas.openxmlformats.org/officeDocument/2006/relationships/notesSlide" Target="/ppt/notesSlides/notesSlide2.xml" Id="Rea90c4efb0644db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257018b85d4a4a" /><Relationship Type="http://schemas.openxmlformats.org/officeDocument/2006/relationships/notesSlide" Target="/ppt/notesSlides/notesSlide3.xml" Id="R9bda5aa814c741b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ff641f14b94ab1" /><Relationship Type="http://schemas.openxmlformats.org/officeDocument/2006/relationships/image" Target="/ppt/media/image.png" Id="R3748ac61748a436d" /><Relationship Type="http://schemas.openxmlformats.org/officeDocument/2006/relationships/notesSlide" Target="/ppt/notesSlides/notesSlide4.xml" Id="R9812ae12f9ff48a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58d15335104631" /><Relationship Type="http://schemas.openxmlformats.org/officeDocument/2006/relationships/notesSlide" Target="/ppt/notesSlides/notesSlide5.xml" Id="Rd217a556a2db4e7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e8d2c2bf7747b2" /><Relationship Type="http://schemas.openxmlformats.org/officeDocument/2006/relationships/notesSlide" Target="/ppt/notesSlides/notesSlide6.xml" Id="R8a01addb1ce44e6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ce3590a7b64c7f" /><Relationship Type="http://schemas.openxmlformats.org/officeDocument/2006/relationships/image" Target="/ppt/media/image2.png" Id="R34da49bb6b5e4492" /><Relationship Type="http://schemas.openxmlformats.org/officeDocument/2006/relationships/notesSlide" Target="/ppt/notesSlides/notesSlide7.xml" Id="R69e4d4ffc12b433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2d46f9000749c9" /><Relationship Type="http://schemas.openxmlformats.org/officeDocument/2006/relationships/notesSlide" Target="/ppt/notesSlides/notesSlide8.xml" Id="R5c9e5306ccf44b6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f2ebacdefd4830" /><Relationship Type="http://schemas.openxmlformats.org/officeDocument/2006/relationships/image" Target="/ppt/media/image3.png" Id="Rbc777852e9ae4b5d" /><Relationship Type="http://schemas.openxmlformats.org/officeDocument/2006/relationships/notesSlide" Target="/ppt/notesSlides/notesSlide9.xml" Id="R2e5e725abeb54f2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8ff90127554d35" /><Relationship Type="http://schemas.openxmlformats.org/officeDocument/2006/relationships/notesSlide" Target="/ppt/notesSlides/notesSlide10.xml" Id="R19aeefe6ff934da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45cec4cf1a43d4" /><Relationship Type="http://schemas.openxmlformats.org/officeDocument/2006/relationships/image" Target="/ppt/media/image4.png" Id="R42d6bd7b06714636" /><Relationship Type="http://schemas.openxmlformats.org/officeDocument/2006/relationships/notesSlide" Target="/ppt/notesSlides/notesSlide11.xml" Id="R3c0e32e019684e7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fd82edc4774ee8" /><Relationship Type="http://schemas.openxmlformats.org/officeDocument/2006/relationships/notesSlide" Target="/ppt/notesSlides/notesSlide12.xml" Id="R5243d4bb3e1640e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9214fdfd4e4219" /><Relationship Type="http://schemas.openxmlformats.org/officeDocument/2006/relationships/image" Target="/ppt/media/image5.png" Id="Rab46daa947ee4772" /><Relationship Type="http://schemas.openxmlformats.org/officeDocument/2006/relationships/notesSlide" Target="/ppt/notesSlides/notesSlide13.xml" Id="R7c0d3070d78643f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e85d1a565d42ec" /><Relationship Type="http://schemas.openxmlformats.org/officeDocument/2006/relationships/notesSlide" Target="/ppt/notesSlides/notesSlide14.xml" Id="R044c1a2836774a6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92a4cfb59e4fd3" /><Relationship Type="http://schemas.openxmlformats.org/officeDocument/2006/relationships/image" Target="/ppt/media/image6.png" Id="Rf6c3001e2f3d463c" /><Relationship Type="http://schemas.openxmlformats.org/officeDocument/2006/relationships/notesSlide" Target="/ppt/notesSlides/notesSlide15.xml" Id="R9fd013c0168e47c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1188dcab67473d" /><Relationship Type="http://schemas.openxmlformats.org/officeDocument/2006/relationships/notesSlide" Target="/ppt/notesSlides/notesSlide16.xml" Id="R82dce5adf91843f4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69725140bb4f85" /><Relationship Type="http://schemas.openxmlformats.org/officeDocument/2006/relationships/image" Target="/ppt/media/image7.png" Id="Rf5b59604b37e48f0" /><Relationship Type="http://schemas.openxmlformats.org/officeDocument/2006/relationships/notesSlide" Target="/ppt/notesSlides/notesSlide17.xml" Id="R63dba21dfd22435e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27fdccff0b4932" /><Relationship Type="http://schemas.openxmlformats.org/officeDocument/2006/relationships/notesSlide" Target="/ppt/notesSlides/notesSlide18.xml" Id="R3fb6cad43181468e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4a214e1abd41a0" /><Relationship Type="http://schemas.openxmlformats.org/officeDocument/2006/relationships/image" Target="/ppt/media/image8.png" Id="Rde522f3bba674780" /><Relationship Type="http://schemas.openxmlformats.org/officeDocument/2006/relationships/notesSlide" Target="/ppt/notesSlides/notesSlide19.xml" Id="R31793ad4a1e0491b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b1595c9bab490c" /><Relationship Type="http://schemas.openxmlformats.org/officeDocument/2006/relationships/notesSlide" Target="/ppt/notesSlides/notesSlide20.xml" Id="R7bdca87a09e74603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8e78d9f63f48b1" /><Relationship Type="http://schemas.openxmlformats.org/officeDocument/2006/relationships/image" Target="/ppt/media/image9.png" Id="R1b7cb50633e042a5" /><Relationship Type="http://schemas.openxmlformats.org/officeDocument/2006/relationships/notesSlide" Target="/ppt/notesSlides/notesSlide21.xml" Id="Reaa802e178444e14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c6e550772c42aa" /><Relationship Type="http://schemas.openxmlformats.org/officeDocument/2006/relationships/notesSlide" Target="/ppt/notesSlides/notesSlide22.xml" Id="Rd1af4add3b2947e2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15aea0b6d84016" /><Relationship Type="http://schemas.openxmlformats.org/officeDocument/2006/relationships/image" Target="/ppt/media/image10.png" Id="R10f0948a75bc4c16" /><Relationship Type="http://schemas.openxmlformats.org/officeDocument/2006/relationships/notesSlide" Target="/ppt/notesSlides/notesSlide23.xml" Id="Rd3cc5348366e43b0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ce1352efa34ff9" /><Relationship Type="http://schemas.openxmlformats.org/officeDocument/2006/relationships/notesSlide" Target="/ppt/notesSlides/notesSlide24.xml" Id="Rece2d893099d4d52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0a2a80e7a146c0" /><Relationship Type="http://schemas.openxmlformats.org/officeDocument/2006/relationships/image" Target="/ppt/media/image11.png" Id="R8f3c989babf24279" /><Relationship Type="http://schemas.openxmlformats.org/officeDocument/2006/relationships/notesSlide" Target="/ppt/notesSlides/notesSlide25.xml" Id="Rbdde4f94c5e6414f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71ba4456bb4862" /><Relationship Type="http://schemas.openxmlformats.org/officeDocument/2006/relationships/notesSlide" Target="/ppt/notesSlides/notesSlide26.xml" Id="Re49b2ed42c4945a6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0c7c68b9f84d67" /><Relationship Type="http://schemas.openxmlformats.org/officeDocument/2006/relationships/image" Target="/ppt/media/image12.png" Id="Ra773f6e490af4581" /><Relationship Type="http://schemas.openxmlformats.org/officeDocument/2006/relationships/notesSlide" Target="/ppt/notesSlides/notesSlide27.xml" Id="R4ecb6946bead4075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6043a0be6547cd" /><Relationship Type="http://schemas.openxmlformats.org/officeDocument/2006/relationships/notesSlide" Target="/ppt/notesSlides/notesSlide28.xml" Id="Re860c3f99989427d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7d1614bd474622" /><Relationship Type="http://schemas.openxmlformats.org/officeDocument/2006/relationships/image" Target="/ppt/media/image13.png" Id="R08347e2d79514b0d" /><Relationship Type="http://schemas.openxmlformats.org/officeDocument/2006/relationships/notesSlide" Target="/ppt/notesSlides/notesSlide29.xml" Id="R965447e52e36483f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94d922f7a5426e" /><Relationship Type="http://schemas.openxmlformats.org/officeDocument/2006/relationships/notesSlide" Target="/ppt/notesSlides/notesSlide30.xml" Id="R5dca9061662a402f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28776cd3844d6e" /><Relationship Type="http://schemas.openxmlformats.org/officeDocument/2006/relationships/image" Target="/ppt/media/image14.png" Id="Rbab91512cd8b457b" /><Relationship Type="http://schemas.openxmlformats.org/officeDocument/2006/relationships/notesSlide" Target="/ppt/notesSlides/notesSlide31.xml" Id="Raf0562ec89c8480e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a543039a694239" /><Relationship Type="http://schemas.openxmlformats.org/officeDocument/2006/relationships/notesSlide" Target="/ppt/notesSlides/notesSlide32.xml" Id="R01082f4a6c3e49ee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73e31ede8840a9" /><Relationship Type="http://schemas.openxmlformats.org/officeDocument/2006/relationships/image" Target="/ppt/media/image15.png" Id="R96e2d0f461bc4150" /><Relationship Type="http://schemas.openxmlformats.org/officeDocument/2006/relationships/notesSlide" Target="/ppt/notesSlides/notesSlide33.xml" Id="Ra288e495ae95414d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0deb104aab4ae8" /><Relationship Type="http://schemas.openxmlformats.org/officeDocument/2006/relationships/notesSlide" Target="/ppt/notesSlides/notesSlide34.xml" Id="R104490b972dc4bb9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773a7433cc496e" /><Relationship Type="http://schemas.openxmlformats.org/officeDocument/2006/relationships/image" Target="/ppt/media/image16.png" Id="Rc15ec772030f4d96" /><Relationship Type="http://schemas.openxmlformats.org/officeDocument/2006/relationships/notesSlide" Target="/ppt/notesSlides/notesSlide35.xml" Id="Rb3dcb1fcd28d499d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fe4a8ef76049db" /><Relationship Type="http://schemas.openxmlformats.org/officeDocument/2006/relationships/notesSlide" Target="/ppt/notesSlides/notesSlide36.xml" Id="Rd9303575b765456b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4dbd7bf782457c" /><Relationship Type="http://schemas.openxmlformats.org/officeDocument/2006/relationships/image" Target="/ppt/media/image17.png" Id="R87ae7edfd798483e" /><Relationship Type="http://schemas.openxmlformats.org/officeDocument/2006/relationships/notesSlide" Target="/ppt/notesSlides/notesSlide37.xml" Id="R579fba0ee16b47b6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21a9a16c7b4e42" /><Relationship Type="http://schemas.openxmlformats.org/officeDocument/2006/relationships/notesSlide" Target="/ppt/notesSlides/notesSlide38.xml" Id="Rc336aa983a3d4163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613101935846ab" /><Relationship Type="http://schemas.openxmlformats.org/officeDocument/2006/relationships/image" Target="/ppt/media/image18.png" Id="R2686852ceb324761" /><Relationship Type="http://schemas.openxmlformats.org/officeDocument/2006/relationships/notesSlide" Target="/ppt/notesSlides/notesSlide39.xml" Id="Rdfb369185e784799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b2cff4c39f419a" /><Relationship Type="http://schemas.openxmlformats.org/officeDocument/2006/relationships/notesSlide" Target="/ppt/notesSlides/notesSlide40.xml" Id="R54ace27e36d248b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BEF1E1-83EF-4E1C-9C0E-35B9249A3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10477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b"/>
          <a:lstStyle xmlns:a="http://schemas.openxmlformats.org/drawingml/2006/main"/>
          <a:p xmlns:a="http://schemas.openxmlformats.org/drawingml/2006/main">
            <a:pPr algn="l">
              <a:buNone/>
              <a:defRPr sz="4800" b="1">
                <a:solidFill>
                  <a:srgbClr val="000000"/>
                </a:solidFill>
              </a:defRPr>
            </a:pPr>
            <a:r>
              <a:rPr sz="4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阶段型 PPO 与 DQN 公平比较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B603ED-A548-4C5C-A610-B1CC453A8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66950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t"/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000000"/>
                </a:solidFill>
              </a:defRPr>
            </a:pPr>
            <a:r>
              <a:rPr sz="22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MaskablePPO vs mask-aware DQN · 五站点 · 17个筛选年份 · 51个seed逐年配对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58EEAE-BE7B-4411-9E57-F39137230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385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42A9CA-1AD5-47FB-A8A5-0CDB331F5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38550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444444"/>
                </a:solidFill>
              </a:defRPr>
            </a:pPr>
            <a:r>
              <a:rPr sz="1575" b="1">
                <a:solidFill>
                  <a:srgbClr val="444444"/>
                </a:solidFill>
                <a:latin typeface="Arial"/>
                <a:ea typeface="Arial"/>
                <a:cs typeface="Arial"/>
              </a:rPr>
              <a:t>汇报重点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B5C038-E3CB-4575-8B77-99693EEA6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95750"/>
            <a:ext cx="1028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t"/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000000"/>
                </a:solidFill>
              </a:defRPr>
            </a:pPr>
            <a:r>
              <a:rPr sz="18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相同DSSAT输入、IC、阶段窗口、动作mask、reward、240步训练预算与评价口径，只替换算法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F2A20E-A736-4BDA-9F9E-9362A7C4D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2455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444444"/>
                </a:solidFill>
              </a:defRPr>
            </a:pPr>
            <a:r>
              <a:rPr sz="1275" b="0">
                <a:solidFill>
                  <a:srgbClr val="444444"/>
                </a:solidFill>
                <a:latin typeface="Arial"/>
                <a:ea typeface="Arial"/>
                <a:cs typeface="Arial"/>
              </a:rPr>
              <a:t>基于029_00—029_04冻结结果整理 · 2026-07-19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4D3C32-22BE-47A7-A1F3-DA425A393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15100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444444"/>
                </a:solidFill>
              </a:defRPr>
            </a:pPr>
            <a:r>
              <a:rPr sz="975" b="0">
                <a:solidFill>
                  <a:srgbClr val="444444"/>
                </a:solidFill>
                <a:latin typeface="Arial"/>
                <a:ea typeface="Arial"/>
                <a:cs typeface="Arial"/>
              </a:rPr>
              <a:t>算法对照版｜DQN未进行超参数扫描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D965CE-E3AE-4DD6-9C05-D16114989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444444"/>
                </a:solidFill>
              </a:defRPr>
            </a:pPr>
            <a:r>
              <a:rPr sz="1050" b="0">
                <a:solidFill>
                  <a:srgbClr val="444444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42819204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9315354-21B0-4EB0-84E0-CFFC9AE03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444444"/>
                </a:solidFill>
              </a:defRPr>
            </a:pPr>
            <a:r>
              <a:rPr sz="1125" b="0">
                <a:solidFill>
                  <a:srgbClr val="444444"/>
                </a:solidFill>
                <a:latin typeface="Arial"/>
                <a:ea typeface="Arial"/>
                <a:cs typeface="Arial"/>
              </a:rPr>
              <a:t>公平比较口径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E7762E-BB21-4229-9B2B-B999136F0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57200"/>
            <a:ext cx="11239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环境与科学问题完全一致，算法专属优化机制按预注册配置运行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FBD83B-E053-4AEC-B23B-D36D15C5B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6680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A76A55-3B41-45C0-AA6B-59B9DA8BC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81125"/>
            <a:ext cx="11144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A58507-A317-453F-9CBC-1E39DEB6D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6375"/>
            <a:ext cx="2190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保持不变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F5DC41-4A61-4AAD-825C-3C6FBF98B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1457325"/>
            <a:ext cx="8382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000000"/>
                </a:solidFill>
              </a:defRPr>
            </a:pPr>
            <a:r>
              <a:rPr sz="15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DSSAT输入、IC、17年范围、观测/scaler、阶段窗口、动作与mask、预算、reward、240个交互步、checkpoint与选模规则。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F0020A-9984-488D-89E3-A5AAE1419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95525"/>
            <a:ext cx="11144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A06EBB-6C5B-444A-8442-58A9C4F40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90775"/>
            <a:ext cx="2190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唯一主变量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476887-E619-4C61-8436-ED5652380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371725"/>
            <a:ext cx="8382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000000"/>
                </a:solidFill>
              </a:defRPr>
            </a:pPr>
            <a:r>
              <a:rPr sz="15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阶段型MaskablePPO替换为mask-aware DQN；DQN探索、贪心动作和TD target均排除非法动作。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A76D78-4FD3-4C51-B684-E28E0D529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09925"/>
            <a:ext cx="11144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BBC607-A81E-4DB4-84DF-4A1C712E1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05175"/>
            <a:ext cx="2190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成功定义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DF1195-8DDA-4738-B0AA-BFB770546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286125"/>
            <a:ext cx="8382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000000"/>
                </a:solidFill>
              </a:defRPr>
            </a:pPr>
            <a:r>
              <a:rPr sz="15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产量、WP_ET或可比PFP_N至少一项严格超过四基线最高值；每年至少2/3 seed为初步稳定。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52383B-79EF-4DD2-97DC-3C5185DB5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24325"/>
            <a:ext cx="11144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884D81-AF63-415B-AE9E-70F6A6463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19575"/>
            <a:ext cx="2190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公平性边界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2751F8-8E09-480B-B936-F41955108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4200525"/>
            <a:ext cx="8382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000000"/>
                </a:solidFill>
              </a:defRPr>
            </a:pPr>
            <a:r>
              <a:rPr sz="15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优化器与更新机制不同；公平性由相同环境交互预算和评价协议控制，不做DQN参数扫描。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41194A-0841-4978-B5B1-7945CEDB3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38725"/>
            <a:ext cx="11144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64983F-354A-4C47-9A88-D91343242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33975"/>
            <a:ext cx="2190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证据范围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58FB1B-3A44-45AC-B988-5466C81EC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5114925"/>
            <a:ext cx="8382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000000"/>
                </a:solidFill>
              </a:defRPr>
            </a:pPr>
            <a:r>
              <a:rPr sz="15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五锚点各3 seed训练；其余12年冻结同站权重零训练迁移；17年均有同版式日值证据。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9DB32CF-834B-44EF-8C69-9687AE598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15100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444444"/>
                </a:solidFill>
              </a:defRPr>
            </a:pPr>
            <a:r>
              <a:rPr sz="975" b="0">
                <a:solidFill>
                  <a:srgbClr val="444444"/>
                </a:solidFill>
                <a:latin typeface="Arial"/>
                <a:ea typeface="Arial"/>
                <a:cs typeface="Arial"/>
              </a:rPr>
              <a:t>029_00—029_04冻结比较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1425E33-3B3A-4D2B-A06D-CD66DE1EF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444444"/>
                </a:solidFill>
              </a:defRPr>
            </a:pPr>
            <a:r>
              <a:rPr sz="1050" b="0">
                <a:solidFill>
                  <a:srgbClr val="444444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68610055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0A071B8-1AEB-462C-AFAA-25A452F4E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444444"/>
                </a:solidFill>
              </a:defRPr>
            </a:pPr>
            <a:r>
              <a:rPr sz="1125" b="0">
                <a:solidFill>
                  <a:srgbClr val="444444"/>
                </a:solidFill>
                <a:latin typeface="Arial"/>
                <a:ea typeface="Arial"/>
                <a:cs typeface="Arial"/>
              </a:rPr>
              <a:t>总体结论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2AED47-C45E-4615-A591-724D54793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57200"/>
            <a:ext cx="11239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当前配置下，DQN没有带来跨五站点的总体改善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A14813-82A2-4375-84EE-3E1144C72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6680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F612B8-2D8A-4766-AE1A-40F2A3649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381125"/>
            <a:ext cx="111442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5CE6BB-0919-4D1B-9345-61E64E516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6375"/>
            <a:ext cx="200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000000"/>
                </a:solidFill>
              </a:defRPr>
            </a:pPr>
            <a:r>
              <a:rPr sz="19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PPO结果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D14548-8520-4CD5-BCC0-FD1D27720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476375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29/51个winner seed；10/17个年份达到至少2/3 seed。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CFBF6E-7DAD-4774-9B0B-DEF85D1C7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505075"/>
            <a:ext cx="111442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29F85A-A61C-43C3-942D-7D57D93CF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00325"/>
            <a:ext cx="200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000000"/>
                </a:solidFill>
              </a:defRPr>
            </a:pPr>
            <a:r>
              <a:rPr sz="19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DQN结果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86332B-C111-4CA7-856C-332F82FDE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600325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23/51个winner seed；8/17个年份达到至少2/3 seed。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E4B4D9-DC9D-4730-8468-87BF3B97A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629025"/>
            <a:ext cx="111442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F0A3A3-17BA-4C29-8DC2-E1C634152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24275"/>
            <a:ext cx="200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000000"/>
                </a:solidFill>
              </a:defRPr>
            </a:pPr>
            <a:r>
              <a:rPr sz="19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逐年比较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F588B1-E470-4AF2-B1EC-28FFEF1B8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724275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DQN更高2年，PPO更高6年，持平9年；PPO优势主要来自HLA。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F1CEBD-B1DE-4EAD-8859-6CF3412FF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752975"/>
            <a:ext cx="111442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643B5C-581A-4D99-9A99-BC4B4BAF3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48225"/>
            <a:ext cx="200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000000"/>
                </a:solidFill>
              </a:defRPr>
            </a:pPr>
            <a:r>
              <a:rPr sz="19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算法判断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32A6BF-567F-4DCB-A894-1CB4C3952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848225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不建议把主线全面切换到DQN。DQN保留为正式对照，并关注LC2010与FQ2023的局部优势。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93F8C0-5E0B-4058-B07A-213E9BBAC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15100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444444"/>
                </a:solidFill>
              </a:defRPr>
            </a:pPr>
            <a:r>
              <a:rPr sz="975" b="0">
                <a:solidFill>
                  <a:srgbClr val="444444"/>
                </a:solidFill>
                <a:latin typeface="Arial"/>
                <a:ea typeface="Arial"/>
                <a:cs typeface="Arial"/>
              </a:rPr>
              <a:t>17年、51 seed配对；无事后调参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E6137B-62FB-457E-959D-7499E20D5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444444"/>
                </a:solidFill>
              </a:defRPr>
            </a:pPr>
            <a:r>
              <a:rPr sz="1050" b="0">
                <a:solidFill>
                  <a:srgbClr val="444444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68031477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D12A66-BEAB-4149-AA78-C3A71BDDF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444444"/>
                </a:solidFill>
              </a:defRPr>
            </a:pPr>
            <a:r>
              <a:rPr sz="1125" b="0">
                <a:solidFill>
                  <a:srgbClr val="444444"/>
                </a:solidFill>
                <a:latin typeface="Arial"/>
                <a:ea typeface="Arial"/>
                <a:cs typeface="Arial"/>
              </a:rPr>
              <a:t>17年逐年对照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7D663E-9856-44CB-B9DD-D87E6D240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57200"/>
            <a:ext cx="11239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PPO在6个年份领先，DQN在2个年份领先，9个年份持平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6B27F1-125C-43D2-AF93-65AF84F2A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6680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48ac61748a436d"/>
          <a:stretch xmlns:a="http://schemas.openxmlformats.org/drawingml/2006/main"/>
        </p:blipFill>
        <p:spPr>
          <a:xfrm xmlns:a="http://schemas.openxmlformats.org/drawingml/2006/main">
            <a:off x="952500" y="1609725"/>
            <a:ext cx="10287000" cy="41148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4ABCB0-6125-413E-AB4E-42CE537E4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15100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444444"/>
                </a:solidFill>
              </a:defRPr>
            </a:pPr>
            <a:r>
              <a:rPr sz="975" b="0">
                <a:solidFill>
                  <a:srgbClr val="444444"/>
                </a:solidFill>
                <a:latin typeface="Arial"/>
                <a:ea typeface="Arial"/>
                <a:cs typeface="Arial"/>
              </a:rPr>
              <a:t>柱高为同一站点年3个seed中至少一项指标严格超过四基线最高值的seed数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93AF49-96DF-4F87-AF2E-3EB0980FE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444444"/>
                </a:solidFill>
              </a:defRPr>
            </a:pPr>
            <a:r>
              <a:rPr sz="1050" b="0">
                <a:solidFill>
                  <a:srgbClr val="444444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57118710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CDAC1BA2-7198-402C-BB89-D71F2BB1A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444444"/>
                </a:solidFill>
              </a:defRPr>
            </a:pPr>
            <a:r>
              <a:rPr sz="1125" b="0">
                <a:solidFill>
                  <a:srgbClr val="444444"/>
                </a:solidFill>
                <a:latin typeface="Arial"/>
                <a:ea typeface="Arial"/>
                <a:cs typeface="Arial"/>
              </a:rPr>
              <a:t>站点汇总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890493-F6F2-4483-8BB0-D961FFE3E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57200"/>
            <a:ext cx="11239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DQN在LC有局部优势，但HLA表现明显弱于PPO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D573FD-B09A-468F-90C9-69660A215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6680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B96DC8-D360-4696-8A49-AC603A66B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666875"/>
            <a:ext cx="1809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805256-2782-4C13-8126-92495F247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676400"/>
            <a:ext cx="1771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站点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F4C72F-FD5C-4016-86D8-DE4C281C7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666875"/>
            <a:ext cx="1809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7A3472-00B3-4955-AD02-C226A430E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1676400"/>
            <a:ext cx="1771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PPO成功seed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AE863F-F09D-4F32-9C64-B639CC8C5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666875"/>
            <a:ext cx="1809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0BC8F4-1EE3-4F28-AD9C-A0476ED37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1676400"/>
            <a:ext cx="1771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DQN成功seed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32FFD6-7DBA-4461-8015-4CEC9E58B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666875"/>
            <a:ext cx="1809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621CC1-07EC-4341-BE58-29F871369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1676400"/>
            <a:ext cx="1771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PPO≥2/3年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02F8B0-D63D-4662-BDBF-89FE3A401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666875"/>
            <a:ext cx="2381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815F16-D130-4AB7-930B-572110338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676400"/>
            <a:ext cx="2343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DQN≥2/3年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4D299A-D9AD-456A-9E13-8E8219CBF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314575"/>
            <a:ext cx="1809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5E07C5-FE18-476E-9157-15284661A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324100"/>
            <a:ext cx="1771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富锦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3E5335-3C38-4CEC-B48A-A324F07F1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314575"/>
            <a:ext cx="1809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3BEA3B-EA90-487C-9506-0533B6B12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324100"/>
            <a:ext cx="1771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4401978-ECA6-4D6B-AEAB-F9083A3A0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314575"/>
            <a:ext cx="1809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28FD553-51A8-4E03-A885-9D4BCE359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324100"/>
            <a:ext cx="1771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8B80074-8807-4D67-A04D-9F993427B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314575"/>
            <a:ext cx="1809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F331E8-B5CF-4BC3-A2C0-6CC4D9B52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324100"/>
            <a:ext cx="1771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A42E09E-2193-4891-81B4-689342210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314575"/>
            <a:ext cx="2381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FC1C9C0-C5E5-478A-B960-4211363A4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324100"/>
            <a:ext cx="2343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8358BD7-35DC-40F7-B211-A56F6AD42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962275"/>
            <a:ext cx="1809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847525E-4C75-4615-B522-C57AB15C4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971800"/>
            <a:ext cx="1771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海伦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DC13A95-F641-49B9-B34B-F2D6EA2D9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962275"/>
            <a:ext cx="1809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BC7C19A-84CD-464C-8D24-7E5F36E02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971800"/>
            <a:ext cx="1771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8AA9CD6-23F2-453D-90ED-BBCC9935D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962275"/>
            <a:ext cx="1809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7DCC43D-B2AF-4869-AFA5-1AFB172C0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971800"/>
            <a:ext cx="1771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4E841F7-1981-4CA6-8AA9-327A8FC94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962275"/>
            <a:ext cx="1809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9AFF875-6B12-4CE1-902A-0CAB69571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971800"/>
            <a:ext cx="1771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00A8C46-631B-439A-87AC-ECEAEEED8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962275"/>
            <a:ext cx="2381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EC2F497-6649-4017-BA9A-1EB7AD636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971800"/>
            <a:ext cx="2343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1556C90-B72C-48DD-B91D-B0860997D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609975"/>
            <a:ext cx="1809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709422D-5501-48D0-AD83-E0413CF12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619500"/>
            <a:ext cx="1771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栾城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D7F17D5-BD23-40F6-8B9E-830A5C3F9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609975"/>
            <a:ext cx="1809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02C5C56-AE45-4397-80ED-A223E41A8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619500"/>
            <a:ext cx="1771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F8434E0-890E-4449-9F30-31D46DB07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609975"/>
            <a:ext cx="1809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5F49002-B7F3-4ED6-ACE8-83EDF3B5A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619500"/>
            <a:ext cx="1771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34B874F-8D90-450B-ABEB-CB89900E0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609975"/>
            <a:ext cx="1809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7B0D17D-9C69-4FB4-A247-32696C618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619500"/>
            <a:ext cx="1771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9975769-C215-46F7-8DDF-ECF5DB288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609975"/>
            <a:ext cx="2381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82F7E69-2E2D-43AB-9FA7-1D94AE262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619500"/>
            <a:ext cx="2343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B2F0974-9CB9-4C0D-B534-3FB6E35AC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257675"/>
            <a:ext cx="1809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2648AFC-AB7E-4E4F-94D0-99F06901E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267200"/>
            <a:ext cx="1771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沈阳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314FA18-CAD2-4C88-A679-1E5C960CC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257675"/>
            <a:ext cx="1809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97EC5A6-CBF5-4E67-AC54-62DBF8477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267200"/>
            <a:ext cx="1771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9CFB75C-FD7D-48B8-AC24-6342AE655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257675"/>
            <a:ext cx="1809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C45AAC7-0588-48C6-88C2-E87EB36CA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267200"/>
            <a:ext cx="1771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AADBE80-6147-427F-A196-77FA402AB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257675"/>
            <a:ext cx="1809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10A2EA3-BAD7-438A-BF09-319071D6B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267200"/>
            <a:ext cx="1771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ABDFD15-76A3-4255-9DEB-B0D59313B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257675"/>
            <a:ext cx="2381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BE8F9DC-0F3C-483E-83DD-956C585AB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267200"/>
            <a:ext cx="2343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3D22E41-B10F-4C91-86E8-D204C18DC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905375"/>
            <a:ext cx="1809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B9C4BFB-56C9-470B-9934-82932F2B3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914900"/>
            <a:ext cx="1771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禹城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0A3AD6F-99B4-4ECA-8CD4-14D8E4E83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905375"/>
            <a:ext cx="1809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B400F09-6B70-49ED-B6ED-AB5763D0A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914900"/>
            <a:ext cx="1771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2C8C1E09-7ED3-4AE1-A361-B98509666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905375"/>
            <a:ext cx="1809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C7787F3D-8BAA-429A-88A3-566B2BA88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914900"/>
            <a:ext cx="1771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4EBF902C-BE6F-4FC5-A266-EDEF34D5C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905375"/>
            <a:ext cx="1809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B02AF341-C873-4908-909B-0B64A090A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914900"/>
            <a:ext cx="1771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3536938C-0BC1-421D-9D89-B15CB3865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905375"/>
            <a:ext cx="2381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2EDCC5B6-F3EC-492A-9ABC-0FCDEF0B9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914900"/>
            <a:ext cx="2343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9F2E774C-6F22-400B-9648-CA05AD138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619750"/>
            <a:ext cx="9620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  <p:txBody>
          <a:bodyPr xmlns:a="http://schemas.openxmlformats.org/drawingml/2006/main" lIns="47625" tIns="28575" rIns="47625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000000"/>
                </a:solidFill>
              </a:defRPr>
            </a:pPr>
            <a:r>
              <a:rPr sz="17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结论：FQ、SY、YC总体接近；DQN在LC2010更好；PPO在HLA保持明显优势。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F19B2A07-F1DD-45C9-9959-3475C1ACF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15100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444444"/>
                </a:solidFill>
              </a:defRPr>
            </a:pPr>
            <a:r>
              <a:rPr sz="975" b="0">
                <a:solidFill>
                  <a:srgbClr val="444444"/>
                </a:solidFill>
                <a:latin typeface="Arial"/>
                <a:ea typeface="Arial"/>
                <a:cs typeface="Arial"/>
              </a:rPr>
              <a:t>成功seed按导师“产量、WP_ET、可比PFP_N至少一项严格领先”口径统计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5492B6FD-47AE-4659-B376-4ABBE48BA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444444"/>
                </a:solidFill>
              </a:defRPr>
            </a:pPr>
            <a:r>
              <a:rPr sz="1050" b="0">
                <a:solidFill>
                  <a:srgbClr val="444444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99258294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6D3BFF00-5FC9-4A3B-8479-FCD799E36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444444"/>
                </a:solidFill>
              </a:defRPr>
            </a:pPr>
            <a:r>
              <a:rPr sz="1125" b="0">
                <a:solidFill>
                  <a:srgbClr val="444444"/>
                </a:solidFill>
                <a:latin typeface="Arial"/>
                <a:ea typeface="Arial"/>
                <a:cs typeface="Arial"/>
              </a:rPr>
              <a:t>FQ｜数据表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9B26C9-F970-4FD8-B6B0-D90DAF7B2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57200"/>
            <a:ext cx="11239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富锦 2013：精确终值、DQN措施与seed证据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13ED81-C465-4541-9611-913F7510B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6680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EFCA55-EC13-4F92-A559-2AF876136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238250"/>
            <a:ext cx="17621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539227-6FD0-4EFE-ACBD-71C37DC3A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47775"/>
            <a:ext cx="17240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情景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45E46D-167E-4B8F-818F-7CA5A8307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1238250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91B96F-7414-4ED6-B551-A10798794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1247775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产量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3ACC96-1348-4F5B-80DA-751F20431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238250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F779FD-3DC2-405A-B384-9CCCC708A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247775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生物量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89AB25-BD6C-4B36-BB8C-E4F58FDFE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123825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C096C7-6AD1-4FDE-967A-9C87299F9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124777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灌溉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0D0D3C-BE26-4DD2-A1A7-17B35E561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123825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65BC23-E956-421F-B1EA-F4E94C824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124777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施氮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830D7F-C954-48DC-9630-65905445F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23825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34EF97-873F-4AC2-8C97-4709A75EA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124777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WP_ET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8EA6D9-2E8A-4DB6-8005-4CD20AD2A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23825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EB2295-E687-4573-8934-C0BE2E948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124777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PFP_N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F10882-FB84-450F-9CA6-D75FF210E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1238250"/>
            <a:ext cx="15716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B518062-EA01-45D6-99F4-563554607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1247775"/>
            <a:ext cx="15335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累积奖励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2678293-5B8D-47AA-A57F-C45E0510F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647825"/>
            <a:ext cx="17621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327E9FB-B89E-4E6E-9CAB-FE3C20986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57350"/>
            <a:ext cx="17240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Null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97F7D7E-0D2D-4AAA-9F95-EE3B9F346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1647825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9598B48-8F0E-43CC-96A4-23C890F1E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1657350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7429.0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FDD3B4C-51D9-4BAC-A416-4A266311D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647825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67A0CA9-3E15-47A0-992A-FB50F9CFC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657350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13539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F8FAEF7-A108-45A9-ACFD-63BCD329B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164782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8D95B77-8169-4185-8B7F-2BE8BAAAD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165735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0.0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2336D35-D54B-44EE-954D-CE14AD814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164782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224C296-76AC-4E45-8AD2-2762258AE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165735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0.0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9A6EA2E-9BAF-4278-BCA7-0770E1F84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64782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B502704-B77A-49FF-B0A0-4FD09C603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165735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2.03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5658BDF-3BB0-4D35-83B2-ECD760D5C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64782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8AAF93A-41CE-48CB-8B7B-E199057DE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165735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NA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1357398-116A-4FE5-8B8E-ACA222FCD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1647825"/>
            <a:ext cx="15716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FC08445-4CBE-431E-A3F2-212319AA9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1657350"/>
            <a:ext cx="15335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0.0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2C99A83-6F1F-4B17-A19D-142DF7227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057400"/>
            <a:ext cx="17621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ABD627D-07BE-42B0-8966-8A8F7DB3C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66925"/>
            <a:ext cx="17240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Recorded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D7092C5-3BA3-42C0-92E5-A629D0742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057400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E8B11A5-03BC-41E7-AD02-21658B6A6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2066925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7807.0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ECA00E4-DD34-4A16-B564-E07E6CE68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057400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12872E0-80F9-4A9D-BDFB-6537A9F7B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066925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13893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E9F2F31-98CE-4F3F-8B7E-8A5E04B3A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05740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46BB7B7-9EFC-4219-B350-AFDD1963D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06692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75.0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1DF2FA7-12FC-4303-8A9C-DFD0A4DB3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05740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61BF526-DF92-4017-8B1B-9AB699F68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206692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144.0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76229A5-D836-45B0-A8D0-7643E59DC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05740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25DBE12-D5F4-475C-A245-7444BC48C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206692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2.14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A25AC40-85BB-436C-8461-E44C26880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05740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04A42E6-612C-4E49-9E71-CA26FCBE1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206692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54.2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F1F1F82-1F06-4F01-9154-B412C3CB8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057400"/>
            <a:ext cx="15716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02FBF00-5397-478E-B9FB-88936449E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2066925"/>
            <a:ext cx="15335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-417.0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E5AC63D-4DA5-4EB1-BE0F-3116176F0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466975"/>
            <a:ext cx="17621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336F6DB-1E08-4DE7-8250-AAAD05D02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0"/>
            <a:ext cx="17240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DSSAT auto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569E51E-CCE2-47DD-B4A2-FEFEE8287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466975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17D93CB-BC13-45D4-B42F-2240600A5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2476500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7429.0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6B015B8C-E8B0-4759-BA81-D95BE8D8A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466975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90DC54F8-614F-42FF-994B-7B8404AA1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476500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13539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AA3224B-E8B2-4E40-968B-18E220ADB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46697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9E3DBF7F-B3AE-4BE4-B453-2A1ADC623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47650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0.0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38C81847-29FD-42C3-AAC0-896A79EA0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46697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EFAA3175-CB64-438C-A822-A6F1E68E8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247650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0.0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561AE683-B985-456B-BB24-6EF6E502D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46697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1649387A-1590-4A87-A47F-35AED0261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247650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2.03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A83AAB91-CE6B-469C-A063-9779209EE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46697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D6B8EEF5-BAE3-43AA-A29F-51727FCC3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247650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NA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B2920419-474A-4222-B262-0F0C1FF3E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466975"/>
            <a:ext cx="15716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B91B4CE6-EA7A-42AD-915F-D9F61520D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2476500"/>
            <a:ext cx="15335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0.0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E73B841B-A948-4DAD-894E-B1B53A967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876550"/>
            <a:ext cx="17621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E08C2E37-E6D4-4365-B7C1-54A5690E1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86075"/>
            <a:ext cx="17240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Official expert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C5BAA497-90F6-45EE-9C22-9093A1F94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876550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E480E123-24D1-4934-9D56-7E1EE159F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2886075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7381.0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347B9601-CCE5-47F8-AF2A-916794F44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876550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6B11A44B-FC1F-48BA-BAF5-BF61D266C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886075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12735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E96B54D2-63BF-404D-8A27-528097D1C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87655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50D375C5-6733-4DF4-A609-6B3274013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88607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198.8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543A92C4-38AB-47E6-B7C3-60EAD7667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87655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339E6593-A6D2-445C-A6DF-2D97CBD2F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288607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247.0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2B3CD978-D19F-4D53-A02F-D21AF9224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87655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A4F94A8F-C5B7-405A-A300-0C8B43878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288607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1.91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64E1D0C4-2775-4B09-9479-802AA8BAD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87655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C6E29507-3ADC-4727-B216-85526480F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288607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29.8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B3A1D9A9-DE0B-4B4E-B634-7E2E0F7CC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876550"/>
            <a:ext cx="15716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20522EC8-0549-4AB2-91F1-0753FAFAD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2886075"/>
            <a:ext cx="15335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-1433.8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F8343A4B-2964-41C8-A7D5-D579AAB89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286125"/>
            <a:ext cx="17621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F7BA50A1-CD02-4E57-9E7C-11290A9CC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95650"/>
            <a:ext cx="17240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DQN candidate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8B966F0B-5F49-4A0B-B042-68862F9F7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286125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C2A3AA54-85AF-4DD2-B8B7-2B9E98C63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3295650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7429.0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B754C35B-6001-47CA-B9E7-A23323CE5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286125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89AE81E5-A4E6-4A8B-B597-2B10A5FFF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295650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13539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6398F59E-F200-49DC-BD95-B590BC41E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28612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CBE884B9-5692-41A2-994C-11A70EC20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329565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0.0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2C2B3512-BDE4-4545-AA58-78DD77507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328612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0B212AB1-8796-4FE0-A3C9-7CA8C1C3F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329565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0.0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95DF8232-1A5E-4256-B554-7E1533E4F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28612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AC61C6FF-9F1D-4332-A718-290C90F16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329565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2.03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20E07554-E7BB-4E04-BAB4-49576DADC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28612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6D70D6E2-F998-400D-91ED-91D1F3514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329565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NA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1C37EA6D-983F-4202-A8B7-DB9AA0B51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286125"/>
            <a:ext cx="15716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F6C6E564-8C25-4ECD-87D7-7059172D5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3295650"/>
            <a:ext cx="15335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0.0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9669CF6B-93BC-40E1-BCA5-D796D8DE8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DQN阶段措施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2AAEA350-8BDC-4387-BCBB-4DEB85356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62450"/>
            <a:ext cx="676275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  <p:txBody>
          <a:bodyPr xmlns:a="http://schemas.openxmlformats.org/drawingml/2006/main" lIns="47625" tIns="28575" rIns="47625" bIns="28575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DAP7: I0.0/N0.0; DAP30: I0.0/N0.0; DAP45: I0.0/N0.0; DAP60: I0.0/N0.0; DAP80: I0.0/N0.0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DFE53E4B-7203-4D87-8D37-C2A0D7027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0005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结果判定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EBE9664F-5590-4AF2-AC7A-DCD2D396E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362450"/>
            <a:ext cx="4191000" cy="166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  <p:txBody>
          <a:bodyPr xmlns:a="http://schemas.openxmlformats.org/drawingml/2006/main" lIns="47625" tIns="28575" rIns="47625" bIns="28575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代表候选未严格领先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DQN总量：I0 / N0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产量差：-378.0 kg/ha (-4.8%)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WP_ET差：-0.11 (-5.1%)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PFP_N差：NA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胜出：无；seed：0/3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E6CB0004-F20D-462D-8192-332A7ECCB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15100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444444"/>
                </a:solidFill>
              </a:defRPr>
            </a:pPr>
            <a:r>
              <a:rPr sz="975" b="0">
                <a:solidFill>
                  <a:srgbClr val="444444"/>
                </a:solidFill>
                <a:latin typeface="Arial"/>
                <a:ea typeface="Arial"/>
                <a:cs typeface="Arial"/>
              </a:rPr>
              <a:t>差值=DQN代表策略−四基线中该指标最高可比值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234CB0E1-F89D-418E-8FD9-335376F4D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444444"/>
                </a:solidFill>
              </a:defRPr>
            </a:pPr>
            <a:r>
              <a:rPr sz="1050" b="0">
                <a:solidFill>
                  <a:srgbClr val="444444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49927927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da49bb6b5e449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400300" y="420386"/>
            <a:ext cx="7391400" cy="5941028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70C7B3-C3FC-4F0C-9F7F-E3CB344F3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572250"/>
            <a:ext cx="333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444444"/>
                </a:solidFill>
              </a:defRPr>
            </a:pPr>
            <a:r>
              <a:rPr sz="900" b="0">
                <a:solidFill>
                  <a:srgbClr val="444444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61304450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B976CFA4-E5A9-41B6-AE07-0AC73B57B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444444"/>
                </a:solidFill>
              </a:defRPr>
            </a:pPr>
            <a:r>
              <a:rPr sz="1125" b="0">
                <a:solidFill>
                  <a:srgbClr val="444444"/>
                </a:solidFill>
                <a:latin typeface="Arial"/>
                <a:ea typeface="Arial"/>
                <a:cs typeface="Arial"/>
              </a:rPr>
              <a:t>FQ｜数据表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02D0A2-0168-435C-AF96-0C1225855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57200"/>
            <a:ext cx="11239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富锦 2014：精确终值、DQN措施与seed证据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D653C8-02E7-41E5-BC9C-33306AA46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6680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A9E0AA-0791-42D6-88AD-15177AA73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238250"/>
            <a:ext cx="17621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0994A2-17C4-414D-A425-3F67B1CE7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47775"/>
            <a:ext cx="17240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情景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CB870D-E3E1-4B1E-884C-7B5B71B64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1238250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06B038-4A12-45F0-BEF5-21F330FA7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1247775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产量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AF2D54-B1A5-4838-B2CA-7ABB8BB63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238250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94F750-D5CA-491E-890D-86A575BAF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247775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生物量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D19FE9-C06D-4A34-983C-82A115ECB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123825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AB57CB-5C66-420C-85AC-A7699287E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124777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灌溉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125F9C-72C2-47D7-B062-2560087DA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123825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7CDCBD-AFE7-4B3A-A984-9AAD6A844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124777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施氮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4AC7AB-7933-4C77-93BF-BDD98FF14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23825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13BB44-0D22-466A-891F-80E432F3D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124777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WP_ET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AC4653-EA88-4688-8A6F-6FE04B631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23825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FAB2E3-149A-48B1-A63A-F70000CCA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124777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PFP_N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895F647-A8E9-4548-9BAB-453A1A00E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1238250"/>
            <a:ext cx="15716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79062C3-543B-47F5-95AF-61DC99AC3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1247775"/>
            <a:ext cx="15335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累积奖励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350F38B-6621-4A83-A15D-405F0289E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647825"/>
            <a:ext cx="17621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DF39442-7B9A-4491-A81F-6556B661A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57350"/>
            <a:ext cx="17240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Null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AF67A1C-A5C4-4B5E-BD5E-BDCF15A0D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1647825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5FD234D-A711-435B-B27B-86B168249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1657350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8014.0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C630475-A97A-4ECB-A095-5F3841D1C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647825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0F3E038-9EDB-42B2-9EEE-1B0247A9C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657350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14166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7D5AE7F-2CFC-4BFF-9AF8-AE2FAEB2E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164782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E8F828A-7848-4B8A-B224-C72956C48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165735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0.0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41DC8EE-91BF-4DF7-8268-896894057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164782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A1A9249-4ECF-499E-85D2-0F0079701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165735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0.0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6D5321E-5E77-4F7A-95BC-80C822E92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64782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A952C97-179E-4B68-86DC-5B085D788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165735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2.28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699BAC1-10B6-46DC-A3C5-C5F479EC6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64782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B4AA1F2-3AB1-44F9-B452-339A966EE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165735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NA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4F65946-00B2-4AAB-B115-2C4817D56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1647825"/>
            <a:ext cx="15716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4438924-771E-4DCF-8582-88F7814B0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1657350"/>
            <a:ext cx="15335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0.0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658E2D0-ABF5-4511-8F4B-75C3BC44E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057400"/>
            <a:ext cx="17621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C9182CA-C0A6-4A92-89C7-CE60FA69D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66925"/>
            <a:ext cx="17240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Recorded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AAB5700-2EEB-4F93-9592-32AC71759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057400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63FBE50-68C8-425D-B3A3-79D636A46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2066925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8273.0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8CBBECB-3881-4943-8D65-E8EF106E8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057400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99B1123-EFAE-4551-AC0D-6D11F77E6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066925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14355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3337949-F7EC-46DE-9CDE-A4C3099D6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05740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B7FB841-7050-4713-BEE2-20FD8AABE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06692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75.0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F994FE1-85B4-4EF1-A992-29B37A38E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05740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E6620BC-FDAC-4E9F-9A4E-99B661D59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206692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144.0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AEDAEDF-7A32-4903-AA1D-074055697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05740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1D766FC-3DB4-4EA3-9682-F09D73E9A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206692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2.28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ED93BCD-43EA-4BEA-A368-833026E12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05740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53B2A21-2FDA-4F50-BF9C-4ED44298E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206692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57.5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FEC101D-C081-43EF-828D-E4EE0361B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057400"/>
            <a:ext cx="15716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D773CEA-FB57-4C18-9561-E7B50E8A3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2066925"/>
            <a:ext cx="15335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-536.0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39C77E9-804C-422B-A3C1-A0DF5BABF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466975"/>
            <a:ext cx="17621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896D110-F726-4BF5-B8D3-176A75F5D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0"/>
            <a:ext cx="17240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DSSAT auto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B5547EA-F74A-4B86-A9E9-F226C7B18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466975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3B8AEE5-5B62-427F-A5FE-E88DBFE87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2476500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8014.0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0B5A664-F7AA-407E-B6B4-F2889ABFE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466975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961CFB63-D51B-4A45-80BA-DC6194AD8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476500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14166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27C81419-904E-4969-9673-B807C41A7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46697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D501A76A-B52C-47C1-AC11-C56F2451A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47650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0.0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DA2929D8-09B7-4D3E-B763-68E3142D1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46697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E9020A8D-9839-4163-8F77-0B43602CD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247650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0.0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FC7EB820-42F9-4FD5-BB1E-5B05B663C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46697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DE20C813-42BA-4FE7-90C1-50511E5AA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247650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2.28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F8B791F0-FE6A-4EB8-A972-A9499C681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46697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9B4DACED-1A54-46BC-AAE0-40FE14B48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247650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NA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19D59AF8-F188-4137-90A6-E83165E75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466975"/>
            <a:ext cx="15716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A03F133A-8982-47DB-B536-24FAA9B4F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2476500"/>
            <a:ext cx="15335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0.0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6982F30E-0A9D-47D5-B3CF-ECE94A2C9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876550"/>
            <a:ext cx="17621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D7DB4793-80EC-4592-80C8-97EE901D1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86075"/>
            <a:ext cx="17240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Official expert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3C69FD6F-79C2-4379-98E8-8C301E286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876550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F92B9672-D2F3-4377-964C-ABE7243EE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2886075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8643.0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43DE93A6-37C3-4CC3-BBC1-0C471F342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876550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01AEE9DE-2ECE-4765-89F3-1D9BF08EF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886075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13856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08591DE1-4D86-4340-955F-F0319AC5A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87655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46A2091B-F6E9-4658-8B17-7CF36141E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88607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228.8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04308B10-61E4-4704-9846-9F080DC3F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87655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09BE1C0F-9043-448B-BF43-1195130B9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288607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247.0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CDD8DEF4-1E05-482B-A9BE-AA0913780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87655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1D0DCED4-636D-486F-8D1D-72C6E68C2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288607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2.40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EF6EBDF8-18B2-4107-AB5A-B42311DB1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87655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1D84EC57-8669-4B81-86B3-3721D903E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288607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34.9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177F15E7-0AB8-406B-AFFC-F8DE06959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876550"/>
            <a:ext cx="15716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1BE3E50C-1A36-4496-9D65-F70D27FCA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2886075"/>
            <a:ext cx="15335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-834.8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24350317-3994-4C96-B854-E61794DD2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286125"/>
            <a:ext cx="17621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3F5BB517-448D-4E73-A368-9008C1BD6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95650"/>
            <a:ext cx="17240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DQN candidate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9DDFD72B-4259-4709-81B6-792114DA4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286125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328EC427-F5CF-42B4-9825-AA1135C8B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3295650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8702.0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04BF09E1-CAC7-463F-AE1E-FD50796EF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286125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56DD4431-4E2C-4914-B49F-803767D0C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295650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14435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2B6AFED5-1A03-4000-B33C-CE527FF34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28612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25DD9340-0FD5-4CFA-AE34-FD10DE708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329565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60.0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A39E0B8A-5D1E-4E19-9B76-E2603F190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328612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96BC3A96-0513-4801-BCF2-AF8354410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329565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100.0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CC3331CD-7D46-43E2-B24E-EC6065428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28612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6708E1D6-5929-4C1A-8CEA-C6DDFBC49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329565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2.42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D5C45C0A-BD5B-4FDE-B509-51B9BD96B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28612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BD64E017-9E29-4D11-99C1-94053DDE8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329565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87.0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1E2893EB-FBAA-40F6-A6B9-8A37BE9B6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286125"/>
            <a:ext cx="15716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B8F1412D-BE00-4602-98B8-C9AB8DB86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3295650"/>
            <a:ext cx="15335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128.0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EC55438D-19E6-4ACD-B36C-3517BCEDE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DQN阶段措施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C3D60AC0-9F9B-44E8-8EAE-E89C2484E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62450"/>
            <a:ext cx="676275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  <p:txBody>
          <a:bodyPr xmlns:a="http://schemas.openxmlformats.org/drawingml/2006/main" lIns="47625" tIns="28575" rIns="47625" bIns="28575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DAP7: I0.0/N100.0; DAP30: I15.0/N0.0; DAP45: I15.0/N0.0; DAP60: I15.0/N0.0; DAP80: I15.0/N0.0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6AE0E56C-3358-424D-8A7B-4D35E9C7D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0005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结果判定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BCB5AEFC-5AA8-4499-8C90-27DAF3504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362450"/>
            <a:ext cx="4191000" cy="166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  <p:txBody>
          <a:bodyPr xmlns:a="http://schemas.openxmlformats.org/drawingml/2006/main" lIns="47625" tIns="28575" rIns="47625" bIns="28575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代表候选至少一项严格领先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DQN总量：I60 / N100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产量差：+59.0 kg/ha (+0.7%)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WP_ET差：+0.02 (+0.8%)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PFP_N差：+29.5 (+51.3%)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胜出：yield；WP_ET；PFP_N；seed：1/3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33E29E57-AAB7-410B-ADC0-41DB4110F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15100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444444"/>
                </a:solidFill>
              </a:defRPr>
            </a:pPr>
            <a:r>
              <a:rPr sz="975" b="0">
                <a:solidFill>
                  <a:srgbClr val="444444"/>
                </a:solidFill>
                <a:latin typeface="Arial"/>
                <a:ea typeface="Arial"/>
                <a:cs typeface="Arial"/>
              </a:rPr>
              <a:t>差值=DQN代表策略−四基线中该指标最高可比值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2D0D2CF0-B030-48E3-B8A3-8E6972BEC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444444"/>
                </a:solidFill>
              </a:defRPr>
            </a:pPr>
            <a:r>
              <a:rPr sz="1050" b="0">
                <a:solidFill>
                  <a:srgbClr val="444444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201758329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777852e9ae4b5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400300" y="420386"/>
            <a:ext cx="7391400" cy="5941028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856247-D271-4BF6-88E7-F766FCE9D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572250"/>
            <a:ext cx="333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444444"/>
                </a:solidFill>
              </a:defRPr>
            </a:pPr>
            <a:r>
              <a:rPr sz="900" b="0">
                <a:solidFill>
                  <a:srgbClr val="444444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214445030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679B296E-8A32-402D-8EC1-5F8251010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444444"/>
                </a:solidFill>
              </a:defRPr>
            </a:pPr>
            <a:r>
              <a:rPr sz="1125" b="0">
                <a:solidFill>
                  <a:srgbClr val="444444"/>
                </a:solidFill>
                <a:latin typeface="Arial"/>
                <a:ea typeface="Arial"/>
                <a:cs typeface="Arial"/>
              </a:rPr>
              <a:t>FQ｜数据表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C3223E-341E-434B-82F8-3437A913A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57200"/>
            <a:ext cx="11239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富锦 2016：精确终值、DQN措施与seed证据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123829-0AF7-4C30-BC3D-CB020E6DA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6680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F47E07-4F3A-4234-AFF0-6F5BECA56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238250"/>
            <a:ext cx="17621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BE886A-9F7B-4F64-988C-7FADB93AC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47775"/>
            <a:ext cx="17240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情景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84EA5F-7B65-4194-B600-23AC8ADD4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1238250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78F88F-0408-4879-A683-632776ED0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1247775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产量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BAD64C-65F5-4F7D-8914-D9BCC8BAE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238250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48DBE5-4CED-480C-95CD-BBD10266B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247775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生物量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37AF7D-81BE-4B20-95E6-59CF3F262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123825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2E7543-77E9-4E21-9A7D-DB3BB07A4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124777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灌溉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A06D84-3522-40D8-9B67-1422DBBD4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123825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2052B4-C3EB-44EE-ABB2-A60977B35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124777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施氮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326D44-C158-464E-8C89-C8BFA6E68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23825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EC3619-5204-4B12-B292-D99217563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124777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WP_ET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2E2294-B305-419C-B6B4-838B54A7B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23825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7C4614-175C-41CC-A2A5-9BC1A55B1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124777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PFP_N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DD7AAB9-781F-4FC0-8713-A99F9CD17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1238250"/>
            <a:ext cx="15716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65B57B3-5CCD-4E0C-8E8D-FDC5BF842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1247775"/>
            <a:ext cx="15335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累积奖励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06C594A-C1E2-4018-9345-BD2821310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647825"/>
            <a:ext cx="17621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8024FBC-9836-435C-BA60-2DC424EFD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57350"/>
            <a:ext cx="17240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Null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DCE8BE1-8BC8-4518-BA3F-E8A72C34B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1647825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BEFEEE1-3562-4F68-AFA9-BF92324A6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1657350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7066.0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207C070-1A82-4446-B120-F8DE74F59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647825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E36FFBB-0BA2-42E6-810C-F0BB217ED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657350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13148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1540738-D682-4D88-8403-C6D606A75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164782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CE620B3-EDF3-4F5F-8F36-25AB59252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165735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0.0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10932F9-7B47-4B4E-953C-29E1DB3DF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164782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015845D-095A-4F2A-B79D-8B1F6CDAE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165735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0.0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17EE180-AC37-47ED-9016-1AF98F4B7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64782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5A07A9C-E340-4F00-9C2B-FA18F2D76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165735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2.40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69F390D-B30D-4735-B428-CD82BF535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64782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543A112-B842-4C18-94DE-A533FCD90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165735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NA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443E402-3B83-401C-8D93-1DFFA4597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1647825"/>
            <a:ext cx="15716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BE18119-5195-4B22-B010-696ADEA1D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1657350"/>
            <a:ext cx="15335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0.0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51C05E1-BE01-4C81-8B58-7CF4C9587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057400"/>
            <a:ext cx="17621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48539B5-FD90-4FBF-B5A1-4C6D2C544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66925"/>
            <a:ext cx="17240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Recorded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6CE86B0-233F-4D1F-8E0F-5D42F99E3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057400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37CCF2A-BC52-4E24-A248-1F290650D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2066925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7933.0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1670495-9D14-4F81-AAEB-A75A9A507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057400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A6C98C5-0DCA-46BA-8798-77A0489CF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066925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14008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BA24CAC-3876-48F2-9A16-FEBCA8001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05740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7AAAE5D-3FCF-4754-A0F0-AF44172B1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06692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75.0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A0C739F-B11A-4003-AF8B-23302530C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05740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7C785A9-39A3-4300-B6B3-4893BF49F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206692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144.0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6900B08-5846-462E-A5B3-4F3036997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05740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8B6877B-CB87-4071-87EA-9114E5A96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206692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2.50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4D8CBBE-3784-46CE-88FF-E3F4832DD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05740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4E25C7B-7CE0-499D-A5AE-0558C8FB1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206692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55.1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E3EB0A0-903C-431C-B431-928346E99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057400"/>
            <a:ext cx="15716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3F77D2B-F14C-4B88-A1B9-4C3BEE663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2066925"/>
            <a:ext cx="15335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72.0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E64B9D7-C739-4A34-9401-B2078A493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466975"/>
            <a:ext cx="17621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C2D3FE5-274B-4BF1-8457-2734376D8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0"/>
            <a:ext cx="17240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DSSAT auto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92931CB-3466-4E44-81D2-E8F44ABBE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466975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F7359B9-1DC8-4908-8A48-5D3055FE5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2476500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8012.0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66713C5E-47D0-4FFA-8145-2786D6860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466975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64396071-CFE0-4A8F-946E-AEE8FDF5A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476500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14095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CC0FA06-31F4-455B-9818-7CC96615A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46697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109BCA9A-B600-4633-BC4C-FB995BEA9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47650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59.9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7E4AAF93-E893-45B3-A55C-320B02081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46697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ACAA231D-B216-4297-B4BD-9CF99346C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247650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0.0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1FF15EA7-D051-48FD-B776-9503A5A07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46697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89E15C53-354B-436C-A48C-A7E7C1AAF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247650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2.48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684EA131-14E5-4274-AFCF-A9D93D901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46697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26924CDA-19CB-4DF7-BBC0-B4DEEE9F7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247650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NA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EB91F071-18D2-49E6-9EED-DC867F4D0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466975"/>
            <a:ext cx="15716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980FA63D-186B-4A7A-843E-37F722C0C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2476500"/>
            <a:ext cx="15335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886.1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72BD0017-3B75-4A7F-8EAB-D5B44237C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876550"/>
            <a:ext cx="17621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A46EA0C3-D471-4514-A0D5-9C11899A5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86075"/>
            <a:ext cx="17240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Official expert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51CA3AB0-59E4-41CC-A257-EC766981E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876550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292D2685-AF43-4702-8B96-A85B47DE0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2886075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7940.0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116CDCEA-5142-4B76-B924-84C48BDF7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876550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AD4313D6-8A43-4FEE-8DD9-7F09E74CB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886075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13769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6760AD0C-8BE7-4AE1-9C65-841D7D38D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87655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51402271-C75A-4612-8D75-35E9EB31F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88607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198.8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9EDA828B-6666-41E1-A271-A05D23711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87655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103888A4-0AF9-4C6B-88A2-CB7C1D479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288607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247.0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19838CC1-820E-4F65-9EAC-DD24D7051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87655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28D65D88-CDD4-4EA8-ABC5-5BD6B5AA6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288607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2.35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095D2D42-B425-4412-8F37-1A1FC200F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87655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7860AB68-383D-424B-8B1D-7FA1A5BC8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288607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32.1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6FCE8C6C-6174-425A-BEAF-321F7E75D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876550"/>
            <a:ext cx="15716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78D37687-AEB4-4BE7-A148-4A76C1488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2886075"/>
            <a:ext cx="15335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-559.8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7AE659F9-D275-4101-A49E-36E5E0373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286125"/>
            <a:ext cx="17621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1F710975-43FE-42E0-8A32-B9578A6F1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95650"/>
            <a:ext cx="17240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DQN candidate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6404D8E1-7F70-4538-A55D-8E1877FA0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286125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F16051CA-10B5-4E6B-A769-E757A696B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3295650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8012.0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B1F6523E-A36F-46C8-9E93-699916215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286125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98548D45-FB42-4979-88E9-BAF1826A8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295650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14095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7DF70E94-AE44-4BB0-A824-71F4A4926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28612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D684361B-2D4B-4573-A81B-7E0E5700E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329565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30.0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89DAAA62-E371-4CA1-811E-52F91E0A2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328612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73C4DA9B-6F50-4426-9F03-545EA05EE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329565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0.0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B8B6CC4D-A1D8-48C9-B39A-EEEF4BC62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28612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D4F68B04-9D32-4341-AE24-6D7D968ED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329565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2.53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F62E95CC-DA9D-4454-86FC-C8122F6DB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28612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E5C899D8-8E27-4021-B399-09CA9EF2D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329565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NA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27ACA48F-BE02-4C8F-8DE1-7733771F1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286125"/>
            <a:ext cx="15716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FE7D1142-BAC9-42D2-91B7-A529B8F41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3295650"/>
            <a:ext cx="15335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916.0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0B162F77-C797-45C3-9865-50E8E47CA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DQN阶段措施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481585B5-7F07-41DC-8618-354F9AB9E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62450"/>
            <a:ext cx="676275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  <p:txBody>
          <a:bodyPr xmlns:a="http://schemas.openxmlformats.org/drawingml/2006/main" lIns="47625" tIns="28575" rIns="47625" bIns="28575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DAP7: I0.0/N0.0; DAP30: I0.0/N0.0; DAP45: I0.0/N0.0; DAP60: I0.0/N0.0; DAP80: I30.0/N0.0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3872EE0C-F0EB-4EBD-8807-F11FF7F24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0005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结果判定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876F4BCE-39F5-44D8-8EC4-FEE57CC85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362450"/>
            <a:ext cx="4191000" cy="166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  <p:txBody>
          <a:bodyPr xmlns:a="http://schemas.openxmlformats.org/drawingml/2006/main" lIns="47625" tIns="28575" rIns="47625" bIns="28575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代表候选至少一项严格领先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DQN总量：I30 / N0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产量差：+0.0 kg/ha (+0.0%)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WP_ET差：+0.03 (+1.2%)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PFP_N差：NA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胜出：WP_ET；seed：2/3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AEFAD613-0905-44A8-8900-BE114B654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15100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444444"/>
                </a:solidFill>
              </a:defRPr>
            </a:pPr>
            <a:r>
              <a:rPr sz="975" b="0">
                <a:solidFill>
                  <a:srgbClr val="444444"/>
                </a:solidFill>
                <a:latin typeface="Arial"/>
                <a:ea typeface="Arial"/>
                <a:cs typeface="Arial"/>
              </a:rPr>
              <a:t>差值=DQN代表策略−四基线中该指标最高可比值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C4726918-E009-4024-BD05-5189C01B6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444444"/>
                </a:solidFill>
              </a:defRPr>
            </a:pPr>
            <a:r>
              <a:rPr sz="1050" b="0">
                <a:solidFill>
                  <a:srgbClr val="444444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53948206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d6bd7b0671463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400300" y="417835"/>
            <a:ext cx="7391400" cy="5946131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8F5F79-B13B-44DD-B948-63DA9C211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572250"/>
            <a:ext cx="333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444444"/>
                </a:solidFill>
              </a:defRPr>
            </a:pPr>
            <a:r>
              <a:rPr sz="900" b="0">
                <a:solidFill>
                  <a:srgbClr val="444444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22657577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2430C832-B752-4182-8EA9-56D217831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444444"/>
                </a:solidFill>
              </a:defRPr>
            </a:pPr>
            <a:r>
              <a:rPr sz="1125" b="0">
                <a:solidFill>
                  <a:srgbClr val="444444"/>
                </a:solidFill>
                <a:latin typeface="Arial"/>
                <a:ea typeface="Arial"/>
                <a:cs typeface="Arial"/>
              </a:rPr>
              <a:t>FQ｜数据表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7DEB0A-64B1-4F6B-82F9-2243E010B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57200"/>
            <a:ext cx="11239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富锦 2019：精确终值、DQN措施与seed证据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4541CC-B107-4AF1-9A1C-B4420A351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6680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872C81-4B7F-459E-8BE4-371DADBB7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238250"/>
            <a:ext cx="17621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F06D7B-21F2-4CF3-9021-71C1B174A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47775"/>
            <a:ext cx="17240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情景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721779-CD24-46CF-83BC-844F702A1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1238250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FA49D1-E83A-4AAF-80A3-205D912C4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1247775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产量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D0AEDC-C3C5-4521-A33D-C30E38237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238250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8C8667-1476-417B-9388-D645D53AD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247775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生物量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280A0F-1E9A-413B-94E3-52F02633B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123825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BD4A7C-E3F2-4A91-B29A-18DA8C6A2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124777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灌溉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8E1238-2E97-4B7D-9DB4-2F6F44287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123825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8F432E-9585-4E27-92C0-C4CAF1973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124777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施氮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E71776-18BE-42D6-962F-BBE5FB22D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23825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259915-18DB-4058-81E7-3E7814FDA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124777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WP_ET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30E94D-4ACB-4771-A379-3917043EA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23825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AD20EE-1F4A-4614-999F-1AEFDB674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124777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PFP_N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11704AA-22DA-4A60-BC15-EB305CAEA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1238250"/>
            <a:ext cx="15716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FAA720E-61DE-495B-B904-69871042D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1247775"/>
            <a:ext cx="15335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累积奖励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7D584CF-76A3-4949-A7A0-7C4B18872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647825"/>
            <a:ext cx="17621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1A18DCC-2009-4A0A-B9BD-DB3DE9FD9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57350"/>
            <a:ext cx="17240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Null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740FBC3-BA82-465E-875E-7A98439B6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1647825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3E9AA2F-9860-4FDF-B359-21C63DF70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1657350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7050.0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D5F3AC6-F130-4EBD-9E17-A6FF2ED27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647825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B07C2C5-86F4-4007-9036-0AF1C3144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657350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13565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1C0E6D2-508B-412C-A53F-B66BE4C28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164782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42E79FC-3339-4C64-BFD4-6A2E04FF8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165735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0.0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21FEA10-B6E6-4E82-B8DD-FCD2DCED4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164782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99DC61B-E93C-4E82-916D-A7BCEE94F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165735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0.0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EAF76E5-E076-406D-BF94-F1FD2F0D8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64782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1DE521E-224E-465C-BB2D-8BCEBECC9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165735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2.55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63E5EBE-1280-482F-8418-C0EB83885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64782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FA062DF-E9FA-4837-AE0B-86605FC0B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165735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NA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C84FA8A-21C6-48BB-80FB-6737F765A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1647825"/>
            <a:ext cx="15716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EF8A382-A8D1-4857-BFFB-4AD4AAB46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1657350"/>
            <a:ext cx="15335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0.0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78487CB-E913-4D9A-AB2F-6AD299818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057400"/>
            <a:ext cx="17621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6CFD090-8982-42F6-A052-2ED7A4DC7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66925"/>
            <a:ext cx="17240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Recorded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7716E53-2D9B-4716-B4FB-B98956CD1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057400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2815ABA-556A-406D-8AAE-16E917D48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2066925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8041.0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B7D63A8-BBE6-480B-A4DB-44B53BDD2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057400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4A25D61-017D-4409-AAE9-735E7341A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066925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14540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730B40A-F766-4876-AE5B-ACA45F3D3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05740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5CB9DD4-9422-4B26-8B1C-E0A66A9C7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06692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75.0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E5794E5-08FA-4666-947A-39D20B66C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05740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2458AE2-F63F-4D64-A2E7-E3A5699B2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206692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144.0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8BA67A9-5C80-4B21-8355-0B74FA3E1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05740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CF0C773-9D0B-4E77-B3FC-CBCF2048F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206692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2.67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35888C4-6C02-432E-9E5B-C2A90C8E6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05740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608E3BA-F4D0-41D2-89A6-2F7BC21D5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206692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55.8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0B348ED-6E8B-4E6E-88F6-FA0E1A7D4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057400"/>
            <a:ext cx="15716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BF3023A-080A-44D4-B7E6-80B3EEC8C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2066925"/>
            <a:ext cx="15335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196.0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A96B2EC-29E4-40FA-9E79-4E17D3294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466975"/>
            <a:ext cx="17621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6282350-37E5-4F7E-8EF8-DE4527FA5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0"/>
            <a:ext cx="17240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DSSAT auto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8920E36-1A70-4701-8DB1-2F5D272EF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466975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D6C3881-878E-42E5-9023-808181D02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2476500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8458.0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738FF2E-FFA4-42AD-BCED-DBD15CF0D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466975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22483DC-95EB-48D9-8FE1-B28B7C0B9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476500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14959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41B8F8B2-806A-4A45-A5E0-488F30743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46697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32FE0B5B-741E-4ABF-BB83-32BCCD103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47650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114.5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E78E2F71-95A6-489D-AD5B-12C038F69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46697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FBD9F115-B7C8-468E-BB5F-3645521EA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247650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0.0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D7C93E86-2009-4C2D-9865-F49C445A1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46697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2DEC0BEA-2EBF-4563-83B9-68BDF10BD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247650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2.46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A324D9A0-4148-4DB0-BAA3-C923B9402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46697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62A3FA19-D6B3-4FB3-AAE5-10F433664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247650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NA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E7B83871-E8AC-40B6-B161-05B177B56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466975"/>
            <a:ext cx="15716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C32B717E-889F-488A-9BC2-93A714B3C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2476500"/>
            <a:ext cx="15335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1293.5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E567CE28-47DA-4093-9A06-03F0C2A06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876550"/>
            <a:ext cx="17621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2948DBFE-A388-4234-99D9-0CBF41D49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86075"/>
            <a:ext cx="17240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Official expert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2E67B325-6698-42C2-989D-9445D6198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876550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3499413A-F5F2-493F-830E-7AC4E49A3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2886075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8821.0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1A0D88F4-510E-4335-87B4-47E119C73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876550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F7EBCEAE-E64B-4A82-B53D-BCF368A36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886075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15011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8BEA6AC2-D459-4906-B797-CB894B1AD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87655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AB548326-731E-4132-8539-DA450ACCE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88607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228.8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026A0B13-DD54-4425-B216-FD7B23AA7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87655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2270C5F6-6E30-4B9E-8E3E-647E5D407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288607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247.0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EA5FD3D0-7942-4695-8683-85B3242E7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87655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FB9E4971-3AC3-4882-9898-563D90C85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288607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2.54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39B7825F-4279-48AF-BEAA-2939B418A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87655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28F1E400-6644-4B08-B650-0356549CE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288607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35.6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087C8864-3459-4D80-ABB2-007DF1085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876550"/>
            <a:ext cx="15716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ED74D6F5-D416-4D99-B633-5FA0784A5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2886075"/>
            <a:ext cx="15335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307.2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3A980758-2E17-42C6-BB38-F4D48F4C4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286125"/>
            <a:ext cx="17621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96CAC5C0-EF46-4A21-A114-6D4BD04BA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95650"/>
            <a:ext cx="17240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DQN candidate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678F1D87-1777-4329-B2F1-2AABDD0D5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286125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A6AAB19B-B036-4E1F-B0A0-C9D6D34BD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3295650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8838.0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A09642C8-EFB5-4689-BA9C-D3D8961E8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286125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FB374584-8A70-48BF-9814-4BB4EB545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295650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15309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0BC6D3E0-DDF2-4F33-B54A-8F93BB23A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28612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EBBFDA00-2245-4E1E-BCD4-390DB88EF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329565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75.0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9E168131-5CEA-4F9E-807D-D2009EB05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328612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C95EC27A-1902-4736-AE7B-822931A7B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329565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0.0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600B390F-57C6-45FD-9F91-E8AEE13A2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28612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A803DDA8-CA15-4595-A522-31BFB8DEA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329565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2.63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B362B899-2029-4B3C-8DDF-EBDF624F0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28612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C5FBB792-D73C-42F0-8E4A-FE8157463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329565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NA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95968C4D-52CA-442D-A6E8-A5CE1DD40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286125"/>
            <a:ext cx="15716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CD01D36A-A058-46C9-8047-E60BD2585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3295650"/>
            <a:ext cx="15335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1713.0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A12CD35D-F5DC-4C6F-BA14-F3E43F305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DQN阶段措施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E56D9A4B-C050-446C-9773-6D67CBAB1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62450"/>
            <a:ext cx="676275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  <p:txBody>
          <a:bodyPr xmlns:a="http://schemas.openxmlformats.org/drawingml/2006/main" lIns="47625" tIns="28575" rIns="47625" bIns="28575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DAP7: I15.0/N0.0; DAP30: I15.0/N0.0; DAP45: I15.0/N0.0; DAP60: I15.0/N0.0; DAP80: I15.0/N0.0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65B8EEBF-D237-47B6-8DFE-515F4DD59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0005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结果判定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1F3DC426-7EF2-445C-9CAC-182EA9E65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362450"/>
            <a:ext cx="4191000" cy="166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  <p:txBody>
          <a:bodyPr xmlns:a="http://schemas.openxmlformats.org/drawingml/2006/main" lIns="47625" tIns="28575" rIns="47625" bIns="28575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代表候选至少一项严格领先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DQN总量：I75 / N0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产量差：+17.0 kg/ha (+0.2%)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WP_ET差：-0.04 (-1.5%)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PFP_N差：NA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胜出：yield；seed：3/3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45CC704A-9BEF-4D4F-A155-9D1B623E8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15100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444444"/>
                </a:solidFill>
              </a:defRPr>
            </a:pPr>
            <a:r>
              <a:rPr sz="975" b="0">
                <a:solidFill>
                  <a:srgbClr val="444444"/>
                </a:solidFill>
                <a:latin typeface="Arial"/>
                <a:ea typeface="Arial"/>
                <a:cs typeface="Arial"/>
              </a:rPr>
              <a:t>差值=DQN代表策略−四基线中该指标最高可比值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8DDEF6F8-685A-4D58-B4BA-DE3265B37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444444"/>
                </a:solidFill>
              </a:defRPr>
            </a:pPr>
            <a:r>
              <a:rPr sz="1050" b="0">
                <a:solidFill>
                  <a:srgbClr val="444444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24310805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46daa947ee477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400300" y="420386"/>
            <a:ext cx="7391400" cy="5941028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AE6DBC-F148-42EA-AC6F-380D669C2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572250"/>
            <a:ext cx="333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444444"/>
                </a:solidFill>
              </a:defRPr>
            </a:pPr>
            <a:r>
              <a:rPr sz="900" b="0">
                <a:solidFill>
                  <a:srgbClr val="444444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204998728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533105BF-B387-4F76-A891-20F9069A4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444444"/>
                </a:solidFill>
              </a:defRPr>
            </a:pPr>
            <a:r>
              <a:rPr sz="1125" b="0">
                <a:solidFill>
                  <a:srgbClr val="444444"/>
                </a:solidFill>
                <a:latin typeface="Arial"/>
                <a:ea typeface="Arial"/>
                <a:cs typeface="Arial"/>
              </a:rPr>
              <a:t>FQ｜数据表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29DA17-3896-4C03-A69F-353178F9A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57200"/>
            <a:ext cx="11239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富锦 2020：精确终值、DQN措施与seed证据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02554A-5A03-42E0-9BC9-092B2962B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6680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9AEB97-567A-472A-87D3-1D374C800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238250"/>
            <a:ext cx="17621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C65666-792F-4A58-AA5A-908159A89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47775"/>
            <a:ext cx="17240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情景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AB5E2C-9946-46A8-9138-6DB7DDF22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1238250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C4D9C2-FBA2-4BF8-890A-C2DD8826A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1247775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产量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0D2384-3516-4848-B1A9-959C0E92C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238250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04CE8D-0EC2-4920-8B86-862A05535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247775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生物量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794F58-1B91-4A22-95C7-5675D45CF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123825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6B0726-7590-4547-B988-5E76E2A26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124777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灌溉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E45C28-5C32-48E4-9191-D27C74D03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123825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4011A8-0D88-48C8-8F12-5D209067A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124777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施氮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5042F3-C8B3-4D29-AA1D-063FB2102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23825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23FCD9-C9AF-4EC1-8255-A051A8582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124777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WP_ET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D236E6-F9CC-4FBA-A9D5-AC9F44BE3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23825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089606-A9D4-45AC-8C62-970E99542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124777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PFP_N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5E2D7DE-D313-41CA-A4F9-FFD8CC030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1238250"/>
            <a:ext cx="15716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C08D6CF-E79F-4709-ABF3-3EC3F24A6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1247775"/>
            <a:ext cx="15335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累积奖励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6CF43C4-DB4B-4BE7-8F92-254E5870A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647825"/>
            <a:ext cx="17621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731A468-47FF-465E-AC77-693331E7F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57350"/>
            <a:ext cx="17240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Null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DDE42AE-C1CA-41C8-95E7-B36F9A0FF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1647825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857F439-71C8-4BCD-B53A-D5F6A1B59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1657350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8514.0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141F87C-9FF6-4EB5-BF08-140A239C0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647825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2E09662-43EA-47AE-8C0D-F6AC1100A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657350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14350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9585CBE-5208-459B-B6B9-7CD185141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164782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6E282D7-DB7E-4D00-9FA1-F8950D58E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165735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0.0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61CBD25-890C-433A-8A64-93E9A1B31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164782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AB45215-9C91-4100-8ADE-05D849697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165735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0.0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93CDD6D-C848-4A1D-B64C-896B6588E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64782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FFE2334-9CE6-4240-8BD8-5F9095A50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165735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2.38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473DB23-47E2-493B-9D1E-212CAD6F6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64782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AED9D1A-8F35-43A9-9243-148D33175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165735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NA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C5B1316-E8EA-4C6F-BF58-750B0DBC3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1647825"/>
            <a:ext cx="15716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2BE5FD0-E22B-4698-A9AC-571D59476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1657350"/>
            <a:ext cx="15335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0.0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9573057-6CFE-4054-A9D1-5716727B0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057400"/>
            <a:ext cx="17621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502195A-0BA2-42B9-9B1F-CFC21CBE1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66925"/>
            <a:ext cx="17240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Recorded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02A6D43-6B74-4572-BD20-F53E114DE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057400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2E1D3FC-24A4-4A7C-BBE2-F270CEC88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2066925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8956.0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19580EE-34D1-41D6-B7B9-1CD6A47B6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057400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7AFE8D6-227A-41E4-8D5F-94AEF1616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066925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14793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F7BAF61-3B7B-4CED-BFEA-73E678DD0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05740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8FFEC9B-CDBC-4324-AF96-72E99A1AA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06692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75.0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A2EECE6-B144-48E2-A3CD-08A917D0D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05740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61E6546-67F2-4040-AC76-08B3798F3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206692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144.0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BC055FC-8B80-4CC2-B881-B16082779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05740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C379284-59A4-49F7-91EE-F56E1C197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206692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2.52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843E7D9-A5FF-4C7C-9A3A-2917BC180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05740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71EE84D-7DD7-4F7D-AD02-510C90F07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206692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62.2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2574B49-C32A-4B1A-ABBD-1F65C07B9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057400"/>
            <a:ext cx="15716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189BB29-85D7-4F11-8666-06EF3A83A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2066925"/>
            <a:ext cx="15335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-353.0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B65E020-6843-44EC-B52B-F406530C0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466975"/>
            <a:ext cx="17621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39AEF98-D69F-419A-BB4B-04B838978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0"/>
            <a:ext cx="17240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DSSAT auto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30942B0-25FA-4027-9DEC-9C8B8B72B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466975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4C341B2-7919-48FF-B4A8-ED5D487E8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2476500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8514.0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57A0C791-3777-4696-AE64-A8EFBC15B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466975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74B2F23C-BB50-4BB3-BD83-7FC3F1A23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476500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14350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F401782A-C92B-486E-84D6-C49207C4C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46697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9BCD09B-6263-46BF-AA86-6787D2100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47650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18.7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C8FD8E7F-8218-4FA4-AE4E-6586EAB0B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46697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F19FCD29-E279-4DF7-B3E0-CDCAE367B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247650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0.0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627F7960-8034-457C-AAC9-D863E5AD8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46697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C314DDE6-8C16-4845-AA5F-EECF99AF9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247650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2.34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A14B7157-041D-4846-A212-484983D21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46697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8F29F3BC-2963-4968-919F-65E98424C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247650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NA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DFB442BC-F109-4428-B382-3C47F6ABB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466975"/>
            <a:ext cx="15716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B29180DB-DF63-4C6E-AD2E-57D41967A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2476500"/>
            <a:ext cx="15335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-18.7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06E5AD5C-BC1E-448A-AF0A-6F33CAFAA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876550"/>
            <a:ext cx="17621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BFC9BD33-6F3A-42DE-BEE7-43E281A0A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86075"/>
            <a:ext cx="17240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Official expert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6FDCCEF8-DD2B-49B0-B009-E9F4EA352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876550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7C90AA74-7D11-4A2B-A0E3-D2E80B504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2886075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9541.0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25B21D46-E6BC-466D-8B99-09BFBD683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876550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21E98215-6D01-4CEB-BEB7-BB1F495E6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886075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14365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CFBA4474-ED7D-4ADB-84E1-6B48992D1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87655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26C056DC-017C-43DC-A694-B5F3FF591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88607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228.8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ED427F6B-B9CA-4518-B9D2-71D7AFC06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87655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24439D75-8E0A-4B7A-9E8F-F1ACCAD92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288607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247.0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D4B9EA1F-F7D4-4C7D-849D-1EE96D6AD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87655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A7DD5DC0-8D47-4000-8F11-D60C5B065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288607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2.58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31C6FC43-1F88-4C76-AD64-996AD333E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87655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2050DE0F-AF92-4735-81F1-AB8F50463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288607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38.5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B667100A-BD3D-4DF8-8BDF-6BD7351DA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876550"/>
            <a:ext cx="15716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55AA8E2F-A467-4427-927C-3C1F1C5A7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2886075"/>
            <a:ext cx="15335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-436.8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DAE1F3EB-D320-43F7-9337-0873760BF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286125"/>
            <a:ext cx="17621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F679EF34-318C-4A2B-8B10-0E4FB713B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95650"/>
            <a:ext cx="17240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DQN candidate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D528CD13-185E-42F1-BED0-0AA9D417A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286125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C4F3DE58-7250-40B3-AE36-F1CE1DD24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3295650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9476.0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F92B3A10-9DFE-4CAA-8FCC-3065C89A5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286125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3FF1784C-A81F-4C15-AC0C-A5203A640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295650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14905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EE183150-4064-426E-AAB1-349432CC3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28612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614B503C-0D57-450B-8A5A-7D572BCE4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329565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75.0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7F1DB36F-6593-4D9E-BA20-38CAD2345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328612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319C9085-F1B9-4DCA-8423-B7A0F4A7F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329565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100.0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CBAB43CD-FE1D-42D3-AAEF-19DD2317D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28612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9252B713-1681-47B5-A520-0F35FD316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329565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2.59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364D7685-A0B8-4041-A310-058FFE5B3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28612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F07B1FC3-9811-46B6-9D78-3E5DBFCBF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329565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94.8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6BAE84DB-2FDB-4C3A-B2CD-DDD6CC5EF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286125"/>
            <a:ext cx="15716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56F213D6-29E1-438D-AC00-66E69DD86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3295650"/>
            <a:ext cx="15335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387.0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72E86A27-C5FD-49B4-8BB3-45027B75F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DQN阶段措施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96A7F6CC-B340-4FDF-B1BD-8951C084F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62450"/>
            <a:ext cx="676275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  <p:txBody>
          <a:bodyPr xmlns:a="http://schemas.openxmlformats.org/drawingml/2006/main" lIns="47625" tIns="28575" rIns="47625" bIns="28575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DAP7: I30.0/N0.0; DAP30: I0.0/N100.0; DAP45: I15.0/N0.0; DAP60: I15.0/N0.0; DAP80: I15.0/N0.0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1C5C1A8E-35EC-42B9-9DAC-B2447D14D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0005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结果判定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CD7B7A24-33E2-4C53-A38E-9BAA0CF2A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362450"/>
            <a:ext cx="4191000" cy="166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  <p:txBody>
          <a:bodyPr xmlns:a="http://schemas.openxmlformats.org/drawingml/2006/main" lIns="47625" tIns="28575" rIns="47625" bIns="28575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代表候选至少一项严格领先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DQN总量：I75 / N100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产量差：-65.0 kg/ha (-0.7%)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WP_ET差：+0.01 (+0.4%)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PFP_N差：+32.6 (+52.4%)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胜出：WP_ET；PFP_N；seed：1/3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DD911F9D-2E0F-4825-8333-7F1BAB607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15100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444444"/>
                </a:solidFill>
              </a:defRPr>
            </a:pPr>
            <a:r>
              <a:rPr sz="975" b="0">
                <a:solidFill>
                  <a:srgbClr val="444444"/>
                </a:solidFill>
                <a:latin typeface="Arial"/>
                <a:ea typeface="Arial"/>
                <a:cs typeface="Arial"/>
              </a:rPr>
              <a:t>差值=DQN代表策略−四基线中该指标最高可比值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C308314B-F12C-460E-8F58-6B1F021B0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444444"/>
                </a:solidFill>
              </a:defRPr>
            </a:pPr>
            <a:r>
              <a:rPr sz="1050" b="0">
                <a:solidFill>
                  <a:srgbClr val="444444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14794939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c3001e2f3d463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400300" y="420386"/>
            <a:ext cx="7391400" cy="5941028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572A46-46AF-459B-B97F-18BDC1B09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572250"/>
            <a:ext cx="333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444444"/>
                </a:solidFill>
              </a:defRPr>
            </a:pPr>
            <a:r>
              <a:rPr sz="900" b="0">
                <a:solidFill>
                  <a:srgbClr val="444444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72922406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15F1E839-6929-477B-B238-B4FDAC58D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444444"/>
                </a:solidFill>
              </a:defRPr>
            </a:pPr>
            <a:r>
              <a:rPr sz="1125" b="0">
                <a:solidFill>
                  <a:srgbClr val="444444"/>
                </a:solidFill>
                <a:latin typeface="Arial"/>
                <a:ea typeface="Arial"/>
                <a:cs typeface="Arial"/>
              </a:rPr>
              <a:t>FQ｜数据表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16D696-1267-4176-A71B-D558C6903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57200"/>
            <a:ext cx="11239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富锦 2023：精确终值、DQN措施与seed证据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B44ED8-7062-4AA4-949D-F803468DB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6680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71EC23-CCFF-4325-98A1-5EB3DB5C4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238250"/>
            <a:ext cx="17621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48BC0D-597F-4DD9-A871-44B17DAEB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47775"/>
            <a:ext cx="17240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情景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E388A2-5BB6-4099-A16B-5C29E44F7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1238250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BED1A0-37CE-402A-A36E-10591CDF6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1247775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产量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9CBD3B-7873-40AE-A845-7537DF69C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238250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ED1EF0-5982-4566-97BC-829F98E23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247775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生物量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7E3621-820C-4599-A6E9-B8CAC72E8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123825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82A6F6-6F80-4A20-B893-99C0D9B57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124777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灌溉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727A80-D148-438B-B028-070464811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123825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89197A-1F0D-4BDE-8360-67108C6F8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124777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施氮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B7E805-F1BB-4B6D-B15F-BE4899592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23825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5BDCCB-D2D8-474E-93CB-8F1F80544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124777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WP_ET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B19F94-628D-4B3D-A13E-21FF6411C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23825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4FB322-4E0B-4259-A705-96B69755C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124777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PFP_N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636925-8057-41D5-ACEB-36422CFD7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1238250"/>
            <a:ext cx="15716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44CB67C-5215-4A8F-91FD-D4CAA5715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1247775"/>
            <a:ext cx="15335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累积奖励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52B9528-CF68-4084-9A38-68012D9F5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647825"/>
            <a:ext cx="17621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A720868-9E08-4F66-B81F-403A1DC1E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57350"/>
            <a:ext cx="17240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Null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3CAFD3-925D-4B93-9DDA-8410E3635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1647825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E7F15AA-85C6-49CE-9A31-50E4257A4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1657350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8868.0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1FBFA65-E5FB-419D-B76E-3FA978135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647825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CAA55CD-1FD6-49B2-A609-A941EEC2D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657350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15818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59E5CA5-5AB6-4FC1-951B-F274A43D0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164782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E8189E9-3122-47EF-8A0A-DAE74A650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165735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0.0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216A0A1-8000-4A92-B4F3-625CF1B05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164782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1E995A7-14AF-44E3-A319-A9499FD74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165735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0.0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3C8D5EE-D3CF-4358-9D1E-5A6C257C4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64782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D907B6F-D648-49AB-B4B5-2C6D5A078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165735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2.60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D37405C-1077-46E5-B7EC-4369E2F0A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64782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98DC41E-4F52-4552-A11C-67A9686E3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165735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NA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5554A31-AB74-4164-9E03-1FC74CD3A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1647825"/>
            <a:ext cx="15716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7ED9A33-6B2B-4A79-AEEE-E5C245F33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1657350"/>
            <a:ext cx="15335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0.0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732C1DA-5872-4A69-8EC5-9FE204893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057400"/>
            <a:ext cx="17621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F89E6E6-C0F2-433A-8B6C-9375A492A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66925"/>
            <a:ext cx="17240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Recorded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157EDDA-F4B8-4EC7-BC07-A348F7082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057400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AC08F49-BB0F-45CC-85E4-DF5136279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2066925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9097.0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973ECFD-19C7-43B7-9F15-08C6D37B5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057400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6D2AD82-6767-4744-8ECF-D95B665D3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066925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16036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85F3E03-9F24-4DD7-AA81-81CD4A88C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05740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1111BAE-2B3D-425F-A13D-9CF8BB2B7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06692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75.0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BCB1A65-5459-4E29-812C-F97E172F2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05740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26C45FB-892D-4C33-AAEB-160CA567A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206692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144.0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FDDC9BF-086F-4DE1-8802-2E43B2993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05740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13E961C-7E7A-470D-A896-952AB5402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206692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2.57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ACF0311-C922-42BB-9DF8-4B47BC96D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05740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C2CB8C3-F9D6-44C2-B6F2-7C6EA934A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206692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63.2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7F5CB51-919A-4BF1-9ECE-3A549B2E9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057400"/>
            <a:ext cx="15716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1338461-767D-42FE-84F0-D3177904D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2066925"/>
            <a:ext cx="15335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-566.0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47B884E-EFB0-4EDD-8753-6C21742E2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466975"/>
            <a:ext cx="17621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3A2E9A6-CECC-40EB-B76E-1EAAA29B5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0"/>
            <a:ext cx="17240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DSSAT auto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0E6A038-AEC9-41A6-8BBC-FAED85CCD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466975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4E49A57-FE1A-47DD-8BBD-AC2EC209B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2476500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8861.0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26B0CFDA-37CF-4152-8CF1-694260683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466975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D8DFF3D-6A5C-40CD-8177-8D9974AF3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476500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15809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45EDCDA5-2721-4964-BA82-57E2A9A5A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46697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B4333FB0-2F52-46D2-8D1D-6253ECDEC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47650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38.5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0E813129-09D9-423E-BB71-CA8C6E93C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46697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60136E81-03E5-4DF2-8354-E9082DC9F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247650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0.0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79C83DE8-983B-4DE5-A095-F766F0F56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46697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8D07C85F-6FDF-4E67-9160-921713C66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247650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2.58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C5FFD3AA-8D89-4B9E-98DF-145A67B05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46697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A95A4C8B-0312-405F-B2F5-1849807C6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247650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NA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41F89B8F-F370-4DE7-943E-7484B899A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466975"/>
            <a:ext cx="15716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5CAA5220-8A2D-4FC3-9793-8C5399A64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2476500"/>
            <a:ext cx="15335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-38.5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1E7C7C1B-ECD8-4061-893B-20C0AF061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876550"/>
            <a:ext cx="17621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8D1BBB53-FCC7-4A79-B1E0-8AF2E490D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86075"/>
            <a:ext cx="17240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Official expert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3B5400B8-8BCB-498B-9165-AA2A6BAB1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876550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D9E274A9-B1EA-4693-AABD-40D0059F2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2886075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9284.0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FC0DD9F3-0679-406F-82C0-8AD4814D2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876550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65EA1362-30D6-4212-BE90-547C70341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886075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15622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D99281B0-A6BD-4D0A-BF21-7994D107C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87655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B31BAF6D-F09B-4E57-A236-759A88091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88607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198.8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5CBCCFA1-7F48-4ED4-9854-3151CFFC2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87655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DFC088EF-94F8-47A6-AF42-CB9D5DDD6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288607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247.0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36F26A79-FAD8-4592-8E8F-0E4AAD314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87655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3273E6D8-B2AB-46B8-9F37-4F6E2CFB6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288607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2.60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D93695C6-CEEB-4725-B62E-3CA96F623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87655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DFB9E1D2-54F1-421E-ABF7-2980B2E06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288607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37.5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94E075BD-0461-49CB-8B3F-345531FE8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876550"/>
            <a:ext cx="15716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ECE31E3A-678B-4C99-B25F-830E589EC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2886075"/>
            <a:ext cx="15335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-1017.8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5E881922-F225-4FD7-A481-354672F0D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286125"/>
            <a:ext cx="17621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DD111C9B-8F83-4025-A333-504822F32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95650"/>
            <a:ext cx="17240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DQN candidate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FCCBC2E8-9F76-49DB-819C-BF6E5FA73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286125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12CB05FE-FBE4-4AF2-948A-B3A72E4EF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3295650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9094.0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5258A89E-ECCA-4B0E-9749-28AA3AD9E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286125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04A755FD-952E-4869-A17A-684E6BC49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295650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16022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24DB946B-40F8-4FB4-A92F-6A730E948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28612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3D1E8223-D970-4015-9546-894B9ABF0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329565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30.0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4D3A7A17-8FA7-447E-AED7-95E27C9EB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328612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16E6B892-3FB9-49F7-B847-8C5270E1C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329565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50.0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712D4D98-A552-401C-B5D8-5FF2ABC47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28612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8C73A7A5-D954-4A56-8DF1-3913A6850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329565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2.67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9DD11599-370B-468F-B49D-344886482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28612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549D666B-6EF2-48B1-B31C-46FD8521D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329565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181.9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7B8B6072-4AD7-414B-97B8-EE8BC22A4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286125"/>
            <a:ext cx="15716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378064C9-DE42-4F37-A04C-5495EC635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3295650"/>
            <a:ext cx="15335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-54.0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DA24213F-224F-4C04-A885-70E71F939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DQN阶段措施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6A44836F-32A2-469F-B38C-DDB88D364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62450"/>
            <a:ext cx="676275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  <p:txBody>
          <a:bodyPr xmlns:a="http://schemas.openxmlformats.org/drawingml/2006/main" lIns="47625" tIns="28575" rIns="47625" bIns="28575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DAP7: I0.0/N0.0; DAP30: I0.0/N0.0; DAP45: I30.0/N50.0; DAP60: I0.0/N0.0; DAP80: I0.0/N0.0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57669B74-63AD-4FDF-9A87-3F08C175A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0005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结果判定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D32F343A-C765-47E2-B23A-D8C769A9D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362450"/>
            <a:ext cx="4191000" cy="166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  <p:txBody>
          <a:bodyPr xmlns:a="http://schemas.openxmlformats.org/drawingml/2006/main" lIns="47625" tIns="28575" rIns="47625" bIns="28575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代表候选至少一项严格领先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DQN总量：I30 / N50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产量差：-190.0 kg/ha (-2.0%)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WP_ET差：+0.07 (+2.7%)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PFP_N差：+118.7 (+187.8%)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胜出：WP_ET；PFP_N；seed：2/3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81FC2589-92AC-4A91-A81C-C093346BC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15100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444444"/>
                </a:solidFill>
              </a:defRPr>
            </a:pPr>
            <a:r>
              <a:rPr sz="975" b="0">
                <a:solidFill>
                  <a:srgbClr val="444444"/>
                </a:solidFill>
                <a:latin typeface="Arial"/>
                <a:ea typeface="Arial"/>
                <a:cs typeface="Arial"/>
              </a:rPr>
              <a:t>差值=DQN代表策略−四基线中该指标最高可比值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62C6024F-7D4C-419C-A2D9-7ABA7E366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444444"/>
                </a:solidFill>
              </a:defRPr>
            </a:pPr>
            <a:r>
              <a:rPr sz="1050" b="0">
                <a:solidFill>
                  <a:srgbClr val="444444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66217774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b59604b37e48f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400300" y="420386"/>
            <a:ext cx="7391400" cy="5941028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EECE1D-67F3-49F4-B67C-22483512A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572250"/>
            <a:ext cx="333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444444"/>
                </a:solidFill>
              </a:defRPr>
            </a:pPr>
            <a:r>
              <a:rPr sz="900" b="0">
                <a:solidFill>
                  <a:srgbClr val="444444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08959661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068720DC-658B-40BC-9387-A8368E662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444444"/>
                </a:solidFill>
              </a:defRPr>
            </a:pPr>
            <a:r>
              <a:rPr sz="1125" b="0">
                <a:solidFill>
                  <a:srgbClr val="444444"/>
                </a:solidFill>
                <a:latin typeface="Arial"/>
                <a:ea typeface="Arial"/>
                <a:cs typeface="Arial"/>
              </a:rPr>
              <a:t>HLA｜数据表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E9ACE6-36C4-481D-932B-9BDF3F0BE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57200"/>
            <a:ext cx="11239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海伦 2007：精确终值、DQN措施与seed证据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16CB12-D309-4B53-9E0B-0D8DE02B4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6680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620EA0-9344-4129-974C-353041166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238250"/>
            <a:ext cx="17621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9C48F0-F0B6-4249-966A-82C0DA95D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47775"/>
            <a:ext cx="17240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情景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B411A7-2A6B-46D9-BBC6-A8677AC2C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1238250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798788-8B59-47D4-984F-A59BBC65D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1247775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产量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E41EDB-1D59-4531-AE32-04D22BFC7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238250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B58720-6828-4200-B998-6AD402FB9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247775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生物量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78F82B-9D3E-41CB-A362-E3AEA4776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123825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6991EE-6FC8-49BB-A971-19A8E3380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124777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灌溉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A8A86C-15AE-46F7-8CD8-BBFAECB42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123825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E173F0-779E-4DFD-95DA-1C82D9A8F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124777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施氮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6F9766-C374-4A5D-8D3A-3536A2A77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23825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D88571-6D15-4EC7-9CB7-EE796FF9D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124777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WP_ET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008FD9-CBCA-4A0F-8006-FD7500BEB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23825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193672-E410-49B8-9B3F-FD30F3BF5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124777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PFP_N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ADD762-0B90-4F37-80B9-CCA7E5A74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1238250"/>
            <a:ext cx="15716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C3E9B70-C4C3-482C-95C3-04072015E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1247775"/>
            <a:ext cx="15335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累积奖励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452A9B4-F2F7-4463-AE52-1D0DCDDA6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647825"/>
            <a:ext cx="17621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F6756AA-8DB9-4AE4-8954-CD0D7D216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57350"/>
            <a:ext cx="17240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Null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7C30220-1535-48B8-A1E4-01D13162F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1647825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E6722FD-492D-40D7-B683-2F19BFD69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1657350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6596.0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093D417-B3E0-4D37-A499-BDCA55C44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647825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0FA085B-4004-4094-AECD-3A73982F2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657350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17813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E514FB3-D5A8-4160-9818-1942A5F60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164782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194CFD0-3535-4692-872E-62B666425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165735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0.0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727C9F6-DB4F-4868-BD77-F21392CB8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164782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E53FBB6-ACD7-48FE-BD03-E4815F7E9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165735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0.0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AE0117A-2BA3-4C17-AAEA-B84F3CA6F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64782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7240FAD-713B-4FFE-B510-4E65A6A94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165735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1.49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7179B07-D08B-480F-804D-962B32CB7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64782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EDBDDC9-D1C8-45F4-860A-69E8ED906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165735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NA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9B08FB0-EFEB-4587-90F0-5DD99E590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1647825"/>
            <a:ext cx="15716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1CD3991-15DB-4AB0-AA4F-E53B0ABFC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1657350"/>
            <a:ext cx="15335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0.0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DB6CF25-1E7E-43CF-90C4-990AE60F6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057400"/>
            <a:ext cx="17621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539F9E4-1937-468E-AC0D-D0515854A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66925"/>
            <a:ext cx="17240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Recorded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19052D0-7C26-4AF2-8A17-A56193379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057400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C65E064-AD70-46FC-9A40-0CC03DB6A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2066925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7339.0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3639C91-4692-43F6-A854-47DC5B8A3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057400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1A58B7D-0A1A-4262-A063-6388A30EE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066925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18862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1856FD1-28A6-4C1D-BD12-FBE7A0BFA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05740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70A8C70-765C-466A-A56A-EABF93A5A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06692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30.0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3B2660F-708C-4A5E-8186-895D8EE71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05740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F244130-56F2-4C0B-958E-A8FC6D29F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206692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165.0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1D681DE-0BB9-4BD3-9CDA-C9A3F4EEE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05740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F8239D9-9AC0-4772-8A3E-9CA66E6FE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206692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1.56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0D7CD3A-7344-4EB1-A9B6-C0313A20E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05740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6BD9A4F-DF65-4462-863A-C426AD1C6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206692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44.5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B27B747-F737-45CE-9777-54DFE23FA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057400"/>
            <a:ext cx="15716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848EEA6-5A8F-466F-AB00-C9B5D688A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2066925"/>
            <a:ext cx="15335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-112.0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07FA167-3FA8-48D1-BFF9-5CEC97FA1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466975"/>
            <a:ext cx="17621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D86B811-B3A2-4EE2-AE8E-C5D681D56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0"/>
            <a:ext cx="17240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DSSAT auto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E68A1CB-963D-4012-8BAF-EEFF1E3A1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466975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7833E39-2B64-4899-A2ED-DA963D914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2476500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7986.0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AE9509A0-B77E-46B3-819A-F9ECE2AD4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466975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71BB2320-0816-463C-899A-1DA77D828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476500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19799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7E551746-7BE0-4956-9E8A-968E72633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46697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61EA83AC-5991-4E52-9F67-708DABFAD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47650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143.3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8EB48BC7-5DB2-4B35-B7B4-87EB6122A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46697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22CFB587-2BB4-4C27-A27B-2697BEA6C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247650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0.0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9DE77F72-7500-4703-B05A-CC18AAF47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46697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1DAE9B80-3D11-415B-A57D-BBF7D34DB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247650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1.62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0E5D2141-363C-49C0-9D77-94A1A7217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46697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5FDE081F-0D4C-493B-9782-87DE9E03F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247650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NA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4E0C42B5-C0AB-4F2C-B598-A4502AE4F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466975"/>
            <a:ext cx="15716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989C460F-0DA6-4BD7-A0C2-D7EABB2A2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2476500"/>
            <a:ext cx="15335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1246.7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5830C85D-0F00-414B-A3A7-C68019784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876550"/>
            <a:ext cx="17621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F8E4F91A-E77A-4423-8D6D-C3F90CB5B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86075"/>
            <a:ext cx="17240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Official expert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53FBD449-C7BF-4E20-A613-5F58F3053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876550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35C7778E-5248-45AA-89FF-A9D9D3C40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2886075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7940.0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EA86F7B6-B9C9-474B-992F-4AF71CDCD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876550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6341F812-29DD-4BFA-8D9E-DB68153DF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886075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19297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B428449E-BA6D-4959-B02C-DB9EF2DFE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87655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F5C9C80D-5F37-4D8B-944A-1CC3E0977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88607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266.1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0C39067D-8433-4F46-8E24-0F647FFA2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87655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92E8366F-E78F-4E43-90DF-C4991F5B5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288607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300.0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E8A2E93C-412E-408D-BCA0-09225724D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87655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01E85A2F-4BF0-493F-BBD4-76A63F065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288607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1.55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BB900369-F7B6-4268-829D-12987DE01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87655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12E6289A-B89E-49CF-8DF9-D5CBAE87E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288607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26.5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B75273BE-0C8B-4013-AAA0-1F71D6182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876550"/>
            <a:ext cx="15716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A1070188-4494-4579-865C-FF7107335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2886075"/>
            <a:ext cx="15335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-422.1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574F3213-3425-4275-B615-C9FDAF7FA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286125"/>
            <a:ext cx="17621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A13B9D77-2B19-4B5E-BF90-3C6F99873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95650"/>
            <a:ext cx="17240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DQN candidate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4B9A8995-654B-4C6F-B608-E9F7DF04D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286125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8C781D94-0C90-4158-B7B4-3E73C371E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3295650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7986.0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635E73E7-37C1-49AF-A3B4-25440AC01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286125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6F4684F1-7085-4024-BF10-D36074546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295650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19796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B3E4B30A-AED4-4D0E-9B39-A4F06A4C7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28612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DC23ABFD-0391-4167-A73C-C95CF2404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329565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90.0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27AFFBA7-57D8-4FE5-B98D-D03CBA59E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328612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BAAC0A4F-433C-428B-8459-53C41AA44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329565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0.0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5DCB9E6B-FF37-464A-93F4-17A1C9203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28612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38CF77D5-BCAE-47D4-AF74-16CA3E729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329565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1.56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9302E452-A5A5-4DA7-8F85-047F360D6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28612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70CEE12D-9258-4DB3-8202-915FFF8BD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329565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NA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4CDEFEEF-220F-4216-B5E0-B1B6435ED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286125"/>
            <a:ext cx="15716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FB2BAF5C-B335-47DD-B134-141704670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3295650"/>
            <a:ext cx="15335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1300.0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084950E7-F356-42A4-B04F-4B84FB329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DQN阶段措施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45698756-E5BB-48AC-A0FA-CD1D39EA4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62450"/>
            <a:ext cx="676275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  <p:txBody>
          <a:bodyPr xmlns:a="http://schemas.openxmlformats.org/drawingml/2006/main" lIns="47625" tIns="28575" rIns="47625" bIns="28575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DAP1: I15.0/N0.0; DAP30: I15.0/N0.0; DAP50: I15.0/N0.0; DAP65: I15.0/N0.0; DAP85: I15.0/N0.0; DAP110: I15.0/N0.0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034DCBC2-14F4-415E-BF17-1DEFC02DB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0005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结果判定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294ADE3F-71E8-425A-AF33-DCFCDFF5B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362450"/>
            <a:ext cx="4191000" cy="166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  <p:txBody>
          <a:bodyPr xmlns:a="http://schemas.openxmlformats.org/drawingml/2006/main" lIns="47625" tIns="28575" rIns="47625" bIns="28575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代表候选未严格领先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DQN总量：I90 / N0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产量差：+0.0 kg/ha (+0.0%)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WP_ET差：-0.06 (-3.7%)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PFP_N差：NA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胜出：无；seed：0/3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E45B58F7-F7D7-4B3C-8C68-F3F30565C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15100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444444"/>
                </a:solidFill>
              </a:defRPr>
            </a:pPr>
            <a:r>
              <a:rPr sz="975" b="0">
                <a:solidFill>
                  <a:srgbClr val="444444"/>
                </a:solidFill>
                <a:latin typeface="Arial"/>
                <a:ea typeface="Arial"/>
                <a:cs typeface="Arial"/>
              </a:rPr>
              <a:t>差值=DQN代表策略−四基线中该指标最高可比值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F12EE4D0-AA45-454E-A612-591A4CA86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444444"/>
                </a:solidFill>
              </a:defRPr>
            </a:pPr>
            <a:r>
              <a:rPr sz="1050" b="0">
                <a:solidFill>
                  <a:srgbClr val="444444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2068088639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522f3bba67478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400300" y="420386"/>
            <a:ext cx="7391400" cy="5941028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2DE3E6-2C3B-44AA-AC9F-57E61E8D7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572250"/>
            <a:ext cx="333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444444"/>
                </a:solidFill>
              </a:defRPr>
            </a:pPr>
            <a:r>
              <a:rPr sz="900" b="0">
                <a:solidFill>
                  <a:srgbClr val="444444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941691191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555EA4B2-E3DD-498C-835D-A3974A880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444444"/>
                </a:solidFill>
              </a:defRPr>
            </a:pPr>
            <a:r>
              <a:rPr sz="1125" b="0">
                <a:solidFill>
                  <a:srgbClr val="444444"/>
                </a:solidFill>
                <a:latin typeface="Arial"/>
                <a:ea typeface="Arial"/>
                <a:cs typeface="Arial"/>
              </a:rPr>
              <a:t>HLA｜数据表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9675C7-1762-4556-9876-6B6A8A685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57200"/>
            <a:ext cx="11239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海伦 2010：精确终值、DQN措施与seed证据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D12210-AE65-4F71-B1BA-CAA6140E8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6680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26A85D-B795-4D86-9235-B445D683D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238250"/>
            <a:ext cx="17621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F5E265-8C6F-4D89-8484-FEA3DB234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47775"/>
            <a:ext cx="17240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情景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536CFB-B95F-49C4-BB08-2BE3F7853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1238250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695CB7-FA23-4D38-AFF0-ABC8772C2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1247775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产量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77F81A-6B35-4A52-A0FE-46363FC73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238250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7106EF-1243-41F9-9866-933FC60BC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247775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生物量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93DF33-CC8E-41A2-9950-0E430D3FC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123825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247937-42A0-4105-BE0B-3A5E2D6E4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124777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灌溉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CC7E87-0E18-480F-8F73-088CFA9DD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123825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55B01E-EC54-4FF6-9A17-DBD902AC0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124777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施氮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BC5C09-B457-4E31-BD38-4EDF47F4B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23825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09F23E-8385-4E8A-98B2-F808AB472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124777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WP_ET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D1D4AE-8E8A-489D-9D4F-1A3785F44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23825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2B7838-3181-4C81-A62D-8364F0470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124777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PFP_N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99BD7B-536D-48E8-8AAA-4E634326B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1238250"/>
            <a:ext cx="15716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10F04B1-1B3E-494D-85E5-953E81B8D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1247775"/>
            <a:ext cx="15335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累积奖励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4573CDC-968A-4CDD-A10D-74E8F7241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647825"/>
            <a:ext cx="17621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262897B-CA18-4209-9F81-6DDF53BCD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57350"/>
            <a:ext cx="17240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Null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290611F-3D7A-4DE4-B5F3-57461771F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1647825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F01B3AC-701E-4EE7-A64F-90DF57B83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1657350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6956.0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2164CFC-F6C9-49C7-A1D3-E6660B27E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647825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F659F4B-0B72-4CE7-8DEC-935C786BF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657350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19344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C9D4CBD-8AC3-4753-B3B2-FB4836D55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164782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38B5A31-157A-4BCC-9B8A-561F12929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165735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0.0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FE46B97-ED53-4D4D-9051-9FCA1D85B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164782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C016922-E32F-49F4-A7EA-CBEBB20D9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165735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0.0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189309E-5408-4D8A-96BB-CB6548E8B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64782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6BE4C62-CAAF-4BFD-A00C-795B1E4A6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165735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1.63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15408EA-268E-43FC-8555-B45940F2B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64782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2410D1F-5F1E-459C-86EF-44F558E1B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165735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NA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179A7FA-31DA-494E-903E-2CBDC4716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1647825"/>
            <a:ext cx="15716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88EDA08-FAB2-44DA-B258-6F2434FEF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1657350"/>
            <a:ext cx="15335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0.0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CCAC9A0-8844-4ADD-BA78-77B9BB878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057400"/>
            <a:ext cx="17621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9C6D394-3049-4B5E-97ED-E71A47B85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66925"/>
            <a:ext cx="17240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Recorded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BEFB130-3BE6-4CF6-B69B-B00D80E05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057400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D4CDDCA-A73A-47A9-8E04-860439605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2066925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7679.0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FE79196-68C3-4236-B428-0702DBE2A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057400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110154B-CD3A-46EB-BBFA-EFE9338C8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066925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20665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B5E91F8-7785-483D-896E-BEDE656B2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05740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0D8327C-5701-4384-950D-CCEC05335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06692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30.0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089D0B7-D85A-4720-9F1B-C1634FA1F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05740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6EA587F-4C52-44A0-8BC6-BDB0B1348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206692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165.0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978A910-BC87-462B-8C15-DA09F2FCB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05740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559703F-D26E-4F9D-9EB0-AC4362984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206692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1.70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5E20370-3279-43A7-B96A-A9A4F95A4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05740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30C3D6F-A2D9-4290-8F17-DE45083F3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206692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46.5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2BA1EF6-9F5A-41BD-BE3C-3E711F375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057400"/>
            <a:ext cx="15716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6ADA91B-A3ED-45D7-B00D-3A5371DED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2066925"/>
            <a:ext cx="15335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-132.0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AA4BE7B-D329-4EF3-9D12-0B22634A3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466975"/>
            <a:ext cx="17621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5879917-4A24-40FF-92ED-3353F509D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0"/>
            <a:ext cx="17240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DSSAT auto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675AE53-32E4-4657-9712-43B627D54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466975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C08AF98-8B44-4409-97AD-6D6055108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2476500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7854.0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6344B0E-F0B6-40CC-8B19-EA1D62A1C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466975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D204AF3-3425-454E-A264-90EE21D3F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476500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20874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74232BFC-3558-43A1-90D1-56D013050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46697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D5EF6AD9-BA25-4F0B-945A-726A20921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47650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190.4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49CF4981-12C9-4980-B399-A35E98C7C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46697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B7695AC9-DF9F-45C1-BE9E-7D55CC795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247650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0.0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E85698F6-24C3-4F5D-BE96-B652FC9E0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46697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77401F4A-48C9-4504-95B9-98FEDEC05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247650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1.64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B19E19B2-4186-47BF-8099-56951008F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46697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3852D48D-9A90-4E89-97B3-D742B9D02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247650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NA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F3219FDA-F698-4C89-800B-3EE30FB14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466975"/>
            <a:ext cx="15716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CF67DF7F-F0B5-42AA-8F51-FB22A6EB5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2476500"/>
            <a:ext cx="15335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707.6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7A53D81D-C517-4E6A-B9A2-1DDD1BAD1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876550"/>
            <a:ext cx="17621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3C748D74-226D-4AA1-87D3-9227696E6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86075"/>
            <a:ext cx="17240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Official expert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6180C8B4-9848-43BE-878A-61DBBA8ED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876550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5036591D-4C4F-452E-86F1-D2E679AC5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2886075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7854.0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3A11ACA9-96D3-40EB-A4A5-718FF69BC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876550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D86C9547-F843-4F60-994D-C2C8296C6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886075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20571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D22DC5F8-5B02-4B88-9A83-FC386AC96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87655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0EBA331C-FBE0-47D7-B0F8-CF4DBE2BB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88607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266.1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DF69D490-A1BC-400D-904D-24AA533E7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87655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0A3DC9C0-11E9-4CBE-9ADE-D330F403A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288607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300.0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33D63656-9D8B-4214-A9AF-6EA330E68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87655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E8E1E37B-08E5-43F7-948E-A3095E05F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288607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1.63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A38C1043-4E70-435A-B20A-425365549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87655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FFF60A3C-475D-4AB8-911C-E1984F920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288607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26.2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FB8F4842-8504-4E07-AD0D-09CACBF5D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876550"/>
            <a:ext cx="15716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8B702FD5-8C00-4751-9563-4A78694C8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2886075"/>
            <a:ext cx="15335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-868.1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3E480BD5-FC9E-4329-A84A-C5B0C7CA9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286125"/>
            <a:ext cx="17621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B430E043-470D-4130-9FE2-4CC43CB17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95650"/>
            <a:ext cx="17240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DQN candidate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90B79803-7E26-4183-992D-1B3DD7339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286125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965A0177-8EF7-48AE-A778-82E99EDBB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3295650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7854.0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F8D47E0B-2E98-446E-B114-EBCE5A65B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286125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BBE71C63-AA3A-4E34-B99C-0BA1A6133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295650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20886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9A6980B9-67FF-4B1E-8214-A15FC48C7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28612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15892DFC-4661-46BA-95AA-8AD5BCEB0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329565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60.0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E1E01095-2E9E-4374-956A-EC44485A8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328612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F377E049-155C-4E8E-8CD3-23E66A1ED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329565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0.0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BED8D48C-8D18-4F70-9834-53BA2632C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28612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48086E5F-BEA9-498A-A598-726295A00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329565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1.69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D4DE5383-41F0-47B9-8D31-BB99D3D0F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28612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4B541E9D-F411-43C1-8C91-DEE42D062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329565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NA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D1656570-71F9-4E54-B71E-6C124A76F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286125"/>
            <a:ext cx="15716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CE763E9C-3DFE-4D02-9F79-CB4BBEE9B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3295650"/>
            <a:ext cx="15335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838.0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832E013D-FC35-4AD0-8104-4F3B48DC6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DQN阶段措施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757214B1-9782-448A-ABC0-3D98549D9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62450"/>
            <a:ext cx="676275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  <p:txBody>
          <a:bodyPr xmlns:a="http://schemas.openxmlformats.org/drawingml/2006/main" lIns="47625" tIns="28575" rIns="47625" bIns="28575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DAP1: I15.0/N0.0; DAP30: I0.0/N0.0; DAP50: I0.0/N0.0; DAP65: I0.0/N0.0; DAP85: I15.0/N0.0; DAP110: I30.0/N0.0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58448EFC-1E95-430A-8380-938B2549A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0005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结果判定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6DDC4107-3F6E-405D-BBC5-02AE8424A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362450"/>
            <a:ext cx="4191000" cy="166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  <p:txBody>
          <a:bodyPr xmlns:a="http://schemas.openxmlformats.org/drawingml/2006/main" lIns="47625" tIns="28575" rIns="47625" bIns="28575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代表候选未严格领先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DQN总量：I60 / N0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产量差：+0.0 kg/ha (+0.0%)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WP_ET差：-0.01 (-0.6%)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PFP_N差：NA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胜出：无；seed：0/3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D5E4C2FB-A7B6-438B-A09A-E2776C5EE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15100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444444"/>
                </a:solidFill>
              </a:defRPr>
            </a:pPr>
            <a:r>
              <a:rPr sz="975" b="0">
                <a:solidFill>
                  <a:srgbClr val="444444"/>
                </a:solidFill>
                <a:latin typeface="Arial"/>
                <a:ea typeface="Arial"/>
                <a:cs typeface="Arial"/>
              </a:rPr>
              <a:t>差值=DQN代表策略−四基线中该指标最高可比值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FD3C8F13-C266-4320-B809-9A8E5932E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444444"/>
                </a:solidFill>
              </a:defRPr>
            </a:pPr>
            <a:r>
              <a:rPr sz="1050" b="0">
                <a:solidFill>
                  <a:srgbClr val="444444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747468091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7cb50633e042a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400300" y="420386"/>
            <a:ext cx="7391400" cy="5941028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0D042C-FCF8-4409-A586-157A3E91A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572250"/>
            <a:ext cx="333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444444"/>
                </a:solidFill>
              </a:defRPr>
            </a:pPr>
            <a:r>
              <a:rPr sz="900" b="0">
                <a:solidFill>
                  <a:srgbClr val="444444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1249510929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0535BFBC-19E9-4E7A-BFE6-31FF494AF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444444"/>
                </a:solidFill>
              </a:defRPr>
            </a:pPr>
            <a:r>
              <a:rPr sz="1125" b="0">
                <a:solidFill>
                  <a:srgbClr val="444444"/>
                </a:solidFill>
                <a:latin typeface="Arial"/>
                <a:ea typeface="Arial"/>
                <a:cs typeface="Arial"/>
              </a:rPr>
              <a:t>HLA｜数据表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2631CF-DB19-47FB-870B-9A47DA25F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57200"/>
            <a:ext cx="11239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海伦 2015：精确终值、DQN措施与seed证据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794F68-30ED-46B7-8614-3D58275F4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6680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5ACAB3-95B7-4D66-944D-4C931AEEA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238250"/>
            <a:ext cx="17621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BB9EAF-5E9D-4AD0-B515-74BB86CF8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47775"/>
            <a:ext cx="17240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情景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85F04C-FC7F-44CB-B0C1-D678F8454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1238250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ACED88-FEC9-43FE-A060-A6347E601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1247775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产量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A34572-2F75-4674-BF29-F52091CFA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238250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530CD5-6590-405A-931F-CD421A230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247775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生物量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01EB4F-EDC7-4D11-AA9D-84D1E2746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123825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6ECBD1-9941-424C-988B-058E8B8E3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124777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灌溉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120773-2817-44DF-855F-801E61E30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123825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9881B0-CCC9-4A50-8263-71BFC8CD3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124777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施氮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F7F006-A065-411E-B39E-9AD6004C0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23825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D16B91-BAA9-449B-9E24-DC2D6FFA3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124777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WP_ET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6341B2-1C67-4DE4-A40D-36DC57975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23825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E4D890-BA1C-48DC-A5A8-A85DEB6A2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124777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PFP_N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FF7039-98AC-412C-813D-1D8414017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1238250"/>
            <a:ext cx="15716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53083AF-1FA6-463A-A8D8-A33357CBF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1247775"/>
            <a:ext cx="15335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累积奖励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1B046E0-11AF-4C8D-8605-F44FE87F3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647825"/>
            <a:ext cx="17621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452782D-F4B6-4EE0-9687-10147DA04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57350"/>
            <a:ext cx="17240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Null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E300AE0-2E49-4A12-B0CA-2EB7319C0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1647825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3E56A82-02CA-45F2-88C4-ADD842949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1657350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6486.0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7FEF383-BAE4-405B-949E-774BC29B3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647825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A76AF56-A163-415C-ACAD-BE9C32A43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657350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17168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52852EE-1651-42A2-8ED8-FE3434385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164782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CFADA23-E958-459B-8406-268945B05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165735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0.0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644EBAB-60DE-4C92-80E2-96FFFA3AB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164782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8CCAA45-A4F7-488D-84BB-65789EEBE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165735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0.0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1F49746-4911-4EAB-8AFB-9A8F42FC0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64782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1F8341A-836C-465C-BAA7-60DE4D197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165735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1.41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B5076E5-A714-4FC6-9B79-202333048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64782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3CD0DBD-9553-4B5F-9CA5-56C562C4B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165735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NA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37DD0E7-FC4B-494A-9143-A2653EAE5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1647825"/>
            <a:ext cx="15716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162DA4C-E87D-47B9-BD98-C1D04BCBE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1657350"/>
            <a:ext cx="15335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0.0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3AA3234-4A7C-4D14-BDFD-0990A5842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057400"/>
            <a:ext cx="17621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050D525-90BE-464B-9EE1-24E9BF9EF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66925"/>
            <a:ext cx="17240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Recorded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1171104-2BAE-46F4-9027-C8637AD3D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057400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5B4B4AC-650E-4D8D-AE08-154E84FE4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2066925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7296.0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3CE6883-CABC-4BB1-BA7A-E5CA9E833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057400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C2727E9-172A-46E6-BC7D-B7AB7D25A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066925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18639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A7D95E9-B82A-4F0A-9B47-4714E80DD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05740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37B39C2-005E-432B-B299-9E5FA1CF0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06692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30.0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55410E4-1782-438D-92B1-BD98B4462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05740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0030337-8460-466F-A71E-9812BEBE8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206692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165.0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FA1E431-6646-4387-9862-43605E0AB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05740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4C84BEE-04EE-47C3-8335-AF1860166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206692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1.50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4246161-E7BA-4419-9951-56A343B0D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05740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0351DF0-B52C-46D8-9225-B5FD8A72C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206692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44.2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9B3D8AE-1BB5-4F0C-A2AC-447332447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057400"/>
            <a:ext cx="15716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9E7C1F2-C35A-459A-A3E8-C9405E80B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2066925"/>
            <a:ext cx="15335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-45.0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500EC2B-2D48-43C1-89F7-E85F4A773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466975"/>
            <a:ext cx="17621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9B2FFC0-8BC4-42EC-868F-04F13D529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0"/>
            <a:ext cx="17240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DSSAT auto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69954C0-EFE0-41F5-BE96-8E1F6CC35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466975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866499F-0658-4CA1-8F9A-5A32727DF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2476500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7648.0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D2D3B65-8E99-490C-BA83-0C76217CA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466975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DE16E21-2328-4A67-A938-64BF732C7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476500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19021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71C9511B-CEBB-4515-B53F-09721E46D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46697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9144661E-F010-4DFF-9535-76E9F9061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47650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141.5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A273F770-B3F2-4DD2-8213-F012272C7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46697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6B7DDB04-4BEB-4A31-B26E-7B21A97EF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247650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0.0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680F83CA-1AB8-4008-B7D6-EE5F69B4F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46697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2A7C459E-29FA-4933-906A-4D892260B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247650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1.52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8D600686-9F92-4FD4-9750-4340FF297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46697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13550EF8-0355-4FD2-930B-630B12713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247650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NA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81638F47-06A4-49F4-9852-004CDFF84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466975"/>
            <a:ext cx="15716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3FDD4277-3246-4587-817D-5F0B074B1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2476500"/>
            <a:ext cx="15335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1020.5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39AAEBA1-9EE7-4C60-8299-D7831C38E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876550"/>
            <a:ext cx="17621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1D1106A5-1542-4743-BFD4-C6C93E839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86075"/>
            <a:ext cx="17240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Official expert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AFC485C2-8E23-4582-BCCC-47055B7E9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876550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476F9064-0621-4919-8B8C-02FA4D774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2886075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7603.0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7A6025F2-07B4-4AE1-9803-93BDDAF23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876550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23D15E60-F38C-470B-B6CB-8F4BFE626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886075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18472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915F8A61-1932-48F7-8E6E-AE1F6D905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87655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78669EFD-18BB-4D61-AC35-5367546B2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88607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266.1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C9B41E7F-73E9-44E7-8FA0-6C3A01A0D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87655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4BF351BF-A77E-446F-A766-48562BA4C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288607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300.0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DF03B66C-450F-480D-BBFC-C67B74994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87655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214E85BC-6207-4C2C-A536-B6FCDA555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288607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1.49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D7FAC9D5-2429-4BBC-A082-3879DC7D7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87655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87B4190A-AF42-43F1-A45A-0F16FE619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288607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25.3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00220BCE-2B8C-42D4-BA38-6D7B21B0E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876550"/>
            <a:ext cx="15716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F84876C3-32DB-4BBD-B056-52C14F128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2886075"/>
            <a:ext cx="15335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-649.1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E9558F1A-29BD-45A7-9411-5F06B4B23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286125"/>
            <a:ext cx="17621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98CC7BAE-5F67-4698-8A77-7F8D88C5B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95650"/>
            <a:ext cx="17240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DQN candidate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CADF5143-937D-4D9D-8DEA-EA8F95A70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286125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3F727679-388E-4E60-9F9F-53BB6C13E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3295650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7648.0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D94EC9BF-C086-41B7-BE1A-D1CADAF53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286125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6EBD1BCA-F482-4540-90E3-0C05D0018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295650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19040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027A2BD9-D83A-44A1-84DA-643A43C55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28612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A59FDAF6-29BA-40B7-9247-21FD29F15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329565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90.0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9C2B3628-D35A-497C-B394-BD18A8018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328612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4AD26A7E-8E8C-4FBA-865F-D1BF70CD6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329565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0.0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EAC42529-646B-415C-8470-88B2598E3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28612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1CD10AFC-0CF9-45F0-8CFC-70D596563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329565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1.50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155B6B87-89C0-4866-AE77-13242B1B7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28612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298E07FE-24EE-4835-9F7C-460D21805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329565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NA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B9F21E84-AA77-426C-92C9-C41C824A3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286125"/>
            <a:ext cx="15716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C7C49BB6-1020-4050-920D-29FC49BC5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3295650"/>
            <a:ext cx="15335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1072.0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F27EBDB9-8FF4-42C3-96D6-2E0350FAB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DQN阶段措施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FB390074-81F4-4BC2-83FC-96F7EE89E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62450"/>
            <a:ext cx="676275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  <p:txBody>
          <a:bodyPr xmlns:a="http://schemas.openxmlformats.org/drawingml/2006/main" lIns="47625" tIns="28575" rIns="47625" bIns="28575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DAP1: I15.0/N0.0; DAP30: I15.0/N0.0; DAP50: I15.0/N0.0; DAP65: I15.0/N0.0; DAP85: I15.0/N0.0; DAP110: I15.0/N0.0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ABBC2077-7585-4714-9300-271F17188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0005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结果判定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03981F8B-EE16-4C19-B5EF-90E43B66B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362450"/>
            <a:ext cx="4191000" cy="166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  <p:txBody>
          <a:bodyPr xmlns:a="http://schemas.openxmlformats.org/drawingml/2006/main" lIns="47625" tIns="28575" rIns="47625" bIns="28575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代表候选未严格领先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DQN总量：I90 / N0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产量差：+0.0 kg/ha (+0.0%)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WP_ET差：-0.02 (-1.3%)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PFP_N差：NA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胜出：无；seed：1/3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C2CD7A35-D00F-4CD1-824E-90ED9EB14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15100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444444"/>
                </a:solidFill>
              </a:defRPr>
            </a:pPr>
            <a:r>
              <a:rPr sz="975" b="0">
                <a:solidFill>
                  <a:srgbClr val="444444"/>
                </a:solidFill>
                <a:latin typeface="Arial"/>
                <a:ea typeface="Arial"/>
                <a:cs typeface="Arial"/>
              </a:rPr>
              <a:t>差值=DQN代表策略−四基线中该指标最高可比值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7EFE6837-E0C7-42BC-B452-39C2E7C97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444444"/>
                </a:solidFill>
              </a:defRPr>
            </a:pPr>
            <a:r>
              <a:rPr sz="1050" b="0">
                <a:solidFill>
                  <a:srgbClr val="444444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42790196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f0948a75bc4c1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400300" y="420386"/>
            <a:ext cx="7391400" cy="5941028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A1517F-3586-4591-8091-DCB08DCB3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572250"/>
            <a:ext cx="333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444444"/>
                </a:solidFill>
              </a:defRPr>
            </a:pPr>
            <a:r>
              <a:rPr sz="900" b="0">
                <a:solidFill>
                  <a:srgbClr val="444444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877143461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C35BE4D0-33EF-4D12-A062-F00E929B1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444444"/>
                </a:solidFill>
              </a:defRPr>
            </a:pPr>
            <a:r>
              <a:rPr sz="1125" b="0">
                <a:solidFill>
                  <a:srgbClr val="444444"/>
                </a:solidFill>
                <a:latin typeface="Arial"/>
                <a:ea typeface="Arial"/>
                <a:cs typeface="Arial"/>
              </a:rPr>
              <a:t>HLA｜数据表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288FCE-ABCD-491E-94C7-0EB514B50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57200"/>
            <a:ext cx="11239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海伦 2016：精确终值、DQN措施与seed证据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E8E61D-0E5C-401E-8ABC-6644C1B35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6680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BC2211-D0D8-41E4-A191-B965E3CE3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238250"/>
            <a:ext cx="17621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9A4051-FDB6-4193-8608-B8627634F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47775"/>
            <a:ext cx="17240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情景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2E61FA-61BB-45ED-BAE0-82EF21D85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1238250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577C7E-F172-49DC-8A2C-9ACDD73B4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1247775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产量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DCA946-0B2F-4C63-A4E5-42E5ECEB6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238250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8FB14F-32D9-4294-8679-157DCD8DC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247775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生物量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042476-3F3C-4EF7-8B9B-821CBB3A2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123825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6ABBBC-BEE0-4E57-9C0B-6D91B7756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124777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灌溉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BC736C-C682-4501-AB72-E7E3C12F4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123825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C259F5-9D61-4BA1-9305-38C6379D1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124777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施氮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8D4B99-D5CC-4B74-AA14-37B19F652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23825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13C407-3DF8-456F-8BC6-299D450A0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124777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WP_ET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211A2B-21D9-4FEF-81CF-22E4D811E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23825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27577E-E5A8-42CB-A1E3-81AA04C51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124777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PFP_N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E10DD85-179F-4FA1-A933-A04BE207C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1238250"/>
            <a:ext cx="15716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72F63E-5DDF-455C-8181-3EDB012B2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1247775"/>
            <a:ext cx="15335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累积奖励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4E68D31-AC59-4042-8FE7-E8EA64817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647825"/>
            <a:ext cx="17621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8776588-DA3A-4896-97A3-84315E057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57350"/>
            <a:ext cx="17240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Null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F096145-8E60-4CE7-A1D3-8624F3BE8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1647825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5650D70-EA23-4A83-A7E0-3FA67F1F3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1657350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7224.0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6D6365C-5CAD-4C6F-9AD6-FF30B37F6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647825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9312521-30CA-420D-BFDF-A2639C6C9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657350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16612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4ABAA2E-23B7-41C8-9D86-8CA9022A1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164782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68B8287-6599-453C-B2A3-CD2D657FC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165735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0.0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1FD6A0C-10A2-4CCA-B956-6499B4829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164782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A1B6208-4C35-4D75-BB05-A75D35D9C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165735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0.0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098C7CE-692B-470B-9901-A7083C3A8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64782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978196A-6D05-4EF5-BB47-F5A233A41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165735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1.72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D46046E-D5FC-475B-B9E1-85AFCC1DF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64782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C32B7ED-2C43-4343-A68E-6D0DBD16E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165735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NA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3F9FAE0-06A6-49B4-953D-E53D5D371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1647825"/>
            <a:ext cx="15716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AA7527A-0573-4BE1-BF18-24CEF16F4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1657350"/>
            <a:ext cx="15335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0.0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57AF04F-7A9F-4CD4-A7E6-D3DF7AF38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057400"/>
            <a:ext cx="17621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EA670AD-E111-4209-916A-95748166D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66925"/>
            <a:ext cx="17240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Recorded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FA10A6A-53B0-4D98-A488-BC67F039E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057400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EE17C69-0A6C-403D-875B-74EAC8DBC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2066925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7538.0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06691FD-1197-4AB4-A9C9-7250585EF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057400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4A78FBE-C59C-4486-B8A9-5B68136BB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066925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17018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3D3E3BB-6D1A-4B2C-AD2D-AB2C60598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05740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C941B39-E009-4BA0-A85F-CC84D8ED2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06692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30.0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CD37E30-B1EF-43A9-A13B-5EE90D945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05740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31C6E6C-33CD-421F-BD80-54799B673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206692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165.0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E976213-FCE4-4D38-97C8-4B3CC72E2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05740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BCE8E9B-77B9-4BE5-936A-DDC63CDC2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206692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1.74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05C23AC-EA44-4420-A265-F94AC3964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05740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BFF9E52-E442-47B1-873B-CEEBB40F6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206692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45.7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0F7615C-18DE-4182-AFDD-1CE6497ED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057400"/>
            <a:ext cx="15716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F0542B5-9F74-4FCF-B0DF-89DB0D52B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2066925"/>
            <a:ext cx="15335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-541.0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9997A7A-18B4-4DE7-92C4-7E9DB2F03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466975"/>
            <a:ext cx="17621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7FDAD87-28C8-46DC-B9AD-C7DD98612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0"/>
            <a:ext cx="17240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DSSAT auto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483F150-0CF1-468D-8AC2-BE94B5EF0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466975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ABE684A-2B77-4B5D-B4C1-1A346DC4B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2476500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7538.0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11CA6FF-34AE-40CC-A7B6-17E63BB01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466975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A55ABF8-176B-4686-890F-8842CC977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476500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17018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7F0B02B-7191-4E5E-AFA2-D1B669A6B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46697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CAEBBF12-860E-4C8E-B598-4AD3C4CEC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47650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140.8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8AC88DC3-0F91-48FE-B05A-FB266E33A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46697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C7004B0E-1487-4AA4-86B6-DB89556D4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247650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0.0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CB668B96-D995-4E30-B7BB-9D45DB96C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46697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BD0050DA-B391-42A7-9F63-A65C628D6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247650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1.71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BB84B740-DD20-4BC2-BF7E-99A8D00AA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46697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2E76857D-1351-4004-BFC3-21078A271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247650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NA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F2923B94-C681-4884-82DE-44D065F01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466975"/>
            <a:ext cx="15716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2A871977-3076-496E-B7C7-F1D26DB5C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2476500"/>
            <a:ext cx="15335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173.2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299BF8D3-DAED-48A5-B87E-AA9588F0E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876550"/>
            <a:ext cx="17621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90136769-B178-4D28-9A90-DB34B7DC3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86075"/>
            <a:ext cx="17240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Official expert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B9C6B1D8-B7C3-4F27-8E0E-3952D0384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876550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7E68EB15-3D9B-4ED7-863A-543AB7380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2886075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7429.0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8DAA58C2-590D-4FFA-9793-1B59BE9A9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876550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BEAAC15B-6959-400C-97B6-CC5A321FB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886075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16335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C29E5C2A-0B26-44D5-B472-EF9858636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87655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AC0B15D3-3612-4C83-8F99-C43519429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88607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266.1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AF3E1924-68AF-46AB-A119-ADF764F79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87655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26935C2D-90BE-48AD-B592-FC637E106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288607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300.0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4900A048-0665-42E1-A752-AACDE62A6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87655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4CE257D8-90AA-4A5E-99F9-6D22032E3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288607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1.66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930B8A91-3EAF-403A-A10D-BAAAA4603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87655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6F04DA8E-9002-4B6C-B5BC-BA722C57E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288607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24.8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1F493182-56EB-4996-B921-F59E626F1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876550"/>
            <a:ext cx="15716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8DFA715B-7A35-44AC-98E2-95F50248C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2886075"/>
            <a:ext cx="15335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-1561.1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DEB75365-9A56-4129-A39D-6BFE773F7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286125"/>
            <a:ext cx="17621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D5A9ACCB-7F6D-4046-ADC2-287C35DC4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95650"/>
            <a:ext cx="17240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DQN candidate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7B2DC07C-450C-4C9E-BBF1-56DD2C556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286125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A2505AA1-119B-4F4E-BB9D-4C0D90583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3295650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7538.0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C7A92447-C063-46DA-863D-22D8550CF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286125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0A224F1F-7511-4126-AE76-3876189F1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295650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17018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2E46CBD3-2F80-41CB-AE15-F46F2D0FB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28612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41DBAE6F-12E1-4CB5-8C3E-48AFB332A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329565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45.0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53E74A24-4B74-4368-BFF8-03245B5F9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328612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D3DE7D5B-C929-4D55-B2D0-A806EFDC8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329565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0.0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F5B3A02F-D5F4-412F-A701-989BC0F67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28612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1734DBFB-AEC1-450D-AB2E-9BBDA2BF9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329565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1.68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92E437AD-393E-4E5A-909C-F57DAA364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28612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5C88C405-561E-4BDD-AFDE-1F6FC1815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329565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NA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9D53DAB9-FD7E-40F7-9ABD-6183FA92D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286125"/>
            <a:ext cx="15716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ADA921F7-49E0-4260-A6A6-E2C504F11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3295650"/>
            <a:ext cx="15335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269.0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BE987BF1-C659-42EB-BBA6-C9CA05DBE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DQN阶段措施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C3BAA53B-4FB5-49FD-8609-AF31A4176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62450"/>
            <a:ext cx="676275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  <p:txBody>
          <a:bodyPr xmlns:a="http://schemas.openxmlformats.org/drawingml/2006/main" lIns="47625" tIns="28575" rIns="47625" bIns="28575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DAP1: I15.0/N0.0; DAP30: I15.0/N0.0; DAP50: I0.0/N0.0; DAP65: I0.0/N0.0; DAP85: I0.0/N0.0; DAP110: I15.0/N0.0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DA64BBD4-EA1A-4845-91F6-84BE752DD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0005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结果判定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6F89216F-FEAC-4AB2-9E10-9B3367E05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362450"/>
            <a:ext cx="4191000" cy="166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  <p:txBody>
          <a:bodyPr xmlns:a="http://schemas.openxmlformats.org/drawingml/2006/main" lIns="47625" tIns="28575" rIns="47625" bIns="28575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代表候选未严格领先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DQN总量：I45 / N0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产量差：+0.0 kg/ha (+0.0%)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WP_ET差：-0.06 (-3.4%)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PFP_N差：NA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胜出：无；seed：2/3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17C93231-E7F3-4392-BE57-96FE53301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15100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444444"/>
                </a:solidFill>
              </a:defRPr>
            </a:pPr>
            <a:r>
              <a:rPr sz="975" b="0">
                <a:solidFill>
                  <a:srgbClr val="444444"/>
                </a:solidFill>
                <a:latin typeface="Arial"/>
                <a:ea typeface="Arial"/>
                <a:cs typeface="Arial"/>
              </a:rPr>
              <a:t>差值=DQN代表策略−四基线中该指标最高可比值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245FDBAA-1F64-4735-AE61-E3430F091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444444"/>
                </a:solidFill>
              </a:defRPr>
            </a:pPr>
            <a:r>
              <a:rPr sz="1050" b="0">
                <a:solidFill>
                  <a:srgbClr val="444444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1159321670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3c989babf2427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400300" y="420386"/>
            <a:ext cx="7391400" cy="5941028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F8149E-9FCA-499C-934A-93DDAA137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572250"/>
            <a:ext cx="333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444444"/>
                </a:solidFill>
              </a:defRPr>
            </a:pPr>
            <a:r>
              <a:rPr sz="900" b="0">
                <a:solidFill>
                  <a:srgbClr val="444444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1681557157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09257984-6C78-4A12-A7AE-E7F892607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444444"/>
                </a:solidFill>
              </a:defRPr>
            </a:pPr>
            <a:r>
              <a:rPr sz="1125" b="0">
                <a:solidFill>
                  <a:srgbClr val="444444"/>
                </a:solidFill>
                <a:latin typeface="Arial"/>
                <a:ea typeface="Arial"/>
                <a:cs typeface="Arial"/>
              </a:rPr>
              <a:t>HLA｜数据表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92FDA9-619A-4DDF-9CDC-5D583BD3F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57200"/>
            <a:ext cx="11239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海伦 2022：精确终值、DQN措施与seed证据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08BC31-B4F1-461E-A3FA-62F3AEA7E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6680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E20925-C29D-4943-910C-248705610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238250"/>
            <a:ext cx="17621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4AD48F-5ABC-4526-83E8-25B31EACF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47775"/>
            <a:ext cx="17240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情景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69902B-DADC-4FA5-9201-5655584BF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1238250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E3144F-DA62-4FDA-B7B2-D2F815A9D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1247775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产量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BC5DA8-B3B4-4191-8EC2-D338291BE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238250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08BB34-6383-4E96-807E-1404962F2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247775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生物量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407A9F-80C8-45C6-8BCA-ADF8B7EBD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123825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2FA468-8FBF-44DB-8D6D-5EC3DCD75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124777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灌溉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C51554-332A-4682-B824-D0E856C73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123825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F0C045-B827-4003-93C6-96025DCEF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124777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施氮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3B46CC-FAC9-4F6C-9166-B45A80E28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23825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717D1D-9FFE-4238-B02F-1B4AC187C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124777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WP_ET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6B71FA-C24C-4B1B-924D-E6D899787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23825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CDAED9-8012-47AB-B5E7-A563636B8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124777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PFP_N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A3F458A-66B3-4E73-9243-18E09D70A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1238250"/>
            <a:ext cx="15716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371A384-EF55-4E86-9E2B-72717867A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1247775"/>
            <a:ext cx="15335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累积奖励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D30F8C4-4B04-4425-8958-89D34BDA1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647825"/>
            <a:ext cx="17621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682CF8A-F15F-470A-B3FC-241CE1A0E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57350"/>
            <a:ext cx="17240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Null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A91CB11-0A4F-444A-BFF0-EAD946A48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1647825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EED3F12-CDBA-4F4D-9272-B3DF28359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1657350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7787.0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6C7DD91-56CC-4037-838F-325E4E8A7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647825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FB24965-5C23-4B77-884B-673726336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657350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18370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2A94FB1-1F55-46E4-B499-360FD4E04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164782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049D27D-2BEF-4EAE-9516-AAFC5432A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165735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0.0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6761C84-E9EA-4208-9EC0-1DDB5AA7F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164782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CFD440F-536F-41A7-8584-39DBC5096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165735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0.0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B155FDA-DC52-483C-BD81-8BC6DF588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64782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6231183-DAD2-4C20-8C02-F95BEA1AA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165735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1.69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209425C-22EF-4DEF-B9A3-8C2D95B98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64782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CC5830D-A1EC-44A8-AB3A-A637932C9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165735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NA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B0211E8-6C58-4BF4-B320-0E909225C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1647825"/>
            <a:ext cx="15716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14DD7F4-2BBA-481F-A68E-01D069273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1657350"/>
            <a:ext cx="15335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0.0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2BDECFD-0F6E-4F4B-BCF9-205A53E61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057400"/>
            <a:ext cx="17621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38728E4-C556-45B6-AAD0-633F181C7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66925"/>
            <a:ext cx="17240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Recorded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9A2D0A7-7D7F-4455-B17D-B26C94E0D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057400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EB6E194-B32D-4825-A4B4-2CA5C5A27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2066925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7935.0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8B030BB-1152-4C32-B642-56A517BF9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057400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6785E53-BB9B-49C4-9256-0101999CB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066925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18552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84ACFD0-5DF4-4304-95A8-DBF4EECEE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05740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DE00F8D-1C5F-40C3-93DD-DBFEA3061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06692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30.0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66336D6-B521-4F07-9488-0FCEAA428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05740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FD2B4EF-CC95-4A1D-BA7D-E05DBC0CD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206692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165.0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5D70AED-CF9A-47D6-A767-64FEAB911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05740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7F018B9-3F50-4702-AD7C-0F72A3C4E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206692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1.68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A6DD1C3-F760-4E6A-828E-148ECD1BA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05740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C903AC3-C11C-4F76-BCBE-8FBA7B441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206692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48.1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A515419-54D8-46D9-B7F7-57E18F5D6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057400"/>
            <a:ext cx="15716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1C4786A-98CC-41C3-9B1A-687E37BF1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2066925"/>
            <a:ext cx="15335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-707.0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F49E654-3812-462D-8D6E-8D263671C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466975"/>
            <a:ext cx="17621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3F30374-758D-4C92-A10C-E71A8BBE6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0"/>
            <a:ext cx="17240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DSSAT auto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B13A8AF-3BFE-4EFF-A7B4-E755CC0BD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466975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E0BF486-87D5-47C6-A852-78230B9D0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2476500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7935.0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5DF9477E-CDDC-4128-B3D2-874FCA70F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466975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8F95AB28-32DF-4B98-BA80-6AB3E8CC7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476500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18552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D1368CB8-96B6-42F9-A205-D8E9D5A0B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46697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A5AA862F-B3DA-45E7-8A11-5AD285BB0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47650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143.6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142C97AA-200F-403E-86EC-E25114905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46697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4E0FB156-F96A-4C29-A678-22F285D58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247650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0.0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F57B7BB3-31B3-4ED9-B392-B2724C803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46697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5C0AB50B-F3DE-4A0B-89EF-1743551CF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247650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1.64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9F1DBF66-484D-4E24-9DFA-21AA60B49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46697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2B4FE7CE-3BC5-4497-BFAE-43F4FDD5F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247650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NA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AF937734-5914-4CA5-9D2A-8ACF27303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466975"/>
            <a:ext cx="15716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A594246B-BAE8-4DE6-814D-3EC19B903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2476500"/>
            <a:ext cx="15335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4.4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B59866FD-E88F-456E-8D2A-5CACD895E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876550"/>
            <a:ext cx="17621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DD084A17-3DA7-42E7-9781-0EA5BEC4B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86075"/>
            <a:ext cx="17240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Official expert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F9D10B5C-B498-424B-BE54-FD2E59663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876550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A415BCC3-BB31-4BD5-A19C-94CFE3594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2886075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7803.0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E25FFAA0-0D3A-4176-ADBF-7E7F3728C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876550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A037B9BF-9747-4547-A132-9572C2574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886075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17518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00CF8CDE-21AA-4E81-966F-FABA82580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87655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B232A1E7-333E-4E80-A0B3-224AD367D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88607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266.1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33E51D4F-EB2B-46BD-8AAD-898821F16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87655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1C0B808B-47E7-4078-8071-33E361E66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288607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300.0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77DC3E3A-B4C9-406A-85BF-8A9DAF521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87655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477AD21A-4B58-4B23-B495-2922DD15D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288607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1.61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D6C813F7-918A-4CFE-9FD1-DFF5BAD13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87655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FC8C31B5-10E4-470D-9E50-FA48D39A2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288607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26.0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7AF785E4-B2FF-4D33-A8AB-7AF732822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876550"/>
            <a:ext cx="15716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098FF001-91EA-4D82-A0F8-8558CD053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2886075"/>
            <a:ext cx="15335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-1750.1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21F0D86D-3A40-40F6-9743-3E0819851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286125"/>
            <a:ext cx="17621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B5232C0C-19A4-4693-807F-3D217A25C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95650"/>
            <a:ext cx="17240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DQN candidate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1613B147-6E47-4312-A879-3944A7594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286125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D030C97C-D6FD-4C52-A9E5-1F564D552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3295650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7935.0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9B191AA8-F2DA-431F-AB62-8809C133F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286125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EF7DA3BA-3F08-4833-A61D-EA4B300E6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295650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18552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2FC8D868-704C-4EB2-86BB-CC8B84E9E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28612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3343083C-B8B6-4D82-A9D5-FFE80864E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329565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30.0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674FCBB9-3341-47D7-8E43-A85452CAA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328612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768C1E3B-9E64-4673-AB75-E4E5B3725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329565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0.0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0630965B-DE17-484B-9483-120CBDABA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28612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13F47AAC-20A9-4C5D-A03A-EDC0D2A4F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329565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1.65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B7732584-1A59-4607-9ACE-DB3AE0445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28612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BA11E425-5B1B-4B40-8BF7-51A33AE8F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329565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NA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BD93DB56-C512-4084-8FFE-887FF22D7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286125"/>
            <a:ext cx="15716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BE769BB9-11A3-4C0A-A783-178B23575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3295650"/>
            <a:ext cx="15335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118.0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D1E5679A-D4C4-4AE7-9F9B-BCBB8B5FB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DQN阶段措施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7C396AD5-B88A-48F4-A79F-A4E723F43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62450"/>
            <a:ext cx="676275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  <p:txBody>
          <a:bodyPr xmlns:a="http://schemas.openxmlformats.org/drawingml/2006/main" lIns="47625" tIns="28575" rIns="47625" bIns="28575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DAP1: I15.0/N0.0; DAP30: I15.0/N0.0; DAP50: I0.0/N0.0; DAP65: I0.0/N0.0; DAP85: I0.0/N0.0; DAP110: I0.0/N0.0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B0CF0CB5-F6F6-4F82-9A77-0D5A8F313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0005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结果判定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219CACED-728C-4C43-BF49-0409299D8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362450"/>
            <a:ext cx="4191000" cy="166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  <p:txBody>
          <a:bodyPr xmlns:a="http://schemas.openxmlformats.org/drawingml/2006/main" lIns="47625" tIns="28575" rIns="47625" bIns="28575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代表候选未严格领先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DQN总量：I30 / N0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产量差：+0.0 kg/ha (+0.0%)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WP_ET差：-0.04 (-2.4%)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PFP_N差：NA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胜出：无；seed：0/3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3BCDE1E1-345A-4424-A2C9-B73E2A33D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15100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444444"/>
                </a:solidFill>
              </a:defRPr>
            </a:pPr>
            <a:r>
              <a:rPr sz="975" b="0">
                <a:solidFill>
                  <a:srgbClr val="444444"/>
                </a:solidFill>
                <a:latin typeface="Arial"/>
                <a:ea typeface="Arial"/>
                <a:cs typeface="Arial"/>
              </a:rPr>
              <a:t>差值=DQN代表策略−四基线中该指标最高可比值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BB018FCF-9DFA-4675-BB95-57BB77EC6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444444"/>
                </a:solidFill>
              </a:defRPr>
            </a:pPr>
            <a:r>
              <a:rPr sz="1050" b="0">
                <a:solidFill>
                  <a:srgbClr val="444444"/>
                </a:solidFill>
                <a:latin typeface="Arial"/>
                <a:ea typeface="Arial"/>
                <a:cs typeface="Arial"/>
              </a:rPr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1577978699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73f6e490af458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400300" y="418686"/>
            <a:ext cx="7391400" cy="5944429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A92402-D09C-414C-8A29-C73C3CC6F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572250"/>
            <a:ext cx="333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444444"/>
                </a:solidFill>
              </a:defRPr>
            </a:pPr>
            <a:r>
              <a:rPr sz="900" b="0">
                <a:solidFill>
                  <a:srgbClr val="444444"/>
                </a:solidFill>
                <a:latin typeface="Arial"/>
                <a:ea typeface="Arial"/>
                <a:cs typeface="Arial"/>
              </a:rPr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1028569144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542C243F-EA07-420A-B6C9-DE80CFE59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444444"/>
                </a:solidFill>
              </a:defRPr>
            </a:pPr>
            <a:r>
              <a:rPr sz="1125" b="0">
                <a:solidFill>
                  <a:srgbClr val="444444"/>
                </a:solidFill>
                <a:latin typeface="Arial"/>
                <a:ea typeface="Arial"/>
                <a:cs typeface="Arial"/>
              </a:rPr>
              <a:t>LC｜数据表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226796-5126-42A4-9FFE-86D4E5995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57200"/>
            <a:ext cx="11239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栾城 2010：精确终值、DQN措施与seed证据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30C8DF-A6B2-4B5A-9B70-CD68B370C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6680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2F4883-C154-4278-98E4-10061D039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238250"/>
            <a:ext cx="17621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5B930F-EE66-469A-89A9-1900E3706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47775"/>
            <a:ext cx="17240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情景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776B19-1E55-46E6-8C09-8389FEC89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1238250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DA516F-D0E7-4B4B-BA6A-827914533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1247775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产量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9D9956-4358-40F9-8AD2-A5B26B75B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238250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6FB1EF-C0D5-402E-83FB-C8B99505B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247775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生物量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661B35-300B-42CD-922B-7BE3DFB66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123825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925CA9-E237-432B-B688-8D9ACCA30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124777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灌溉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B95948-0038-455A-A539-6550981FB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123825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DA555A-BE93-4753-B191-6792E22B8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124777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施氮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2A4CFE-C728-4AFA-8E91-5AD159AE3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23825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D506E3-B4AA-459D-A282-DAFE74DF5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124777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WP_ET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CC8419-42F0-47E1-ADC9-4C79CA166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23825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931E7D-4009-48C8-AC84-85AE8D335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124777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PFP_N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2143A47-1856-4C9D-A4B6-6FBC09758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1238250"/>
            <a:ext cx="15716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C0F1F2E-9FEC-4E7C-9731-124F97DA8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1247775"/>
            <a:ext cx="15335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累积奖励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C1D821B-738E-4959-A2D1-016A97CE1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647825"/>
            <a:ext cx="17621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B27544B-12F2-4777-93AC-D112E8001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57350"/>
            <a:ext cx="17240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Null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7EAE377-0D86-4386-AB90-E2279189D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1647825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0380AAC-DAC7-473C-B56B-E14595886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1657350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8051.0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A7A5328-4A87-46F4-99AC-63E241144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647825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539D788-0F3F-4320-919C-96EF103B1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657350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15541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1E5E8E4-84A3-4AAD-B912-3378FA292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164782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8F37347-9454-42C4-8295-94202FD33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165735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0.0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D834EA5-F816-4984-BDBF-74EC2C17F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164782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FF9E645-3A13-4202-9591-E134BC80A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165735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0.0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4D53B95-B033-4301-A131-69CEF5287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64782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AFE9F39-1881-4976-947A-04785FF98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165735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3.13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6AB07E5-42EB-4035-B369-2DFDEB46F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64782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A6C7210-DCB6-4468-96CD-45123C9FB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165735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NA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BA9AF71-F5AA-4BD9-BCCA-AE520863B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1647825"/>
            <a:ext cx="15716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406508B-7AF5-4128-9951-BAA05C953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1657350"/>
            <a:ext cx="15335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0.0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FA92B5A-9A86-48CA-ABE4-4C8090779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057400"/>
            <a:ext cx="17621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A609D8C-F8C1-44ED-9600-74DA30BE6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66925"/>
            <a:ext cx="17240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Recorded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993EF2B-4585-4199-A1CB-2E631F4E1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057400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EBEC3A6-DC43-4A83-8F22-2B4FC33D3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2066925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8732.0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EB3FA89-054E-4D51-8598-F70B74537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057400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F3C19C6-72E0-4F92-AACC-EB228BC83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066925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16324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4385700-7353-440A-8138-6ACEC463B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05740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9793BE7-CAA2-4921-9B6D-2149CE198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06692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130.0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2944B93-ADF8-4C29-A93E-C3DA67BB1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05740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91C8B91-1E97-4E04-A8EE-DCE4B5B13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206692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250.0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216D052-3383-4117-AADC-CB1ED2C43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05740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CE213D8-A7B1-44B0-B524-81C448796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206692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3.05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7056EE1-1333-4F6D-A842-8B2F9E18A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05740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D532AB2-BBC6-412A-8C79-32DAD1FFC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206692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34.9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71BCD4E-F320-4320-9899-DAB65B4EC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057400"/>
            <a:ext cx="15716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A6B3777-62A1-4B17-9A5D-FBF7B3D66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2066925"/>
            <a:ext cx="15335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-699.0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C400506-47E1-42E5-8E3F-91C455D89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466975"/>
            <a:ext cx="17621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E17A924-4310-457F-930D-5C3FE81F2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0"/>
            <a:ext cx="17240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DSSAT auto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4A01D49-AE41-47CA-A4F3-C6A13CA9D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466975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256E1DE-8F1E-42FA-AE58-CBE201D33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2476500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8738.0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F6BFB5A-1AEC-439D-9583-1FEF2F9CC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466975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6E85A0FD-E3B3-45B7-8D97-D3F15BE0B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476500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16373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2E4AEE2E-AC1B-449D-B208-7F9B60491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46697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DA9B0725-4983-4BA4-A63A-4CA80F572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47650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138.5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D43B23A3-E115-48A0-A9B2-1B31CB5FF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46697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AA3C353A-A719-4977-8C4C-57A017B6C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247650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0.0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BB519D21-47CD-4324-961F-8036B9769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46697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C2EB0FF1-45B0-48C1-9DA2-4FF21ACB9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247650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3.05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46BC3312-A1F5-45DD-B0E4-2C1BC49DE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46697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5A55A1DE-4533-48B2-BAA1-7B8FF6B15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247650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NA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7F169790-721B-4461-8248-B782F55D9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466975"/>
            <a:ext cx="15716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268CB2B4-E4CF-4110-8CEA-8620E7189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2476500"/>
            <a:ext cx="15335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548.5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2FAA1FFF-3EA2-45E0-A424-7B38E3AF9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876550"/>
            <a:ext cx="17621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0EF7428D-DEDC-49C6-95C4-B20352448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86075"/>
            <a:ext cx="17240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Official expert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1BC161CF-F940-43E5-B08C-D616B88E6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876550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FB630CDE-C6D6-452D-97B9-61CE92B7E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2886075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8739.0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CE79DCDA-0B15-4118-ACBC-289BDA390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876550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E673F3A2-C30B-4CEB-9C54-3137726BD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886075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16376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D86A4CEB-E491-4986-8D47-135F2CEC5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87655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5F34FEE4-99AC-4942-8C1D-600D4D9C5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88607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198.8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1BB48AFD-BE3C-4BD2-941B-236B16A23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87655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A015627D-DB26-433B-863B-5221AA43B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288607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247.0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FB41B2A7-F48E-4F56-8150-2FF062ED0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87655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D27C51A4-F5A1-4F7D-95A5-BC7E755D5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288607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3.10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92FBE514-F8E1-46FD-9D69-BB5B1AEEA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87655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13D939B3-FA2E-454F-990F-70E846C06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288607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35.3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B9E2DF8B-105E-4571-A796-12C598907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876550"/>
            <a:ext cx="15716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60157D64-60FD-47D4-99BF-684EA1581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2886075"/>
            <a:ext cx="15335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-745.8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0EBCC10C-450D-4352-9662-9535B065B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286125"/>
            <a:ext cx="17621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D8733B6B-086E-448B-905A-2375EDE1E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95650"/>
            <a:ext cx="17240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DQN candidate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32244B3C-4CEC-4326-BF6D-35BC318FD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286125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1BDB2A9B-8593-40C9-B146-881E09F3F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3295650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8739.0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01748983-7B31-4158-85B2-CD23FF955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286125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9A9E6921-2EE0-40FF-8EAB-3EBDA6A0D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295650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16375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2224EC0D-5D99-4BE8-9D38-DC59E59B5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28612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F4EEEFA8-C435-4B69-9B45-52284076C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329565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75.0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6B90F08F-ED35-4B37-A909-F282548B3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328612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0818EF4B-FF23-437D-8828-5E6D783C0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329565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0.0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99559DBB-1798-4961-8075-18B43641E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28612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14A2D63B-6DA6-4C95-A07B-6FA18F1C0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329565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3.17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30470EC4-CD89-472C-8B83-3A3FC84CC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28612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7D0BCF82-BF16-4BFE-B171-CBC6A39B4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329565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NA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B745347D-AF09-4BC1-8FA2-934128C62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286125"/>
            <a:ext cx="15716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6D3DD5D2-8F04-4BCB-B14F-742A202CF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3295650"/>
            <a:ext cx="15335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613.0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9CFDCBA1-92BA-4355-AD12-B4287A737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DQN阶段措施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4315D459-B53A-4ED5-93BF-51748A39F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62450"/>
            <a:ext cx="676275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  <p:txBody>
          <a:bodyPr xmlns:a="http://schemas.openxmlformats.org/drawingml/2006/main" lIns="47625" tIns="28575" rIns="47625" bIns="28575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DAP7: I15.0/N0.0; DAP30: I15.0/N0.0; DAP45: I15.0/N0.0; DAP60: I15.0/N0.0; DAP80: I15.0/N0.0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0CA3B302-131D-476D-818E-1E56EBE66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0005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结果判定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F99EDF17-C88B-47FE-9630-9E757C1C5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362450"/>
            <a:ext cx="4191000" cy="166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  <p:txBody>
          <a:bodyPr xmlns:a="http://schemas.openxmlformats.org/drawingml/2006/main" lIns="47625" tIns="28575" rIns="47625" bIns="28575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代表候选至少一项严格领先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DQN总量：I75 / N0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产量差：+0.0 kg/ha (+0.0%)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WP_ET差：+0.04 (+1.3%)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PFP_N差：NA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胜出：WP_ET；seed：2/3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77A611C4-1C62-4F21-8252-58059AC90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15100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444444"/>
                </a:solidFill>
              </a:defRPr>
            </a:pPr>
            <a:r>
              <a:rPr sz="975" b="0">
                <a:solidFill>
                  <a:srgbClr val="444444"/>
                </a:solidFill>
                <a:latin typeface="Arial"/>
                <a:ea typeface="Arial"/>
                <a:cs typeface="Arial"/>
              </a:rPr>
              <a:t>差值=DQN代表策略−四基线中该指标最高可比值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243E7890-E84B-4E14-AEBA-619CDA7A2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444444"/>
                </a:solidFill>
              </a:defRPr>
            </a:pPr>
            <a:r>
              <a:rPr sz="1050" b="0">
                <a:solidFill>
                  <a:srgbClr val="444444"/>
                </a:solidFill>
                <a:latin typeface="Arial"/>
                <a:ea typeface="Arial"/>
                <a:cs typeface="Arial"/>
              </a:rPr>
              <a:t>28</a:t>
            </a:r>
          </a:p>
        </p:txBody>
      </p:sp>
    </p:spTree>
    <p:extLst>
      <p:ext uri="{BB962C8B-B14F-4D97-AF65-F5344CB8AC3E}">
        <p14:creationId xmlns:p14="http://schemas.microsoft.com/office/powerpoint/2010/main" val="1613554358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347e2d79514b0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400300" y="420386"/>
            <a:ext cx="7391400" cy="5941028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3BE3CF-5EAD-4617-A22F-8D37F09FE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572250"/>
            <a:ext cx="333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444444"/>
                </a:solidFill>
              </a:defRPr>
            </a:pPr>
            <a:r>
              <a:rPr sz="900" b="0">
                <a:solidFill>
                  <a:srgbClr val="444444"/>
                </a:solidFill>
                <a:latin typeface="Arial"/>
                <a:ea typeface="Arial"/>
                <a:cs typeface="Arial"/>
              </a:rPr>
              <a:t>29</a:t>
            </a:r>
          </a:p>
        </p:txBody>
      </p:sp>
    </p:spTree>
    <p:extLst>
      <p:ext uri="{BB962C8B-B14F-4D97-AF65-F5344CB8AC3E}">
        <p14:creationId xmlns:p14="http://schemas.microsoft.com/office/powerpoint/2010/main" val="1703096844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93336B97-1613-4737-B4EB-87EABCCF4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444444"/>
                </a:solidFill>
              </a:defRPr>
            </a:pPr>
            <a:r>
              <a:rPr sz="1125" b="0">
                <a:solidFill>
                  <a:srgbClr val="444444"/>
                </a:solidFill>
                <a:latin typeface="Arial"/>
                <a:ea typeface="Arial"/>
                <a:cs typeface="Arial"/>
              </a:rPr>
              <a:t>SY｜数据表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D5B6F5-E164-4FB4-917A-74F4C001B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57200"/>
            <a:ext cx="11239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沈阳 2012：精确终值、DQN措施与seed证据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338513-BB30-48E3-A8B8-68BEF5F6D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6680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CD21DE-BA62-4B41-A0CF-9154D0FEC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238250"/>
            <a:ext cx="17621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9BD4ED-050A-49C6-B6AC-C9B109527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47775"/>
            <a:ext cx="17240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情景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A4523B-0CB3-4DD7-BA37-A504E1F3B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1238250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5D9B8C-5DFA-40D5-86A0-60779A4A8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1247775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产量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A066D0-B988-4BAE-9406-56103C61C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238250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FBBEE7-B3F9-4FB9-85AF-C8ACCBE67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247775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生物量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D97641-A062-449C-9890-EEFD7A39D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123825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ABB36E-E8E5-4F95-B3DA-DDE128A22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124777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灌溉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187F18-47A7-481B-9ACB-716E77E4A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123825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DFA8B0-8EFB-4393-B4B8-2155DAE49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124777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施氮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AAC734-F484-4C53-AEE3-A3357E38A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23825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850041-D7F9-46DF-B595-898FDB560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124777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WP_ET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9B23CE-17AA-4C18-84F8-420E45664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23825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CE9B81-A473-450B-9E22-7F8F0D2B9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124777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PFP_N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1018DD-9785-4BF2-85DF-288A9E560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1238250"/>
            <a:ext cx="15716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89434FC-F279-4F59-86B8-3C800B592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1247775"/>
            <a:ext cx="15335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累积奖励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75DC736-E596-4F69-A20A-C64AEF027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647825"/>
            <a:ext cx="17621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9EC72E9-B1C8-4B93-BC4D-40A91ABCD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57350"/>
            <a:ext cx="17240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Null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E6C28EF-AA80-42CE-8A8C-C1739793A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1647825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657C596-5DFD-4DAD-B1ED-D4F15C342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1657350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7002.0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2AEE281-12B6-4AC1-937A-47F4A682A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647825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4A1AB1E-D4AE-4A42-AD7E-803E6F1BB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657350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13135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7048F76-4BC3-4B86-A17C-D855C82D7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164782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62BF0AC-F2E0-470A-963E-B1FA50780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165735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0.0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FA998B2-EA75-4F5F-86EE-F34E41695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164782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76FBAF0-D511-4775-8576-0A3FBA83C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165735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0.0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3449850-C59A-47A1-9C06-5E6F2277C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64782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1732036-F3F4-4902-BC9B-2B683C580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165735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1.64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E9A2651-5248-4310-9B9E-3B61E55C3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64782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B5EE21C-1DBF-43A3-AD7C-8B6FB3E83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165735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NA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A35477E-8B8E-44BA-9490-EDDCF62A7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1647825"/>
            <a:ext cx="15716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B4078E9-EA3C-4E39-AD10-CFF93A3BA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1657350"/>
            <a:ext cx="15335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0.0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4BDA509-9EFC-463C-B020-7184DB56E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057400"/>
            <a:ext cx="17621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1130AA5-BACE-49B5-9610-60047977A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66925"/>
            <a:ext cx="17240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Recorded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74C5964-B94D-447F-BAAF-6DCBDF161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057400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F075D2F-3130-4EEA-9C19-53F695FD5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2066925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10166.0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1B53E58-50B4-42EA-A656-AA241DDFA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057400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CD48A76-7CF2-49FE-9E0E-7AAC927B1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066925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16789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8887439-5B11-42B8-B22E-648E38C2E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05740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DC257B6-224C-46CD-B07E-E0B7A95D8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06692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0.0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CD7194F-9C30-4814-8D56-9A6AEDED6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05740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043E79D-F489-454E-AB05-3B8B5DC78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206692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293.0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70F3B75-C097-4A36-9EA2-82D564BC9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05740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22AE5BE-F3B1-4701-BC63-7649F9FA8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206692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2.36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6B06E7C-8E3B-42FF-AB44-3BEC8A01F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05740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C7D3A00-ADA6-461C-8407-E23B914A8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206692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41.2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DAE7A82-33C8-41AA-A3F9-C2A21B83C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057400"/>
            <a:ext cx="15716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058F6A0-8F12-4731-847A-81E1DAF41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2066925"/>
            <a:ext cx="15335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1699.0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BD2EE0A-E961-4DBD-9EF8-DAE6239C9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466975"/>
            <a:ext cx="17621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29E53AA-90D9-4C3A-AC66-EA69C8565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0"/>
            <a:ext cx="17240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DSSAT auto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47B78FA-BC80-4108-8487-D04FDCEFB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466975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656954F-3065-47B9-BFBF-53FE418D8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2476500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7016.0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E9F38863-7313-4D3B-9688-558C88EEA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466975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499A750A-79E5-4E85-A35F-73726EE6F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476500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13134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B80AAA50-D9BF-4873-8B8F-76CC8A7BB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46697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A5577AA7-4768-40C3-8911-64C5E1BDB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47650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33.0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2611FC1F-97C2-4E9A-90BC-2A0FB6A07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46697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0572D039-DF27-4F7D-A499-CFBA5B229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247650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0.0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678FD003-2D40-4AB8-B1CF-2177DA6DF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46697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5EE96790-EB49-4782-B156-F110AF77F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247650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1.60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CE512C7E-1638-4198-82C7-950DD3AF8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46697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FEFE321F-3B86-42AC-B6CC-CAD47D709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247650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NA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0676DE28-B9DA-446A-864E-060DA159A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466975"/>
            <a:ext cx="15716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44793EAF-FC8F-4BD6-BDE6-7C60F7755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2476500"/>
            <a:ext cx="15335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-19.0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A5DA4062-505E-431A-8AE7-AE2A04F53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876550"/>
            <a:ext cx="17621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81919911-73EB-425F-BC32-4CA2F5E15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86075"/>
            <a:ext cx="17240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Official expert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9944E049-86C7-4325-96B5-47015C370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876550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DC9C1D9E-94C2-4E18-B79E-F7C3DACA3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2886075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9609.0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CC36D374-9B0E-4557-8312-C3F0B898C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876550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B2BE37D7-14C6-4029-A2AD-2C3D47FFA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886075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15204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5CD0C84C-B63E-4EAB-9803-EBF5BBBCE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87655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139A8C76-2DFF-4847-97FB-41D8AF6C5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88607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266.1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CDB71901-93E9-44DA-A550-E6C3C5FAF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87655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7092FBD6-51FD-4829-B509-46F4CCED6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288607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300.0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5886D739-2EDA-4695-9E6E-255F27211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87655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D5C7B81D-759A-4BDB-9ED5-1636014B8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288607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2.21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1B03FB78-30BD-4D34-8B37-7F9EBF5DF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87655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58053440-46DB-4944-847C-1F9F92C00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288607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32.0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E186628E-6333-4867-A804-A45305BB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876550"/>
            <a:ext cx="15716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5C4BC80E-A6EA-45BA-B82D-607C556C6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2886075"/>
            <a:ext cx="15335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840.9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B5CB83A7-3BB9-4211-9CF9-3066E25CB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286125"/>
            <a:ext cx="17621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AE7D5B99-2A5D-4EB2-BA2F-CD7F7697C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95650"/>
            <a:ext cx="17240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DQN candidate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BF2E2D7E-D503-4FDD-9958-60A281D5B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286125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E593B067-506D-48CF-8C56-2AC34F5E9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3295650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10072.0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2997520B-50FE-4E74-9C29-DA8468841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286125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001F85B4-42C9-4AFC-84E4-818314CCD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295650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16497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8634DE53-78ED-451C-84A3-793919AD5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28612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66E10CC9-C383-4B86-9112-E3F4C22DA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329565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75.0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DD3CE205-4B81-4AAD-BEA1-54E2FFEC1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328612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CF685B20-5C24-4DDA-9D4E-575506801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329565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250.0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BB64167C-462C-4E29-9A2A-526F9BBC6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28612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9FE1AC6D-711D-4345-86BF-3DE72D2A2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329565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2.29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B9A7922D-6286-470D-8134-65DCCE24E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28612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26AFFA36-6D34-47C6-85EB-559109CCC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329565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40.3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01B46CDA-A678-49D1-94D5-F6FA476E3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286125"/>
            <a:ext cx="15716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B40DB3B3-FF86-4244-A9E8-D93246E0F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3295650"/>
            <a:ext cx="15335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1745.0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6B59F744-3BDC-4212-A73D-2D73A43F6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DQN阶段措施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A8646441-33F0-44AF-8CED-0D59A2DBF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62450"/>
            <a:ext cx="676275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  <p:txBody>
          <a:bodyPr xmlns:a="http://schemas.openxmlformats.org/drawingml/2006/main" lIns="47625" tIns="28575" rIns="47625" bIns="28575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DAP1: I15.0/N50.0; DAP30: I15.0/N50.0; DAP50: I15.0/N50.0; DAP65: I0.0/N100.0; DAP85: I15.0/N0.0; DAP110: I15.0/N0.0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5CBCD70A-867A-456D-8D99-66D915617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0005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结果判定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2B67CA8B-A090-4117-842B-A1E43AEDA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362450"/>
            <a:ext cx="4191000" cy="166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  <p:txBody>
          <a:bodyPr xmlns:a="http://schemas.openxmlformats.org/drawingml/2006/main" lIns="47625" tIns="28575" rIns="47625" bIns="28575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代表候选未严格领先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DQN总量：I75 / N250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产量差：-94.0 kg/ha (-0.9%)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WP_ET差：-0.07 (-3.0%)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PFP_N差：-0.9 (-2.2%)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胜出：无；seed：1/3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20B0F43B-DB62-480C-B762-4451C8859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15100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444444"/>
                </a:solidFill>
              </a:defRPr>
            </a:pPr>
            <a:r>
              <a:rPr sz="975" b="0">
                <a:solidFill>
                  <a:srgbClr val="444444"/>
                </a:solidFill>
                <a:latin typeface="Arial"/>
                <a:ea typeface="Arial"/>
                <a:cs typeface="Arial"/>
              </a:rPr>
              <a:t>差值=DQN代表策略−四基线中该指标最高可比值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732620A0-9B33-4376-8D05-C820F4AB9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444444"/>
                </a:solidFill>
              </a:defRPr>
            </a:pPr>
            <a:r>
              <a:rPr sz="1050" b="0">
                <a:solidFill>
                  <a:srgbClr val="444444"/>
                </a:solidFill>
                <a:latin typeface="Arial"/>
                <a:ea typeface="Arial"/>
                <a:cs typeface="Arial"/>
              </a:rPr>
              <a:t>30</a:t>
            </a:r>
          </a:p>
        </p:txBody>
      </p:sp>
    </p:spTree>
    <p:extLst>
      <p:ext uri="{BB962C8B-B14F-4D97-AF65-F5344CB8AC3E}">
        <p14:creationId xmlns:p14="http://schemas.microsoft.com/office/powerpoint/2010/main" val="1307806940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b91512cd8b457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400300" y="420386"/>
            <a:ext cx="7391400" cy="5941028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092EC0-5556-4243-A355-07F1EAE47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572250"/>
            <a:ext cx="333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444444"/>
                </a:solidFill>
              </a:defRPr>
            </a:pPr>
            <a:r>
              <a:rPr sz="900" b="0">
                <a:solidFill>
                  <a:srgbClr val="444444"/>
                </a:solidFill>
                <a:latin typeface="Arial"/>
                <a:ea typeface="Arial"/>
                <a:cs typeface="Arial"/>
              </a:rPr>
              <a:t>31</a:t>
            </a:r>
          </a:p>
        </p:txBody>
      </p:sp>
    </p:spTree>
    <p:extLst>
      <p:ext uri="{BB962C8B-B14F-4D97-AF65-F5344CB8AC3E}">
        <p14:creationId xmlns:p14="http://schemas.microsoft.com/office/powerpoint/2010/main" val="1128359309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DF29E8FA-321F-4BFA-B0AA-4CB5885FD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444444"/>
                </a:solidFill>
              </a:defRPr>
            </a:pPr>
            <a:r>
              <a:rPr sz="1125" b="0">
                <a:solidFill>
                  <a:srgbClr val="444444"/>
                </a:solidFill>
                <a:latin typeface="Arial"/>
                <a:ea typeface="Arial"/>
                <a:cs typeface="Arial"/>
              </a:rPr>
              <a:t>SY｜数据表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A222D8-F5C9-4006-B154-4062949CC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57200"/>
            <a:ext cx="11239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沈阳 2014：精确终值、DQN措施与seed证据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2F8529-5773-411F-B493-C47AA2D7F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6680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C71CDB-6892-4BFF-B93D-E85F26F34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238250"/>
            <a:ext cx="17621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9B48F8-BCCF-482F-98F2-639744CDC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47775"/>
            <a:ext cx="17240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情景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16EC4E-7F5D-4694-AF01-6AF9D0A35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1238250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16D8D8-A958-4BBD-AFEF-68F7B0B29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1247775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产量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62B2A1-88B7-4742-B458-4A12CB9F2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238250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1BE4C2-2F04-42A2-8398-52ADCDB35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247775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生物量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53C217-DB53-4217-89A1-CE91A45DF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123825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C51708-6A53-4DC2-BD78-1663B2A36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124777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灌溉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1E6DBA-E5C9-4237-B74D-3C28D9CB4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123825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90D27F-8F07-41C3-A13D-E0F135EB8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124777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施氮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304F01-0AB8-4A56-B32D-C259F1903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23825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D3E084-ACF8-4685-BF07-DC589A7EC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124777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WP_ET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07990A-7000-41AC-9CE9-666C67FF4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23825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7D13E41-5C22-4030-A0AE-069533B98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124777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PFP_N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1E79F3-BEF4-4868-8AC1-9EE2AB761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1238250"/>
            <a:ext cx="15716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1E489A5-6127-45ED-A68E-C1FFB92F0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1247775"/>
            <a:ext cx="15335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累积奖励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2F9C4F-9601-456D-96C5-418B39AE2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647825"/>
            <a:ext cx="17621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DAB669E-870F-4802-85B9-CEDE00097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57350"/>
            <a:ext cx="17240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Null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A706DDE-8421-45DE-B144-D646187F9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1647825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98DCF44-D760-4B22-BDCC-1663614F7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1657350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5408.0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A5318D2-3FC1-4CCD-A4D7-B6EDC1BBC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647825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12DFF53-322E-431E-83FB-AFB1ADA66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657350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10603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7CD8CD6-A2EE-4510-8BD4-EB7ADBAA1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164782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B0C67C5-2D90-487C-9428-3CB595105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165735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0.0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E097325-CB81-4078-82C1-6E73CDE7D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164782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867B96A-DE8A-42DD-890C-DD860AC96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165735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0.0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36C1470-9919-48AF-BD1C-745F72BEB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64782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53CCBF3-EE13-4A52-BBE1-4FC0325AA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165735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1.22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8152BB3-AEE1-4711-99FD-638704CA2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64782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AE77FEA-1938-4353-95F6-70CED29BA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165735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NA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6228D87-9122-4D12-B6F9-6E73FBCC2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1647825"/>
            <a:ext cx="15716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E01D32B-DB85-4B46-B205-F47BC1EB0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1657350"/>
            <a:ext cx="15335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0.0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57DC2E0-D186-4257-A8F3-28C03DBD0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057400"/>
            <a:ext cx="17621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11E9C65-2420-4944-A742-F6502239F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66925"/>
            <a:ext cx="17240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Recorded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0D6E2D8-9F24-419A-A8E2-CB2F54DD0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057400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EA6989B-75E9-4ED7-AB7E-75649B108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2066925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9613.0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9A757F0-4C7F-4525-AE8E-68DEAF43C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057400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D0A6399-AC06-425A-9EE4-7B60DEB3B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066925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18194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C751042-1CE5-4C8C-83A3-118C07366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05740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1CEF434-C69A-4D55-A2E2-122204613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06692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0.0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81A79DD-AB57-47E7-8495-639D42E2F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05740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39A5FE7-B4CF-4387-A79C-EBAF8278B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206692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293.0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277E454-0ED6-419E-9FA8-2EC690921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05740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903D745-7830-4926-BEA8-EA42F09EF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206692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2.16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909891F-DE27-44DE-91BC-BD6C171E5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05740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2F9C623-3493-4E3A-8CCB-E91F644B5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206692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38.9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0E52D17-5735-475A-988D-AD6C0A42B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057400"/>
            <a:ext cx="15716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46FCED6-50EC-4154-A02E-DFDF14AED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2066925"/>
            <a:ext cx="15335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2740.0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C9A1D91-0F7C-43A3-A7C5-B91216C29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466975"/>
            <a:ext cx="17621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926517C-8301-49D2-9187-51E419036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0"/>
            <a:ext cx="17240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DSSAT auto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F6E1AAE-48C5-453F-BC35-61FFCD901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466975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9DBAED1-C4B5-43D1-B579-96338EB28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2476500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5498.0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EBEE7FD-10AA-489A-99C1-4C6BCCDEF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466975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DE252933-6D20-4322-9B27-F96B52C66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476500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10688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A18605CD-1281-48FB-BF35-69A2B39CC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46697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C8216E9E-5B4C-41E5-A882-DC921BA90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47650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66.0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C3E4EB66-816A-4057-83D5-449CE0E55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46697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66060B25-A8AA-436E-BDB2-00608C66F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247650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0.0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8C3DCBCE-2EC1-44A8-8883-354C87AD8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46697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F75B5D1F-25C8-461C-98DC-5E7BEE1CE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247650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1.20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3565CC1B-8E63-4F83-9CAE-736A91255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46697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938B1DA4-59C8-43EF-8F13-E9E760339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247650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NA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03F160B5-CD77-4FFB-A417-1FBF274E1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466975"/>
            <a:ext cx="15716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70F19BED-517C-4499-B33B-C37448B17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2476500"/>
            <a:ext cx="15335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24.0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DECB0EB6-414B-41EE-B351-00474A5A3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876550"/>
            <a:ext cx="17621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BA62EF41-2DC0-439C-A603-668392AD3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86075"/>
            <a:ext cx="17240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Official expert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857BED12-007C-496B-A9F9-1DC88A986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876550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D01158FB-FD79-4A3F-AD81-DB5E8231B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2886075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11059.0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562DAB4C-8144-4C39-9339-BEEA6CD5A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876550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CE10C2D3-DD80-468F-B017-D80BE8B25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886075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19440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F4F9B726-0021-4128-871A-FB5C2D867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87655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DA7E5CA3-E5F5-499A-A389-A5E43DC65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88607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266.1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FB82F78E-2D56-4536-84FD-38EFD52AF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87655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3B80772A-C9B3-4E79-A6E4-0096B5506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288607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300.0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90063878-5AF0-4439-A244-285F18E9A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87655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7EF1B808-6781-44D1-B6D2-9DC4761DA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288607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2.26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3595CD63-D958-4538-A91D-EFAE1583F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87655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AC70229A-6F0D-4941-9142-42CE2417F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288607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36.9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734F8998-96F7-4EC4-B56C-391990EBB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876550"/>
            <a:ext cx="15716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C0E83101-C2D5-4AC7-A7BA-40EC1F445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2886075"/>
            <a:ext cx="15335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3884.9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6907445D-26DC-416B-A38E-8351D3A18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286125"/>
            <a:ext cx="17621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B8989F60-152F-433D-B8A6-33FD8043C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95650"/>
            <a:ext cx="17240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DQN candidate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5898A9E3-DE91-4701-B929-F943377B2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286125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90E1093C-06DA-4691-BD63-4BAED8BDF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3295650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11161.0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B8112D0F-C014-4E6C-97B3-2CF2EA633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286125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751C42D9-B0D5-4DB2-B5CF-3F19B42B8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295650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20179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BEBCB06D-1876-41E8-9A3B-9E62A1445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28612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2F41911D-D7F3-4726-91D2-C7712CCA9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329565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45.0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38ABEDC3-0831-473A-8E91-2BDEBC2AC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328612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29EB7CF1-3DC8-45DB-92A4-93A148EC2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329565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300.0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A85E6D45-8A2C-445E-BE11-779A6EB19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28612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62503EB9-48EC-4DB1-81BB-34A4ED8C6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329565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2.34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9BA810DC-A5B2-4E1F-973E-A0365D34E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28612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CCB2E0A8-F999-44CD-B1C7-897475FFB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329565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37.2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135D236B-597C-4B8A-8989-B99792E60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286125"/>
            <a:ext cx="15716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5E8E2CEE-9D23-419B-80F3-BE2316E8D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3295650"/>
            <a:ext cx="15335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4208.0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BBEE99A6-4ED6-434F-9737-5D6E018DA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DQN阶段措施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9D08A222-BA19-4B6C-A95C-0C4D8AEA0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62450"/>
            <a:ext cx="676275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  <p:txBody>
          <a:bodyPr xmlns:a="http://schemas.openxmlformats.org/drawingml/2006/main" lIns="47625" tIns="28575" rIns="47625" bIns="28575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DAP1: I0.0/N100.0; DAP30: I0.0/N100.0; DAP50: I0.0/N100.0; DAP65: I15.0/N0.0; DAP85: I15.0/N0.0; DAP110: I15.0/N0.0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5CA862B9-3387-4515-9BDF-61ACE124D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0005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结果判定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900D4DB9-B824-41C4-89DC-9EFEE222D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362450"/>
            <a:ext cx="4191000" cy="166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  <p:txBody>
          <a:bodyPr xmlns:a="http://schemas.openxmlformats.org/drawingml/2006/main" lIns="47625" tIns="28575" rIns="47625" bIns="28575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代表候选至少一项严格领先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DQN总量：I45 / N300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产量差：+102.0 kg/ha (+0.9%)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WP_ET差：+0.08 (+3.5%)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PFP_N差：-1.7 (-4.4%)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胜出：yield；WP_ET；seed：3/3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456CDB8F-0740-4D5E-A1B7-9FE037F96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15100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444444"/>
                </a:solidFill>
              </a:defRPr>
            </a:pPr>
            <a:r>
              <a:rPr sz="975" b="0">
                <a:solidFill>
                  <a:srgbClr val="444444"/>
                </a:solidFill>
                <a:latin typeface="Arial"/>
                <a:ea typeface="Arial"/>
                <a:cs typeface="Arial"/>
              </a:rPr>
              <a:t>差值=DQN代表策略−四基线中该指标最高可比值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B65677C2-D0F5-43AA-B7CA-2AE1580F0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444444"/>
                </a:solidFill>
              </a:defRPr>
            </a:pPr>
            <a:r>
              <a:rPr sz="1050" b="0">
                <a:solidFill>
                  <a:srgbClr val="444444"/>
                </a:solidFill>
                <a:latin typeface="Arial"/>
                <a:ea typeface="Arial"/>
                <a:cs typeface="Arial"/>
              </a:rPr>
              <a:t>32</a:t>
            </a:r>
          </a:p>
        </p:txBody>
      </p:sp>
    </p:spTree>
    <p:extLst>
      <p:ext uri="{BB962C8B-B14F-4D97-AF65-F5344CB8AC3E}">
        <p14:creationId xmlns:p14="http://schemas.microsoft.com/office/powerpoint/2010/main" val="262411803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e2d0f461bc415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400300" y="420386"/>
            <a:ext cx="7391400" cy="5941028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3C6DAB-69A5-4D19-9EC6-0F27C8292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572250"/>
            <a:ext cx="333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444444"/>
                </a:solidFill>
              </a:defRPr>
            </a:pPr>
            <a:r>
              <a:rPr sz="900" b="0">
                <a:solidFill>
                  <a:srgbClr val="444444"/>
                </a:solidFill>
                <a:latin typeface="Arial"/>
                <a:ea typeface="Arial"/>
                <a:cs typeface="Arial"/>
              </a:rPr>
              <a:t>33</a:t>
            </a:r>
          </a:p>
        </p:txBody>
      </p:sp>
    </p:spTree>
    <p:extLst>
      <p:ext uri="{BB962C8B-B14F-4D97-AF65-F5344CB8AC3E}">
        <p14:creationId xmlns:p14="http://schemas.microsoft.com/office/powerpoint/2010/main" val="1340339330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FAA0EE58-ECC6-4699-8833-789E23362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444444"/>
                </a:solidFill>
              </a:defRPr>
            </a:pPr>
            <a:r>
              <a:rPr sz="1125" b="0">
                <a:solidFill>
                  <a:srgbClr val="444444"/>
                </a:solidFill>
                <a:latin typeface="Arial"/>
                <a:ea typeface="Arial"/>
                <a:cs typeface="Arial"/>
              </a:rPr>
              <a:t>SY｜数据表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C0836C-AD2B-482A-B843-93D6DE0B3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57200"/>
            <a:ext cx="11239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沈阳 2015：精确终值、DQN措施与seed证据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55EDF4-AF15-47A3-BB6C-49AD80438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6680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5C06C1-07A4-4514-9CB1-6A6ED696D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238250"/>
            <a:ext cx="17621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0C0471-62D6-4671-8CBF-4C6D7BE5D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47775"/>
            <a:ext cx="17240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情景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D1B1A5-E34D-467B-B3ED-EE2224798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1238250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D6477C-19D2-4E9C-9C72-FA1E8B718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1247775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产量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B11613-AD74-4B6B-ABE3-15F634961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238250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A85C4F-47A5-4427-B682-E29908814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247775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生物量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EAF127-D9CE-4C28-BD4D-ADB869C08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123825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6B0BC4-63DE-4145-AD60-71E47BA85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124777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灌溉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4A729E-E0FE-4513-9755-D6D3D1058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123825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0297C3-2D83-4620-8E51-C1B1382A3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124777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施氮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3EB99A-454F-4441-A08F-9E1A50B17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23825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4DB2E2-23B9-46F8-BDEB-F53F2880B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124777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WP_ET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72A4C5-9BF4-4E4C-93A8-D5EB2FE32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23825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7A19CC-D92E-46A4-9208-01679789B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124777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PFP_N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91D001-6C17-42B9-85AD-7BA0E64C7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1238250"/>
            <a:ext cx="15716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E0AEFF2-668D-4621-B0D5-06772A661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1247775"/>
            <a:ext cx="15335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累积奖励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BBEA191-4709-45BA-A215-760157C20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647825"/>
            <a:ext cx="17621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F43CD09-B63F-40AD-BB5C-1207C7778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57350"/>
            <a:ext cx="17240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Null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3B4FB3E-7946-4513-AA92-7B2B92AE8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1647825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A180D11-1026-466B-A804-2E28B15B4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1657350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6601.0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E617641-4759-4463-8647-2D7F3EF94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647825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B03BA69-22D6-41DE-BD26-FCEABEF6E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657350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12320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9532DC3-F117-49CE-A9B2-FA3AC726D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164782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E34E123-FBA5-4784-BCF1-286E5339B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165735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0.0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2F89D02-75CC-4CA6-9844-CBBE99F16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164782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D1FC09B-1434-4AC4-9391-BC501A890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165735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0.0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4AF4781-AA1D-4B98-8A82-219C59099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64782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3031F20-17F7-418A-AA15-DB8274E4C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165735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1.51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368D43C-5961-442F-B118-AA0FEFD5E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64782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6EDA752-B6B9-4C42-A194-6A9FD43AB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165735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NA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5C960DF-832B-4B30-BDB9-921D1F0D4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1647825"/>
            <a:ext cx="15716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B0412A6-1DFD-419D-B5C7-15D7781F6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1657350"/>
            <a:ext cx="15335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0.0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95782B8-308D-49F4-A9B2-EEA8C4EF4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057400"/>
            <a:ext cx="17621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7C2353D-EC2F-4364-9972-214FABE4C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66925"/>
            <a:ext cx="17240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Recorded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8FA52E1-0D5B-432B-9D77-0207621C3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057400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FB3F639-7B89-4CD2-B653-5AC73B459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2066925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8973.0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6BE4BCF-405A-4628-BB49-1B0E52E19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057400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CF05E66-DA57-44BF-B810-8375C5E48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066925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17149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A96A2FC-E7A4-41BE-AB30-C6533D027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05740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ED20837-B3EF-4238-880A-CB7C600F2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06692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0.0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3345325-3A61-438B-87F1-42E0C003D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05740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95E8FCD-4058-4E6B-9DAA-18E3BB56C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206692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293.0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320B37E-E6F7-4EFC-953B-FAC81AF8B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05740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A9FB102-E1B5-4AB8-A790-DEB2335F9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206692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2.01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5BDD171-EE7D-4EE2-9DE8-969903485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05740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3C8B8C6-A07F-4953-B74B-0895A2A2E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206692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36.3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3A919B0-4862-4E55-A34A-E0BFA2C62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057400"/>
            <a:ext cx="15716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2D6700D-5395-4F6D-9B80-4DA4A9D1F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2066925"/>
            <a:ext cx="15335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907.0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0BA37D2-5919-4EB8-9058-27EF6BF77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466975"/>
            <a:ext cx="17621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4EB2953-E881-46E0-84A1-8FDBCF680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0"/>
            <a:ext cx="17240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DSSAT auto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86FA4AA-DDF3-4C1B-BCB5-46C971F7B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466975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C89E145-065C-49B2-91D4-65047D5CF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2476500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6868.0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C15AF3A-D0D5-4EBC-AD18-CD349B20E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466975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984A62ED-16EB-4554-8164-1CE870731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476500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13049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D739F01B-FDA0-4091-9923-A66EF090A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46697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3402D617-0AB9-47B9-B4AF-99B16C7F5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47650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68.7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1A89FB35-70FC-4319-AC8A-2F179A740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46697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2E420E7C-85A3-4932-8442-1BBA4F1A0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247650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0.0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C44FF07C-0075-4E6E-A165-30477E162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46697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5378627C-E9DF-42C0-A37B-90405776E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247650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1.52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B23ED112-215C-45FA-870B-9D439E840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46697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647A0F43-6A89-4FEB-AD62-A8F08A27A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247650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NA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54166348-6583-4A38-874F-23FB0677D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466975"/>
            <a:ext cx="15716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284707FC-D771-47BC-B295-FFF384FC7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2476500"/>
            <a:ext cx="15335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198.3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48A1BABF-CC68-4619-9C4F-60EA23E08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876550"/>
            <a:ext cx="17621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16983037-9B3E-4D0B-8D1F-7C2596204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86075"/>
            <a:ext cx="17240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Official expert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4B222EA7-CBC9-4E44-8064-B8A469E00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876550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1E75842F-9A24-448C-B734-36596C877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2886075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10891.0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1182F354-030D-4760-A21F-31D532230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876550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E73CDBEC-4FA7-4E86-95E3-3A26D10BE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886075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18257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4966E302-28B7-42FC-93C9-82A9419D9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87655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E0F8819B-7C79-4761-B48C-69560A515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88607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266.1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61D34FB7-AA27-41FB-A68A-D6F17DB66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87655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48800607-255F-4273-86D5-F4BEFF914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288607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300.0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93ED3920-D44B-47CF-8522-7EE81C3CE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87655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B5D3ECC7-BE3B-4504-94EA-3A6DA96A8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288607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2.33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69953562-8026-4949-B518-AA8EA3282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87655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50A76506-8B7E-4367-A3F6-015B4F5A6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288607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36.3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CF4F841D-BCB2-47FC-8C06-B57AAC87F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876550"/>
            <a:ext cx="15716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B88AB0B1-9D50-4890-B997-2235CDEBD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2886075"/>
            <a:ext cx="15335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2523.9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D00BA36E-9A15-4638-AD2B-4F850A13E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286125"/>
            <a:ext cx="17621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C3F166FF-F8B6-4B7C-8B6C-8DDF6EA13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95650"/>
            <a:ext cx="17240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DQN candidate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3C8D1D0E-7AAE-4BC3-84B3-9B32F80A2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286125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ADDCBEFD-FA69-4714-8022-30E56A12D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3295650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11163.0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B1EC3385-1CCA-4078-9BA0-8700DACF4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286125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9F642501-C415-4C4F-A0C4-92B1B2C21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295650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19197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867D0886-0BF2-4E5E-A74B-AE423B48F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28612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0D900AD8-8DEC-4E3F-B68F-DF73BCC6C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329565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75.0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A25DB248-2609-4615-97CB-5E5D48538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328612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069D42B6-A2BF-4FD2-9C2A-9A8D21E00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329565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250.0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EE50B2D8-563F-4DBF-896A-2DF17196A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28612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5D5FABA4-01EA-4A30-B19A-4BDA0C0E8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329565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2.33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6E45AE66-E2C1-4326-B80F-290FED50F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28612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4394A2B8-6CFF-4B02-8243-E2558DEBC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329565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44.7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DD1C8380-38A0-4CC8-BFE3-88A392988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286125"/>
            <a:ext cx="15716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37B27D69-4722-40E6-B944-921F825D6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3295650"/>
            <a:ext cx="15335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3237.0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D874859C-F41B-40CB-9287-541D1A8AF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DQN阶段措施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F38E8F60-F661-4BE2-BDAF-BC737E4FD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62450"/>
            <a:ext cx="676275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  <p:txBody>
          <a:bodyPr xmlns:a="http://schemas.openxmlformats.org/drawingml/2006/main" lIns="47625" tIns="28575" rIns="47625" bIns="28575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DAP1: I15.0/N50.0; DAP30: I15.0/N50.0; DAP50: I15.0/N50.0; DAP65: I0.0/N100.0; DAP85: I15.0/N0.0; DAP110: I15.0/N0.0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4413F84D-8EC0-4784-B2FB-AF90780BC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0005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结果判定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F22606C4-DF4F-443F-A20D-3EB55326A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362450"/>
            <a:ext cx="4191000" cy="166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  <p:txBody>
          <a:bodyPr xmlns:a="http://schemas.openxmlformats.org/drawingml/2006/main" lIns="47625" tIns="28575" rIns="47625" bIns="28575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代表候选至少一项严格领先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DQN总量：I75 / N250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产量差：+272.0 kg/ha (+2.5%)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WP_ET差：+0.00 (+0.0%)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PFP_N差：+8.4 (+23.1%)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胜出：yield；PFP_N；seed：2/3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63B63A2A-F8DB-40BA-BDC5-7DB1655CB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15100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444444"/>
                </a:solidFill>
              </a:defRPr>
            </a:pPr>
            <a:r>
              <a:rPr sz="975" b="0">
                <a:solidFill>
                  <a:srgbClr val="444444"/>
                </a:solidFill>
                <a:latin typeface="Arial"/>
                <a:ea typeface="Arial"/>
                <a:cs typeface="Arial"/>
              </a:rPr>
              <a:t>差值=DQN代表策略−四基线中该指标最高可比值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9D3BBF79-1179-4FA1-8C8B-31739D597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444444"/>
                </a:solidFill>
              </a:defRPr>
            </a:pPr>
            <a:r>
              <a:rPr sz="1050" b="0">
                <a:solidFill>
                  <a:srgbClr val="444444"/>
                </a:solidFill>
                <a:latin typeface="Arial"/>
                <a:ea typeface="Arial"/>
                <a:cs typeface="Arial"/>
              </a:rPr>
              <a:t>34</a:t>
            </a:r>
          </a:p>
        </p:txBody>
      </p:sp>
    </p:spTree>
    <p:extLst>
      <p:ext uri="{BB962C8B-B14F-4D97-AF65-F5344CB8AC3E}">
        <p14:creationId xmlns:p14="http://schemas.microsoft.com/office/powerpoint/2010/main" val="943577122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5ec772030f4d9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400300" y="420386"/>
            <a:ext cx="7391400" cy="5941028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153CAF-C072-4FDE-8390-436A880C5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572250"/>
            <a:ext cx="333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444444"/>
                </a:solidFill>
              </a:defRPr>
            </a:pPr>
            <a:r>
              <a:rPr sz="900" b="0">
                <a:solidFill>
                  <a:srgbClr val="444444"/>
                </a:solidFill>
                <a:latin typeface="Arial"/>
                <a:ea typeface="Arial"/>
                <a:cs typeface="Arial"/>
              </a:rPr>
              <a:t>35</a:t>
            </a:r>
          </a:p>
        </p:txBody>
      </p:sp>
    </p:spTree>
    <p:extLst>
      <p:ext uri="{BB962C8B-B14F-4D97-AF65-F5344CB8AC3E}">
        <p14:creationId xmlns:p14="http://schemas.microsoft.com/office/powerpoint/2010/main" val="654007245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0BF8A9A9-1166-42BF-9156-1731158D2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444444"/>
                </a:solidFill>
              </a:defRPr>
            </a:pPr>
            <a:r>
              <a:rPr sz="1125" b="0">
                <a:solidFill>
                  <a:srgbClr val="444444"/>
                </a:solidFill>
                <a:latin typeface="Arial"/>
                <a:ea typeface="Arial"/>
                <a:cs typeface="Arial"/>
              </a:rPr>
              <a:t>YC｜数据表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D6BB99-E661-4720-B62D-9AC7A46F6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57200"/>
            <a:ext cx="11239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禹城 2008：精确终值、DQN措施与seed证据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D4E5C7-1FBF-41B0-B5A8-D8F176337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6680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1CE9D1-7A03-4FF0-B556-5E6C4DFFA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238250"/>
            <a:ext cx="17621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9C0871-B2FA-40AB-A832-E5D4EE1AA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47775"/>
            <a:ext cx="17240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情景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D27A5E-8C2C-4861-907F-647711025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1238250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62CBC5-2FF5-4441-9310-27E74B766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1247775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产量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E46134-6B8B-41DC-B9A6-68FC12818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238250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302241-9109-4BD3-B6E6-D263DBD77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247775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生物量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335E7B-1CE8-41D5-8D7F-5818E9EB6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123825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5E8FD9-6D24-42BA-9153-4B6A40E84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124777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灌溉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4BBA44-ED58-4A4F-9396-22CAB0976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123825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BA2529-8198-4F0D-9C05-8B63DCD89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124777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施氮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B7FEC1-D3A9-4B17-888F-DAAA1D80E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23825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BF1C3A-CBD2-4C27-BBA6-E2CED70FD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124777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WP_ET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82B657-E18C-4E53-BE60-107D892C4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23825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44FD6F-D38A-479E-818B-A52F5EF47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124777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PFP_N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3C7F9D7-778B-4A2F-82AF-0F0EC729B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1238250"/>
            <a:ext cx="15716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36B41FC-014B-4C0B-8EBC-DCF030F1C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1247775"/>
            <a:ext cx="15335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累积奖励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C0BD6E3-6CB2-4FF6-B575-69A6A5E3E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647825"/>
            <a:ext cx="17621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C73CCC7-A677-41B9-A680-45AA4D747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57350"/>
            <a:ext cx="17240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Null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336A8FC-F21E-4A57-A20A-5A7A5888F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1647825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4DEE529-774E-4EDC-8F95-FF32B710E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1657350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7930.0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8FEB170-B957-4304-AFE8-1D777DD15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647825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9EF6BC9-1164-4C30-AE24-EC24BC068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657350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18131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29C7ED8-61BC-4454-BBA0-7AEDB5B78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164782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CD4282A-0329-4DCE-8359-04299C6E5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165735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0.0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FB13DC4-FD02-48FC-A6C1-8B654C170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164782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C0991CA-1598-4166-A720-118D8ED94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165735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0.0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61B6042-2090-4DDA-9855-4C8D97C9D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64782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DE27222-B8DF-474B-A18C-348DD939C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165735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2.23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A2566C5-B648-41DF-8A11-16DD7A1D0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64782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E263CAB-6473-473C-8B79-C96D8873A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165735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NA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43C8B83-990A-4830-914D-2DD5BA4A0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1647825"/>
            <a:ext cx="15716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0981A99-0DBA-4DE4-8B29-2F82E53AF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1657350"/>
            <a:ext cx="15335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0.0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DE0E2B9-FF2A-4F7C-B922-FDE283D36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057400"/>
            <a:ext cx="17621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C6D6BD4-6232-4AE8-9DC8-4008CF01F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66925"/>
            <a:ext cx="17240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Recorded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45667CE-486C-4798-A5E5-28B9CC4C9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057400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1504CC1-110A-47D2-9F19-05DC95415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2066925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8160.0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0462D66-9013-4890-8BD5-3A9E72FD3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057400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168FD83-1A55-4B6C-A2C9-93A9FA0D1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066925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18772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2B41D2D-7210-455D-BBE3-4F3AC0F90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05740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F191A60-288A-495C-9602-576BDEA6A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06692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120.0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0A47FBE-E7CB-4B40-9590-C7889583B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05740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47868EA-C894-4707-8ADF-F8594C443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206692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303.0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E57C7C1-65BE-4F71-B182-740BFF0D2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05740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183C76F-C82B-4EDB-BBAF-881EBB978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206692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2.28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3457269-B8B2-4242-A979-7CD13A65F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05740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0424765-8AC6-4DDB-8901-A297ADEAE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206692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26.9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ADD4987-C33C-47F2-967F-5540F0FF2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057400"/>
            <a:ext cx="15716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E677006-2227-4ABD-AAB0-4AD5D806C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2066925"/>
            <a:ext cx="15335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-1405.0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2B05394-C798-401A-B9DC-5E35D26AD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466975"/>
            <a:ext cx="17621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BB5D9AD-8791-4787-9F1D-334AFBEFD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0"/>
            <a:ext cx="17240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DSSAT auto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9E7B2B3-547A-4C3F-8814-63B696EB4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466975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9F0204A-FCCE-4CE8-917F-4233EC535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2476500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7930.0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A722D0E2-9564-4FC2-B795-C8B309E18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466975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C71C429C-5F28-49B0-8802-D74A352D6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476500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18131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55A8AAAE-577F-4678-99A9-7C99D2C08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46697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F3A18C98-92D1-4752-B850-1E757B281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47650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0.0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2E5FED3D-996E-4920-A1BD-4556E98F1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46697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D2D7C4CF-9276-483F-8FB8-A51DAAFEF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247650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0.0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B0A68AF7-A50F-4EB2-BF30-095319F0D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46697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D19A4A04-3762-45FB-BFDA-B32B348F6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247650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2.23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A9EE0745-8654-4535-9F90-13313E674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46697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99BB77FB-CEF7-4C12-9A75-27F8E4DCA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247650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NA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C2695059-8F2B-4637-8CF2-3B34BE37D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466975"/>
            <a:ext cx="15716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8951EEEC-5DDE-494E-A0E8-C5F9E2672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2476500"/>
            <a:ext cx="15335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0.0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5C0551CB-E459-4202-B79A-240BCE23F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876550"/>
            <a:ext cx="17621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8C81C574-C11F-48E0-91EC-4972F249C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86075"/>
            <a:ext cx="17240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Official expert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A5015C23-66C2-487D-B298-37F4E8FC3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876550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38660E98-50B0-4591-8C3B-BF587DF92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2886075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8157.0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79C05FA3-CD69-45EC-8AB3-9F3533316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876550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A5CF99E4-3ED7-45A5-8844-1599F4D41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886075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18718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F27853D3-75C5-4D37-86DE-2966F0523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87655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DFA0EBB5-D437-47DA-9DC9-2498F3EE2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88607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228.8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17C37C72-EFC7-4713-9616-C916DF6B9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87655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4787718B-C5E1-40D8-A68B-612532756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288607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247.0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D259FD51-57D1-46CD-84CC-3B42FE229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87655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21CAD79C-ED8E-4CD6-B2E3-C8BEC9BA3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288607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2.23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1E5EFF10-4539-4CAA-86FA-4671003F1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87655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C1462071-7BED-44C1-BCC0-FB21871DA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288607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33.0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7A8CD58C-2322-421A-897D-2DFD9EACE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876550"/>
            <a:ext cx="15716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C7564616-36C9-4AB3-85B9-C4A52BCE9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2886075"/>
            <a:ext cx="15335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-1236.8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526B2AC2-B38F-49D1-BC80-A20AFA0D5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286125"/>
            <a:ext cx="17621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E60E5663-38CD-4BC9-BCE5-A3CBEE92A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95650"/>
            <a:ext cx="17240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DQN candidate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718A9B5B-B73C-487D-8D4F-672F46AAC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286125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D371FF3E-84A4-42AE-9EFF-338ABA450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3295650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8160.0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E914AE3A-5303-4D3E-9842-47A999127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286125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4D025533-A06F-4A87-8CD2-B8DD83756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295650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18770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A0AE12EC-F4CD-4F28-85A2-E12128943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28612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77ACFA9E-FF1B-44B0-8BE3-BABFD1439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329565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105.0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C069C701-1500-43C6-B8EE-53E3A0F2D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328612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E4732228-3A70-4994-8A49-B35ECF9CE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329565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250.0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4869F76B-07F8-4EB3-95A3-F4D90DF20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28612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648A7013-4256-43BF-864A-E763A2CF1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329565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2.23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C4619E74-FC1A-4D52-AF0E-897BE93D8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28612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A0CBB5DA-5248-477A-81FB-E6401B7BD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329565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32.6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263098A8-9C24-4A2C-81EF-028EAC000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286125"/>
            <a:ext cx="15716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9DA12F40-1342-41EF-9967-F4FD7478F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3295650"/>
            <a:ext cx="15335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-1125.0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6F342B26-4825-46D3-BE33-CC5FD5D28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DQN阶段措施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594A5EE0-83F1-45AB-8272-360379065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62450"/>
            <a:ext cx="676275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  <p:txBody>
          <a:bodyPr xmlns:a="http://schemas.openxmlformats.org/drawingml/2006/main" lIns="47625" tIns="28575" rIns="47625" bIns="28575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DAP7: I30.0/N100.0; DAP30: I15.0/N50.0; DAP45: I15.0/N50.0; DAP60: I0.0/N0.0; DAP80: I15.0/N50.0; DAP100: I30.0/N0.0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13DBC445-BB1D-4BDF-9A34-F78F21E5B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0005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结果判定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D3F90E6D-80BE-483E-B73E-0AEAE1286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362450"/>
            <a:ext cx="4191000" cy="166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  <p:txBody>
          <a:bodyPr xmlns:a="http://schemas.openxmlformats.org/drawingml/2006/main" lIns="47625" tIns="28575" rIns="47625" bIns="28575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代表候选未严格领先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DQN总量：I105 / N250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产量差：+0.0 kg/ha (+0.0%)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WP_ET差：-0.05 (-2.2%)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PFP_N差：-0.4 (-1.2%)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胜出：无；seed：1/3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23F610B7-87C0-4461-A4ED-759A2D60B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15100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444444"/>
                </a:solidFill>
              </a:defRPr>
            </a:pPr>
            <a:r>
              <a:rPr sz="975" b="0">
                <a:solidFill>
                  <a:srgbClr val="444444"/>
                </a:solidFill>
                <a:latin typeface="Arial"/>
                <a:ea typeface="Arial"/>
                <a:cs typeface="Arial"/>
              </a:rPr>
              <a:t>差值=DQN代表策略−四基线中该指标最高可比值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3E61CEA0-C5EC-4677-B467-42FC346FA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444444"/>
                </a:solidFill>
              </a:defRPr>
            </a:pPr>
            <a:r>
              <a:rPr sz="1050" b="0">
                <a:solidFill>
                  <a:srgbClr val="444444"/>
                </a:solidFill>
                <a:latin typeface="Arial"/>
                <a:ea typeface="Arial"/>
                <a:cs typeface="Arial"/>
              </a:rPr>
              <a:t>36</a:t>
            </a:r>
          </a:p>
        </p:txBody>
      </p:sp>
    </p:spTree>
    <p:extLst>
      <p:ext uri="{BB962C8B-B14F-4D97-AF65-F5344CB8AC3E}">
        <p14:creationId xmlns:p14="http://schemas.microsoft.com/office/powerpoint/2010/main" val="2057522340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ae7edfd798483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400300" y="420386"/>
            <a:ext cx="7391400" cy="5941028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BDD81A-29A7-4A97-851D-8953FCBC2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572250"/>
            <a:ext cx="333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444444"/>
                </a:solidFill>
              </a:defRPr>
            </a:pPr>
            <a:r>
              <a:rPr sz="900" b="0">
                <a:solidFill>
                  <a:srgbClr val="444444"/>
                </a:solidFill>
                <a:latin typeface="Arial"/>
                <a:ea typeface="Arial"/>
                <a:cs typeface="Arial"/>
              </a:rPr>
              <a:t>37</a:t>
            </a:r>
          </a:p>
        </p:txBody>
      </p:sp>
    </p:spTree>
    <p:extLst>
      <p:ext uri="{BB962C8B-B14F-4D97-AF65-F5344CB8AC3E}">
        <p14:creationId xmlns:p14="http://schemas.microsoft.com/office/powerpoint/2010/main" val="269365021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78DF84F2-0A6C-4F2C-8F12-12BF2CEE6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444444"/>
                </a:solidFill>
              </a:defRPr>
            </a:pPr>
            <a:r>
              <a:rPr sz="1125" b="0">
                <a:solidFill>
                  <a:srgbClr val="444444"/>
                </a:solidFill>
                <a:latin typeface="Arial"/>
                <a:ea typeface="Arial"/>
                <a:cs typeface="Arial"/>
              </a:rPr>
              <a:t>YC｜数据表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A81A82-7DA8-42A9-B476-BBBCF2E39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57200"/>
            <a:ext cx="11239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禹城 2014：精确终值、DQN措施与seed证据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5118F5-CE71-40DD-B646-B0C27D2BF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6680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9E66CF-A942-47DD-A219-7FE2A21D3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238250"/>
            <a:ext cx="17621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9F5FAE-D95A-4149-AD08-C2043B47B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47775"/>
            <a:ext cx="17240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情景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1CB9E9-199D-43D2-893C-DA8D573B1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1238250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1ABAFB-8C6F-45F9-9D6A-6E8BB7468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1247775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产量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B164E5-93A4-489F-8839-01A4DB0C2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238250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3B3A04-02BF-4E0B-A1D9-FDD8BD1DE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247775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生物量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C25C3A-9845-4840-9BB4-324F521F1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123825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DDD4C5-5256-44F5-A5DD-843693659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124777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灌溉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E4623A-2531-4403-A2C0-694F848B1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123825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1F0D1B-6B56-45C9-8106-ACDE84B47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124777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施氮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2929F6-3FB0-422A-8864-FFA1B85B1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23825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5808D6-D480-4D13-9C2A-BE5AC0FE8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124777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WP_ET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91036A-BDDF-4B38-8D27-65866A58E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23825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E19648-1F7F-4467-B7BF-C9EDF98D4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124777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PFP_N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B12506A-CABB-41E9-AE80-3509F78F6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1238250"/>
            <a:ext cx="15716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D7BE3E-4D9C-48AA-B38B-1F6657B6F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1247775"/>
            <a:ext cx="15335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累积奖励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1C64764-E1F5-468B-A946-4F32FE212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647825"/>
            <a:ext cx="17621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566812F-9058-4651-A482-D98416CE2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57350"/>
            <a:ext cx="17240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Null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5ADB6C5-36F2-4E41-9EB5-BD05C0E92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1647825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19658D7-0B76-45DA-AE0D-A323AF82F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1657350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7825.0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200AB65-498E-4ED0-A9C6-D46F33474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647825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03EA010-0023-4405-AE26-6E034F923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657350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17996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2E5756F-0080-4264-BA1F-22B8AE90F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164782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DB3D6D4-2B22-475A-80D5-951FA795C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165735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0.0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60D5C64-1141-4216-A78E-7509ABCC7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164782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BCC72D0-BBD2-424A-9224-BE802FA0F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165735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0.0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545ADC9-CF79-407B-8B85-4A1EB087E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64782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6A0C3DD-9E9B-4634-9DCA-49A2C4289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165735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2.29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1FA3C3C-A81E-47F3-9051-9358204D2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64782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4AE4EDB-1359-450E-80EB-1E6E95D25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165735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NA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AED34CC-97D7-485D-9E7A-490648A19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1647825"/>
            <a:ext cx="15716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D74D919-2869-4A5C-BAA5-CED66C99F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1657350"/>
            <a:ext cx="15335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0.0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F18D723-F180-4DB1-BE3B-160E186A9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057400"/>
            <a:ext cx="17621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20AAF67-1ED4-461C-B76D-1EF4FD555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66925"/>
            <a:ext cx="17240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Recorded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CEBDD89-22E1-4F46-A4AD-AA0E11EF5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057400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5D25F23-548F-4A28-B94A-644506E15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2066925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9418.0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B3C1D24-ED24-4583-AAB3-C55EB8FC3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057400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53407C0-9F9B-43C9-B556-E7131C0CB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066925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20514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71FDD38-A4CB-4795-85E1-F5105BAB0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05740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7BD448E-0488-4094-9667-92F631429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06692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120.0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FA24990-B773-4B30-869D-FE8E00B1A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05740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5709944-6714-4B49-8329-145727C84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206692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374.0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2050FA8-0A27-41BD-B456-13DEAECB5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05740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98E302B-C3CA-4E73-9671-7EE6988E7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206692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2.64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33924BD-AC76-4256-AF67-CF7F51244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05740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43388DF-F406-4FFD-AA11-C88341E70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206692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25.2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242560E-25A1-4945-9891-CB6351A3D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057400"/>
            <a:ext cx="15716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73461D1-BA20-45A7-98DD-6886EC368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2066925"/>
            <a:ext cx="15335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-397.0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BF6AB4A-3671-4C52-A280-805F3780A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466975"/>
            <a:ext cx="17621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7B38340-BB22-4A55-B4FE-778C13597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0"/>
            <a:ext cx="17240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DSSAT auto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635CFBF-21D7-4F1F-AC6F-D3222B5F4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466975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4855691-5DE6-4FE4-80B2-5700FFE1F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2476500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8713.0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2A23F14-EE47-478E-B219-8935AA642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466975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47454C27-E181-4500-8EF3-75C470717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476500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18945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E81FFB80-2AAE-4AFD-B9B4-2B19EFE5F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46697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46614944-797B-4C05-8341-0BFE8A43E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47650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86.5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10CDBD4D-332B-45A3-A931-0AD6715D2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46697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C2EF940E-BAC1-4C3F-952D-62E1B3DF0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247650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0.0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B6D83D3D-BE8F-47CD-8259-DD63E53AF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46697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C514A45A-7796-4630-9335-4E96264B6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247650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2.44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7491213F-7380-486E-A410-4D79DB689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46697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285A4A17-1CFA-4E01-8C38-3B876B61D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247650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NA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2D202D86-CC0F-4CE3-94C8-AB212C5A1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466975"/>
            <a:ext cx="15716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294DAF0D-12BA-497F-B603-E2DAD15BD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2476500"/>
            <a:ext cx="15335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801.5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6CFCF2F3-36D3-4453-878F-69AC0E48D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876550"/>
            <a:ext cx="17621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D81894BE-3280-4587-BB82-86B674395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86075"/>
            <a:ext cx="17240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Official expert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4F752019-3ADE-467A-B5FE-69EDD3FC4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876550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02ABF0FF-D5B2-4D3D-BF4B-930F8BC05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2886075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9417.0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CCB55A40-D6D0-4121-8AE3-A1894F346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876550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51FAE35D-77A8-4EF7-A2F3-BF667092C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886075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20481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D83BCFDF-3BE8-4A47-9308-E89806960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87655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2F03A81D-B5B3-4F9E-B9E7-3CA98C69D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88607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228.8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128804B5-E1A8-493F-BDBC-85235F26A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87655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42F36C5E-1DA5-4FB1-9BA8-334E7C7EB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288607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247.0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53A6373F-A216-403F-9E03-2F9417803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87655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351219FC-CA2A-4124-AE40-8C83C8DB7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288607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2.56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A8FEB2D5-1B01-4A58-ACC5-6CA330428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87655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91BE61CC-4BB5-4374-AB1A-0662B7BBD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288607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38.0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2CCED99A-BEBE-42DF-B292-B26CE1739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876550"/>
            <a:ext cx="15716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FCCF77A4-1940-41D5-9065-52AFFAC80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2886075"/>
            <a:ext cx="15335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128.2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15647BCE-8AFF-4E44-8B5A-2DA110BDA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286125"/>
            <a:ext cx="17621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1489526A-888B-478E-851C-8F95FD046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95650"/>
            <a:ext cx="17240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DQN candidate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A6631089-25A4-48DA-B35E-16092B889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286125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21634062-EF19-4837-9334-2B071B8C2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3295650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9418.0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52E0162B-88DE-48C7-8B6B-16E216E9D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286125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BF031311-45A2-4FCA-B7DF-CBC374455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295650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20514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FB4FBDC4-DB21-494A-92BE-57461D194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28612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97B2327A-B610-43F5-92F1-24DC0A15D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329565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30.0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C26F9E41-109C-43C7-B14C-2D93A0BC2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328612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ECE47448-0E6F-472D-8560-F9D8F4E9E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329565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100.0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AB81ADFA-B3AD-4B95-8573-2E30D0C20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28612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AB4F0191-40A4-4A4B-AA5C-368EAB548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329565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2.63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0BCF5376-6C40-4BA0-8D30-46D3F697B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28612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DD719C69-8FD6-497A-90D5-777EC6C80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329565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94.2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249C1507-7C89-4EB4-9238-6774ED55A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286125"/>
            <a:ext cx="15716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6DDDBAE3-705F-4020-860F-BDFFCF4CF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3295650"/>
            <a:ext cx="15335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1063.0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F69D817D-025D-4E29-9746-F646F2252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DQN阶段措施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D43D95D1-E712-468A-95CB-F52A0A379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62450"/>
            <a:ext cx="676275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  <p:txBody>
          <a:bodyPr xmlns:a="http://schemas.openxmlformats.org/drawingml/2006/main" lIns="47625" tIns="28575" rIns="47625" bIns="28575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DAP7: I0.0/N0.0; DAP30: I30.0/N0.0; DAP45: I0.0/N50.0; DAP60: I0.0/N50.0; DAP80: I0.0/N0.0; DAP100: I0.0/N0.0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48D9D5CF-5E31-4953-9872-A7E0C0442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0005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结果判定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E59014DD-739C-4427-A3A0-342D3D4A6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362450"/>
            <a:ext cx="4191000" cy="166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  <p:txBody>
          <a:bodyPr xmlns:a="http://schemas.openxmlformats.org/drawingml/2006/main" lIns="47625" tIns="28575" rIns="47625" bIns="28575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代表候选至少一项严格领先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DQN总量：I30 / N100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产量差：+0.0 kg/ha (+0.0%)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WP_ET差：-0.01 (-0.4%)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PFP_N差：+56.2 (+147.9%)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胜出：PFP_N；seed：2/3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C4917F5A-31A2-48BA-BBA6-0D2350E79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15100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444444"/>
                </a:solidFill>
              </a:defRPr>
            </a:pPr>
            <a:r>
              <a:rPr sz="975" b="0">
                <a:solidFill>
                  <a:srgbClr val="444444"/>
                </a:solidFill>
                <a:latin typeface="Arial"/>
                <a:ea typeface="Arial"/>
                <a:cs typeface="Arial"/>
              </a:rPr>
              <a:t>差值=DQN代表策略−四基线中该指标最高可比值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F146D419-4BBC-4478-9685-36C9C1927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444444"/>
                </a:solidFill>
              </a:defRPr>
            </a:pPr>
            <a:r>
              <a:rPr sz="1050" b="0">
                <a:solidFill>
                  <a:srgbClr val="444444"/>
                </a:solidFill>
                <a:latin typeface="Arial"/>
                <a:ea typeface="Arial"/>
                <a:cs typeface="Arial"/>
              </a:rPr>
              <a:t>38</a:t>
            </a:r>
          </a:p>
        </p:txBody>
      </p:sp>
    </p:spTree>
    <p:extLst>
      <p:ext uri="{BB962C8B-B14F-4D97-AF65-F5344CB8AC3E}">
        <p14:creationId xmlns:p14="http://schemas.microsoft.com/office/powerpoint/2010/main" val="1057167629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86852ceb32476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400300" y="420386"/>
            <a:ext cx="7391400" cy="5941028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B1BDBB-57F4-42FB-99D1-223BD9C3B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572250"/>
            <a:ext cx="333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444444"/>
                </a:solidFill>
              </a:defRPr>
            </a:pPr>
            <a:r>
              <a:rPr sz="900" b="0">
                <a:solidFill>
                  <a:srgbClr val="444444"/>
                </a:solidFill>
                <a:latin typeface="Arial"/>
                <a:ea typeface="Arial"/>
                <a:cs typeface="Arial"/>
              </a:rPr>
              <a:t>39</a:t>
            </a:r>
          </a:p>
        </p:txBody>
      </p:sp>
    </p:spTree>
    <p:extLst>
      <p:ext uri="{BB962C8B-B14F-4D97-AF65-F5344CB8AC3E}">
        <p14:creationId xmlns:p14="http://schemas.microsoft.com/office/powerpoint/2010/main" val="1117867855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0A071B8-1AEB-462C-AFAA-25A452F4E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444444"/>
                </a:solidFill>
              </a:defRPr>
            </a:pPr>
            <a:r>
              <a:rPr sz="1125" b="0">
                <a:solidFill>
                  <a:srgbClr val="444444"/>
                </a:solidFill>
                <a:latin typeface="Arial"/>
                <a:ea typeface="Arial"/>
                <a:cs typeface="Arial"/>
              </a:rPr>
              <a:t>结论与建议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2AED47-C45E-4615-A591-724D54793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57200"/>
            <a:ext cx="11239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保留PPO主线，DQN作为正式对照与局部候选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A14813-82A2-4375-84EE-3E1144C72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6680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F612B8-2D8A-4766-AE1A-40F2A3649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381125"/>
            <a:ext cx="111442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5CE6BB-0919-4D1B-9345-61E64E516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6375"/>
            <a:ext cx="200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000000"/>
                </a:solidFill>
              </a:defRPr>
            </a:pPr>
            <a:r>
              <a:rPr sz="19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可以确认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D14548-8520-4CD5-BCC0-FD1D27720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476375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DQN在相同科学约束下能够学到有效策略，并在LC2010、FQ2023显示局部优势。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CFBF6E-7DAD-4774-9B0B-DEF85D1C7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505075"/>
            <a:ext cx="111442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29F85A-A61C-43C3-942D-7D57D93CF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00325"/>
            <a:ext cx="200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000000"/>
                </a:solidFill>
              </a:defRPr>
            </a:pPr>
            <a:r>
              <a:rPr sz="19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不能宣称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86332B-C111-4CA7-856C-332F82FDE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600325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DQN没有在五站点总体优于PPO；当前比较也不是算法的普遍优劣证明。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E4B4D9-DC9D-4730-8468-87BF3B97A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629025"/>
            <a:ext cx="111442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F0A3A3-17BA-4C29-8DC2-E1C634152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24275"/>
            <a:ext cx="200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000000"/>
                </a:solidFill>
              </a:defRPr>
            </a:pPr>
            <a:r>
              <a:rPr sz="19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主线选择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F588B1-E470-4AF2-B1EC-28FFEF1B8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724275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阶段型MaskablePPO继续作为当前主算法；DQN结果完整保留，用于论文算法对照和站点差异讨论。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F1CEBD-B1DE-4EAD-8859-6CF3412FF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752975"/>
            <a:ext cx="111442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643B5C-581A-4D99-9A99-BC4B4BAF3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48225"/>
            <a:ext cx="200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000000"/>
                </a:solidFill>
              </a:defRPr>
            </a:pPr>
            <a:r>
              <a:rPr sz="19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后续条件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32A6BF-567F-4DCB-A894-1CB4C3952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848225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只有在预注册的跨站统一敏感性或新证据显示DQN稳定反超时，才重新讨论主线切换；不得逐年追结果调参。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93F8C0-5E0B-4058-B07A-213E9BBAC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15100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444444"/>
                </a:solidFill>
              </a:defRPr>
            </a:pPr>
            <a:r>
              <a:rPr sz="975" b="0">
                <a:solidFill>
                  <a:srgbClr val="444444"/>
                </a:solidFill>
                <a:latin typeface="Arial"/>
                <a:ea typeface="Arial"/>
                <a:cs typeface="Arial"/>
              </a:rPr>
              <a:t>029_00—029_04冻结证据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E6137B-62FB-457E-959D-7499E20D5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444444"/>
                </a:solidFill>
              </a:defRPr>
            </a:pPr>
            <a:r>
              <a:rPr sz="1050" b="0">
                <a:solidFill>
                  <a:srgbClr val="444444"/>
                </a:solidFill>
                <a:latin typeface="Arial"/>
                <a:ea typeface="Arial"/>
                <a:cs typeface="Arial"/>
              </a:rPr>
              <a:t>40</a:t>
            </a:r>
          </a:p>
        </p:txBody>
      </p:sp>
    </p:spTree>
    <p:extLst>
      <p:ext uri="{BB962C8B-B14F-4D97-AF65-F5344CB8AC3E}">
        <p14:creationId xmlns:p14="http://schemas.microsoft.com/office/powerpoint/2010/main" val="168031477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2026-07-19T17:03:07.9600000Z</dcterms:created>
  <dcterms:modified xsi:type="dcterms:W3CDTF">2026-07-19T17:03:07.9600000Z</dcterms:modified>
</coreProperties>
</file>