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1878cd068f4661" /><Relationship Type="http://schemas.openxmlformats.org/officeDocument/2006/relationships/extended-properties" Target="/docProps/app.xml" Id="Rcd8db22c4a044d37" /><Relationship Type="http://schemas.openxmlformats.org/officeDocument/2006/relationships/officeDocument" Target="/ppt/presentation.xml" Id="Rfec375324af649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550eeb506f4fd2"/>
  </p:sldMasterIdLst>
  <p:notesMasterIdLst>
    <p:notesMasterId xmlns:r="http://schemas.openxmlformats.org/officeDocument/2006/relationships" r:id="Rd18fb19b71cd468f"/>
  </p:notesMasterIdLst>
  <p:sldIdLst>
    <p:sldId xmlns:r="http://schemas.openxmlformats.org/officeDocument/2006/relationships" id="256" r:id="R1540a71b78fc4fbc"/>
    <p:sldId xmlns:r="http://schemas.openxmlformats.org/officeDocument/2006/relationships" id="257" r:id="Racf211b3d6fb489f"/>
    <p:sldId xmlns:r="http://schemas.openxmlformats.org/officeDocument/2006/relationships" id="258" r:id="R3b2950c0c8b94a49"/>
    <p:sldId xmlns:r="http://schemas.openxmlformats.org/officeDocument/2006/relationships" id="259" r:id="R31cd6487e91c44f9"/>
    <p:sldId xmlns:r="http://schemas.openxmlformats.org/officeDocument/2006/relationships" id="260" r:id="R4e6f83de00724fcd"/>
    <p:sldId xmlns:r="http://schemas.openxmlformats.org/officeDocument/2006/relationships" id="261" r:id="R1b3999d322eb44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095df5fe474ad5" /><Relationship Type="http://schemas.openxmlformats.org/officeDocument/2006/relationships/slideMaster" Target="/ppt/slideMasters/slideMaster1.xml" Id="Ref550eeb506f4fd2" /><Relationship Type="http://schemas.openxmlformats.org/officeDocument/2006/relationships/notesMaster" Target="/ppt/notesMasters/notesMaster1.xml" Id="Rd18fb19b71cd468f" /><Relationship Type="http://schemas.openxmlformats.org/officeDocument/2006/relationships/presProps" Target="/ppt/presProps.xml" Id="Rd64d5815733f45b0" /><Relationship Type="http://schemas.openxmlformats.org/officeDocument/2006/relationships/tableStyles" Target="/ppt/tableStyles.xml" Id="Re5130bd291d845f5" /><Relationship Type="http://schemas.openxmlformats.org/officeDocument/2006/relationships/slide" Target="/ppt/slides/slide1.xml" Id="R1540a71b78fc4fbc" /><Relationship Type="http://schemas.openxmlformats.org/officeDocument/2006/relationships/slide" Target="/ppt/slides/slide2.xml" Id="Racf211b3d6fb489f" /><Relationship Type="http://schemas.openxmlformats.org/officeDocument/2006/relationships/slide" Target="/ppt/slides/slide3.xml" Id="R3b2950c0c8b94a49" /><Relationship Type="http://schemas.openxmlformats.org/officeDocument/2006/relationships/slide" Target="/ppt/slides/slide4.xml" Id="R31cd6487e91c44f9" /><Relationship Type="http://schemas.openxmlformats.org/officeDocument/2006/relationships/slide" Target="/ppt/slides/slide5.xml" Id="R4e6f83de00724fcd" /><Relationship Type="http://schemas.openxmlformats.org/officeDocument/2006/relationships/slide" Target="/ppt/slides/slide6.xml" Id="R1b3999d322eb44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ca06392b3a4f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312b17cfe04b3a" /><Relationship Type="http://schemas.openxmlformats.org/officeDocument/2006/relationships/notesMaster" Target="/ppt/notesMasters/notesMaster1.xml" Id="Ree5fdda8ff694f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a357c2920e444c" /><Relationship Type="http://schemas.openxmlformats.org/officeDocument/2006/relationships/notesMaster" Target="/ppt/notesMasters/notesMaster1.xml" Id="R27cc2574ce8647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3f9614c8414870" /><Relationship Type="http://schemas.openxmlformats.org/officeDocument/2006/relationships/notesMaster" Target="/ppt/notesMasters/notesMaster1.xml" Id="R67f38f585ab242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8ed8e2681a4a2f" /><Relationship Type="http://schemas.openxmlformats.org/officeDocument/2006/relationships/notesMaster" Target="/ppt/notesMasters/notesMaster1.xml" Id="R61b38736e62a4d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af212be61c4fdf" /><Relationship Type="http://schemas.openxmlformats.org/officeDocument/2006/relationships/notesMaster" Target="/ppt/notesMasters/notesMaster1.xml" Id="R9a91ca1094f24b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cb4e6fa1794269" /><Relationship Type="http://schemas.openxmlformats.org/officeDocument/2006/relationships/notesMaster" Target="/ppt/notesMasters/notesMaster1.xml" Id="R0bcf04373e1948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实验记录基于 results/yc_wgen_cli_pilot/003_06_05_01 下的逐列诊断、静态检查和单次 runtime smoke。未运行其他 seed 或 PPO。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读取合同来源：DSSAT dssat-csm-os v4.8.0.24 Weather/WGEN.for, https://github.com/DSSAT/dssat-csm-os/blob/v4.8.0.24/Weather/WGEN.for#L408-L414；DSSAT v4.8.5.0 同模块 https://github.com/DSSAT/dssat-csm-os/blob/v4.8.5.0/Weather/WGEN.for#L412-L418。运行时为 DSSAT 4.8.0.024。本次记录 14 个统计字段另加 MTH 共 15 个输入列。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源字段宽度来自 scripts/build_dssat_cli.py 原格式化表达式；读取格式来源同上一页。逐字符切片、token 和样本比对见 results/yc_wgen_cli_pilot/003_06_05_01/diagnostics/original_line27_layout.txt 与 wgen_row_schema_comparison.txt。根因是静态列布局诊断，具体运行时行为由修复后的单次 DSSAT smoke 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静态校验来源：results/yc_wgen_cli_pilot/003_06_05_01/validation/static_parse_check.json。回归测试输出：tests/test_build_dssat_cli.py 与 tests/test_yc_wgen_seed_pilot.py，23 passed。冻结 train weather hash 为 4B8FFE9E881D0A0743921B78B9C0E0EBFB1D2D645C5AA9737948B2B088ED7B34。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单次运行结果见 results/yc_wgen_cli_pilot/003_06_05_01/runtime_smoke_summary.json、runtime/seed_101_parsefix_01_basename_ok/wgen_status.json 和生成的 120 行 CSV。DSSAT 4.8.0.024；runtime 使用的 CNYC.CLI SHA256 与隔离修复件相同。QC 是输出范围的 screening checks，不代表多 seed 随机性或气候学验证。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任务边界来自 prompt_02/003_06_05_01_fix_wgenin_5010.md。首次 wrapper lookup 失败证据在 runtime/attempt_01_basename_lookup_failure.json；没有把该次误判为 WGENIN 解析成功，也没有重复运行 seed 101 以外的其他 seed。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002236bc342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c4594caec64001" /><Relationship Type="http://schemas.openxmlformats.org/officeDocument/2006/relationships/slideLayout" Target="/ppt/slideLayouts/slideLayout1.xml" Id="R39ea0caddae243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ea0caddae243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c6bd2504b42c8" /><Relationship Type="http://schemas.openxmlformats.org/officeDocument/2006/relationships/notesSlide" Target="/ppt/notesSlides/notesSlide1.xml" Id="Rc5ade60f85a04e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d895c570547b5" /><Relationship Type="http://schemas.openxmlformats.org/officeDocument/2006/relationships/notesSlide" Target="/ppt/notesSlides/notesSlide2.xml" Id="R9067d7e05c1940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24765974142ba" /><Relationship Type="http://schemas.openxmlformats.org/officeDocument/2006/relationships/notesSlide" Target="/ppt/notesSlides/notesSlide3.xml" Id="R9b2d30b7643145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2ff2cf81f4627" /><Relationship Type="http://schemas.openxmlformats.org/officeDocument/2006/relationships/notesSlide" Target="/ppt/notesSlides/notesSlide4.xml" Id="R0a9943a337dc47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76b46573a4617" /><Relationship Type="http://schemas.openxmlformats.org/officeDocument/2006/relationships/notesSlide" Target="/ppt/notesSlides/notesSlide5.xml" Id="Rca47def492fe4c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50459313e4af0" /><Relationship Type="http://schemas.openxmlformats.org/officeDocument/2006/relationships/notesSlide" Target="/ppt/notesSlides/notesSlide6.xml" Id="Rd099ee28bfb44e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E127327-C0E3-4F86-89C3-BB969C18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67A7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67A78"/>
                </a:solidFill>
                <a:latin typeface="Arial"/>
                <a:ea typeface="Arial"/>
                <a:cs typeface="Arial"/>
              </a:rPr>
              <a:t>YC WEATHER PIPELINE    /    003_06_05_01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DA3F9BB-6689-4DBF-A9A7-82263D15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575" b="1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202B2E"/>
                </a:solidFill>
                <a:latin typeface="Arial"/>
                <a:ea typeface="Arial"/>
                <a:cs typeface="Arial"/>
              </a:rPr>
              <a:t>YC WGENIN 5010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575" b="1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202B2E"/>
                </a:solidFill>
                <a:latin typeface="Arial"/>
                <a:ea typeface="Arial"/>
                <a:cs typeface="Arial"/>
              </a:rPr>
              <a:t>格式修复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5B149B9-C246-454D-9E31-A188DF08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100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5C6B6E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5C6B6E"/>
                </a:solidFill>
                <a:latin typeface="Arial"/>
                <a:ea typeface="Arial"/>
                <a:cs typeface="Arial"/>
              </a:rPr>
              <a:t>定位固定列错位，只重排序列化格式，保留全部月参数值</a:t>
            </a:r>
          </a:p>
        </p:txBody>
      </p:sp>
      <p:sp>
        <p:nvSpPr>
          <p:cNvPr id="4" name="cover-result">
            <a:extLst xmlns:a="http://schemas.openxmlformats.org/drawingml/2006/main">
              <a:ext uri="{FF2B5EF4-FFF2-40B4-BE49-F238E27FC236}">
                <a16:creationId xmlns:a16="http://schemas.microsoft.com/office/drawing/2014/main" id="{D55338E9-3BAB-4944-A9F8-CACC18B5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101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8745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7452"/>
                </a:solidFill>
                <a:latin typeface="Arial"/>
                <a:ea typeface="Arial"/>
                <a:cs typeface="Arial"/>
              </a:rPr>
              <a:t>PARSE_FIX_RUNTIME_PASS</a:t>
            </a:r>
          </a:p>
        </p:txBody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52003CCA-8B09-47BD-9183-FA29B8D8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543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B2E"/>
                </a:solidFill>
                <a:latin typeface="Arial"/>
                <a:ea typeface="Arial"/>
                <a:cs typeface="Arial"/>
              </a:rPr>
              <a:t>DSSAT 4.8.0.024    |    单次 weather_seed = 101</a:t>
            </a:r>
          </a:p>
        </p:txBody>
      </p:sp>
    </p:spTree>
    <p:extLst>
      <p:ext uri="{BB962C8B-B14F-4D97-AF65-F5344CB8AC3E}">
        <p14:creationId xmlns:p14="http://schemas.microsoft.com/office/powerpoint/2010/main" val="430027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1040F0B-4009-4F61-9AEF-B7175A2B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02B2E"/>
                </a:solidFill>
                <a:latin typeface="Arial"/>
                <a:ea typeface="Arial"/>
                <a:cs typeface="Arial"/>
              </a:rPr>
              <a:t>WGENIN 月记录读取合同</a:t>
            </a:r>
          </a:p>
        </p:txBody>
      </p:sp>
      <p:sp>
        <p:nvSpPr>
          <p:cNvPr id="2" name="slide-2-index">
            <a:extLst xmlns:a="http://schemas.openxmlformats.org/drawingml/2006/main">
              <a:ext uri="{FF2B5EF4-FFF2-40B4-BE49-F238E27FC236}">
                <a16:creationId xmlns:a16="http://schemas.microsoft.com/office/drawing/2014/main" id="{2942B4D5-5CA0-42F0-AA4F-589A2712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67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7A78"/>
                </a:solidFill>
                <a:latin typeface="Arial"/>
                <a:ea typeface="Arial"/>
                <a:cs typeface="Arial"/>
              </a:rPr>
              <a:t>YC WEATHER PIPELINE    /    003_06_05_01    /    02</a:t>
            </a:r>
          </a:p>
        </p:txBody>
      </p:sp>
      <p:sp>
        <p:nvSpPr>
          <p:cNvPr id="3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117E2270-C090-4511-8785-ACF5B596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C6B6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C6B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s2-error">
            <a:extLst xmlns:a="http://schemas.openxmlformats.org/drawingml/2006/main">
              <a:ext uri="{FF2B5EF4-FFF2-40B4-BE49-F238E27FC236}">
                <a16:creationId xmlns:a16="http://schemas.microsoft.com/office/drawing/2014/main" id="{E5ACF8B5-5BC8-494B-820B-8FF3664A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64B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64B3D"/>
                </a:solidFill>
                <a:latin typeface="Arial"/>
                <a:ea typeface="Arial"/>
                <a:cs typeface="Arial"/>
              </a:rPr>
              <a:t>原始错误    STOP 99  |  5010  |  CNYC.CLI 第 27 行</a:t>
            </a:r>
          </a:p>
        </p:txBody>
      </p:sp>
      <p:sp>
        <p:nvSpPr>
          <p:cNvPr id="5" name="s2-read-label">
            <a:extLst xmlns:a="http://schemas.openxmlformats.org/drawingml/2006/main">
              <a:ext uri="{FF2B5EF4-FFF2-40B4-BE49-F238E27FC236}">
                <a16:creationId xmlns:a16="http://schemas.microsoft.com/office/drawing/2014/main" id="{D018C6FC-4004-47F4-9A3F-5B0F7075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C6B6E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C6B6E"/>
                </a:solidFill>
                <a:latin typeface="Arial"/>
                <a:ea typeface="Arial"/>
                <a:cs typeface="Arial"/>
              </a:rPr>
              <a:t>WGENIN READ FORMAT</a:t>
            </a:r>
          </a:p>
        </p:txBody>
      </p:sp>
      <p:sp>
        <p:nvSpPr>
          <p:cNvPr id="6" name="s2-format">
            <a:extLst xmlns:a="http://schemas.openxmlformats.org/drawingml/2006/main">
              <a:ext uri="{FF2B5EF4-FFF2-40B4-BE49-F238E27FC236}">
                <a16:creationId xmlns:a16="http://schemas.microsoft.com/office/drawing/2014/main" id="{594F6487-60F6-427F-A84D-BACB5FC6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67A7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67A78"/>
                </a:solidFill>
                <a:latin typeface="Arial"/>
                <a:ea typeface="Arial"/>
                <a:cs typeface="Arial"/>
              </a:rPr>
              <a:t>(I6,14(1X,F5.0))</a:t>
            </a:r>
          </a:p>
        </p:txBody>
      </p:sp>
      <p:sp>
        <p:nvSpPr>
          <p:cNvPr id="7" name="s2-count">
            <a:extLst xmlns:a="http://schemas.openxmlformats.org/drawingml/2006/main">
              <a:ext uri="{FF2B5EF4-FFF2-40B4-BE49-F238E27FC236}">
                <a16:creationId xmlns:a16="http://schemas.microsoft.com/office/drawing/2014/main" id="{D6BC916B-F6B7-43DB-9A37-97247DBF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671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B2E"/>
                </a:solidFill>
                <a:latin typeface="Arial"/>
                <a:ea typeface="Arial"/>
                <a:cs typeface="Arial"/>
              </a:rPr>
              <a:t>6 列整数 MTH  +  14 × 6 列实数槽位  =  90 列</a:t>
            </a:r>
          </a:p>
        </p:txBody>
      </p:sp>
      <p:sp>
        <p:nvSpPr>
          <p:cNvPr id="8" name="s2-clarifier">
            <a:extLst xmlns:a="http://schemas.openxmlformats.org/drawingml/2006/main">
              <a:ext uri="{FF2B5EF4-FFF2-40B4-BE49-F238E27FC236}">
                <a16:creationId xmlns:a16="http://schemas.microsoft.com/office/drawing/2014/main" id="{6FBDAD74-B0A3-49D7-BE94-485EA2AC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5C6B6E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C6B6E"/>
                </a:solidFill>
                <a:latin typeface="Arial"/>
                <a:ea typeface="Arial"/>
                <a:cs typeface="Arial"/>
              </a:rPr>
              <a:t>14 个 WGEN 统计值；含月份字段共 15 列。</a:t>
            </a:r>
          </a:p>
        </p:txBody>
      </p:sp>
      <p:sp>
        <p:nvSpPr>
          <p:cNvPr id="9" name="s2-version">
            <a:extLst xmlns:a="http://schemas.openxmlformats.org/drawingml/2006/main">
              <a:ext uri="{FF2B5EF4-FFF2-40B4-BE49-F238E27FC236}">
                <a16:creationId xmlns:a16="http://schemas.microsoft.com/office/drawing/2014/main" id="{CC38CB10-18A4-454E-95B9-DF140F06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8745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87452"/>
                </a:solidFill>
                <a:latin typeface="Arial"/>
                <a:ea typeface="Arial"/>
                <a:cs typeface="Arial"/>
              </a:rPr>
              <a:t>v4.8.0.24 与 v4.8.5.0 公共源码读取格式一致</a:t>
            </a:r>
          </a:p>
        </p:txBody>
      </p:sp>
    </p:spTree>
    <p:extLst>
      <p:ext uri="{BB962C8B-B14F-4D97-AF65-F5344CB8AC3E}">
        <p14:creationId xmlns:p14="http://schemas.microsoft.com/office/powerpoint/2010/main" val="91543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1B934CB-18D7-46AB-96C5-C872F1A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02B2E"/>
                </a:solidFill>
                <a:latin typeface="Arial"/>
                <a:ea typeface="Arial"/>
                <a:cs typeface="Arial"/>
              </a:rPr>
              <a:t>根因：三个统计字段各多一列</a:t>
            </a:r>
          </a:p>
        </p:txBody>
      </p:sp>
      <p:sp>
        <p:nvSpPr>
          <p:cNvPr id="2" name="slide-3-index">
            <a:extLst xmlns:a="http://schemas.openxmlformats.org/drawingml/2006/main">
              <a:ext uri="{FF2B5EF4-FFF2-40B4-BE49-F238E27FC236}">
                <a16:creationId xmlns:a16="http://schemas.microsoft.com/office/drawing/2014/main" id="{2CB93D4C-C842-47EA-A440-8E28F3AB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67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7A78"/>
                </a:solidFill>
                <a:latin typeface="Arial"/>
                <a:ea typeface="Arial"/>
                <a:cs typeface="Arial"/>
              </a:rPr>
              <a:t>YC WEATHER PIPELINE    /    003_06_05_01    /    03</a:t>
            </a:r>
          </a:p>
        </p:txBody>
      </p:sp>
      <p:sp>
        <p:nvSpPr>
          <p:cNvPr id="3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D90E85CE-74CD-4995-B10F-69923CFF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C6B6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C6B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38200" y="1571625"/>
          <a:ext xmlns:a="http://schemas.openxmlformats.org/drawingml/2006/main" cx="10477500" cy="2724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2619375"/>
                <a:gridCol w="2619375"/>
                <a:gridCol w="276225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solidFill>
                      <a:srgbClr val="202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原生成器</a:t>
                      </a:r>
                    </a:p>
                  </a:txBody>
                  <a:tcPr marL="91440" marR="91440" marT="45720" marB="45720" anchor="ctr">
                    <a:solidFill>
                      <a:srgbClr val="202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WGENIN 要求</a:t>
                      </a:r>
                    </a:p>
                  </a:txBody>
                  <a:tcPr marL="91440" marR="91440" marT="45720" marB="45720" anchor="ctr">
                    <a:solidFill>
                      <a:srgbClr val="202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每行影响</a:t>
                      </a:r>
                    </a:p>
                  </a:txBody>
                  <a:tcPr marL="91440" marR="91440" marT="45720" marB="45720" anchor="ctr">
                    <a:solidFill>
                      <a:srgbClr val="202B2E"/>
                    </a:solidFill>
                  </a:tcPr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02B2E"/>
                          </a:solidFill>
                          <a:latin typeface="Arial"/>
                          <a:ea typeface="Arial"/>
                          <a:cs typeface="Arial"/>
                        </a:rPr>
                        <a:t>XDMN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02B2E"/>
                          </a:solidFill>
                          <a:latin typeface="Arial"/>
                          <a:ea typeface="Arial"/>
                          <a:cs typeface="Arial"/>
                        </a:rPr>
                        <a:t>7 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02B2E"/>
                          </a:solidFill>
                          <a:latin typeface="Arial"/>
                          <a:ea typeface="Arial"/>
                          <a:cs typeface="Arial"/>
                        </a:rPr>
                        <a:t>6 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B64B3D"/>
                          </a:solidFill>
                          <a:latin typeface="Arial"/>
                          <a:ea typeface="Arial"/>
                          <a:cs typeface="Arial"/>
                        </a:rPr>
                        <a:t>+1 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02B2E"/>
                          </a:solidFill>
                          <a:latin typeface="Arial"/>
                          <a:ea typeface="Arial"/>
                          <a:cs typeface="Arial"/>
                        </a:rPr>
                        <a:t>XWMN</a:t>
                      </a:r>
                    </a:p>
                  </a:txBody>
                  <a:tcPr marL="91440" marR="91440" marT="45720" marB="45720" anchor="ctr">
                    <a:solidFill>
                      <a:srgbClr val="F2F6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02B2E"/>
                          </a:solidFill>
                          <a:latin typeface="Arial"/>
                          <a:ea typeface="Arial"/>
                          <a:cs typeface="Arial"/>
                        </a:rPr>
                        <a:t>7 列</a:t>
                      </a:r>
                    </a:p>
                  </a:txBody>
                  <a:tcPr marL="91440" marR="91440" marT="45720" marB="45720" anchor="ctr">
                    <a:solidFill>
                      <a:srgbClr val="F2F6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02B2E"/>
                          </a:solidFill>
                          <a:latin typeface="Arial"/>
                          <a:ea typeface="Arial"/>
                          <a:cs typeface="Arial"/>
                        </a:rPr>
                        <a:t>6 列</a:t>
                      </a:r>
                    </a:p>
                  </a:txBody>
                  <a:tcPr marL="91440" marR="91440" marT="45720" marB="45720" anchor="ctr">
                    <a:solidFill>
                      <a:srgbClr val="F2F6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B64B3D"/>
                          </a:solidFill>
                          <a:latin typeface="Arial"/>
                          <a:ea typeface="Arial"/>
                          <a:cs typeface="Arial"/>
                        </a:rPr>
                        <a:t>+1 列</a:t>
                      </a:r>
                    </a:p>
                  </a:txBody>
                  <a:tcPr marL="91440" marR="91440" marT="45720" marB="45720" anchor="ctr">
                    <a:solidFill>
                      <a:srgbClr val="F2F6F5"/>
                    </a:solidFill>
                  </a:tcPr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02B2E"/>
                          </a:solidFill>
                          <a:latin typeface="Arial"/>
                          <a:ea typeface="Arial"/>
                          <a:cs typeface="Arial"/>
                        </a:rPr>
                        <a:t>NAMN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02B2E"/>
                          </a:solidFill>
                          <a:latin typeface="Arial"/>
                          <a:ea typeface="Arial"/>
                          <a:cs typeface="Arial"/>
                        </a:rPr>
                        <a:t>7 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02B2E"/>
                          </a:solidFill>
                          <a:latin typeface="Arial"/>
                          <a:ea typeface="Arial"/>
                          <a:cs typeface="Arial"/>
                        </a:rPr>
                        <a:t>6 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B64B3D"/>
                          </a:solidFill>
                          <a:latin typeface="Arial"/>
                          <a:ea typeface="Arial"/>
                          <a:cs typeface="Arial"/>
                        </a:rPr>
                        <a:t>+1 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3-length">
            <a:extLst xmlns:a="http://schemas.openxmlformats.org/drawingml/2006/main">
              <a:ext uri="{FF2B5EF4-FFF2-40B4-BE49-F238E27FC236}">
                <a16:creationId xmlns:a16="http://schemas.microsoft.com/office/drawing/2014/main" id="{93690D37-59AD-453A-A36C-E06A0EC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2440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B2E"/>
                </a:solidFill>
                <a:latin typeface="Arial"/>
                <a:ea typeface="Arial"/>
                <a:cs typeface="Arial"/>
              </a:rPr>
              <a:t>12 条月行均由 90 列变成 93 列。固定槽位从 XDMN 溢出后，XDSD 起出现错位。</a:t>
            </a:r>
          </a:p>
        </p:txBody>
      </p:sp>
      <p:sp>
        <p:nvSpPr>
          <p:cNvPr id="6" name="s3-reference">
            <a:extLst xmlns:a="http://schemas.openxmlformats.org/drawingml/2006/main">
              <a:ext uri="{FF2B5EF4-FFF2-40B4-BE49-F238E27FC236}">
                <a16:creationId xmlns:a16="http://schemas.microsoft.com/office/drawing/2014/main" id="{91C9F321-156B-46F9-AC11-306A458E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C6B6E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C6B6E"/>
                </a:solidFill>
                <a:latin typeface="Arial"/>
                <a:ea typeface="Arial"/>
                <a:cs typeface="Arial"/>
              </a:rPr>
              <a:t>仓库 CNSY.CLI 结构样本：相同 header，月行 90 列；仅比较格式，未复制参数值。</a:t>
            </a:r>
          </a:p>
        </p:txBody>
      </p:sp>
    </p:spTree>
    <p:extLst>
      <p:ext uri="{BB962C8B-B14F-4D97-AF65-F5344CB8AC3E}">
        <p14:creationId xmlns:p14="http://schemas.microsoft.com/office/powerpoint/2010/main" val="1525616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08FE456-A400-4B47-A5E8-2F4F41C1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02B2E"/>
                </a:solidFill>
                <a:latin typeface="Arial"/>
                <a:ea typeface="Arial"/>
                <a:cs typeface="Arial"/>
              </a:rPr>
              <a:t>修复只改变序列化，不改参数</a:t>
            </a:r>
          </a:p>
        </p:txBody>
      </p:sp>
      <p:sp>
        <p:nvSpPr>
          <p:cNvPr id="2" name="slide-4-index">
            <a:extLst xmlns:a="http://schemas.openxmlformats.org/drawingml/2006/main">
              <a:ext uri="{FF2B5EF4-FFF2-40B4-BE49-F238E27FC236}">
                <a16:creationId xmlns:a16="http://schemas.microsoft.com/office/drawing/2014/main" id="{DB263864-EB65-41C0-85F9-9250BF7E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67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7A78"/>
                </a:solidFill>
                <a:latin typeface="Arial"/>
                <a:ea typeface="Arial"/>
                <a:cs typeface="Arial"/>
              </a:rPr>
              <a:t>YC WEATHER PIPELINE    /    003_06_05_01    /    04</a:t>
            </a:r>
          </a:p>
        </p:txBody>
      </p:sp>
      <p:sp>
        <p:nvSpPr>
          <p:cNvPr id="3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DAB7E404-C239-4DCD-A7A5-6F123EEF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C6B6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C6B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s4-fix">
            <a:extLst xmlns:a="http://schemas.openxmlformats.org/drawingml/2006/main">
              <a:ext uri="{FF2B5EF4-FFF2-40B4-BE49-F238E27FC236}">
                <a16:creationId xmlns:a16="http://schemas.microsoft.com/office/drawing/2014/main" id="{90480E21-4381-48E6-940F-63217B12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7A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7A78"/>
                </a:solidFill>
                <a:latin typeface="Arial"/>
                <a:ea typeface="Arial"/>
                <a:cs typeface="Arial"/>
              </a:rPr>
              <a:t>I6 + 14 × (1X,F5.0)</a:t>
            </a:r>
          </a:p>
        </p:txBody>
      </p:sp>
      <p:sp>
        <p:nvSpPr>
          <p:cNvPr id="5" name="s4-checks">
            <a:extLst xmlns:a="http://schemas.openxmlformats.org/drawingml/2006/main">
              <a:ext uri="{FF2B5EF4-FFF2-40B4-BE49-F238E27FC236}">
                <a16:creationId xmlns:a16="http://schemas.microsoft.com/office/drawing/2014/main" id="{5117EE9C-DDC3-48DF-9435-BF4240C3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6953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B2E"/>
                </a:solidFill>
                <a:latin typeface="Arial"/>
                <a:ea typeface="Arial"/>
                <a:cs typeface="Arial"/>
              </a:rPr>
              <a:t>12 / 12 月行符合 90 列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025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B2E"/>
                </a:solidFill>
                <a:latin typeface="Arial"/>
                <a:ea typeface="Arial"/>
                <a:cs typeface="Arial"/>
              </a:rPr>
              <a:t>15 列可解析，数值有限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025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B2E"/>
                </a:solidFill>
                <a:latin typeface="Arial"/>
                <a:ea typeface="Arial"/>
                <a:cs typeface="Arial"/>
              </a:rPr>
              <a:t>原始参数 token 全部保留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025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B2E"/>
                </a:solidFill>
                <a:latin typeface="Arial"/>
                <a:ea typeface="Arial"/>
                <a:cs typeface="Arial"/>
              </a:rPr>
              <a:t>23 项回归测试通过</a:t>
            </a:r>
          </a:p>
        </p:txBody>
      </p:sp>
      <p:sp>
        <p:nvSpPr>
          <p:cNvPr id="6" name="s4-hash-label">
            <a:extLst xmlns:a="http://schemas.openxmlformats.org/drawingml/2006/main">
              <a:ext uri="{FF2B5EF4-FFF2-40B4-BE49-F238E27FC236}">
                <a16:creationId xmlns:a16="http://schemas.microsoft.com/office/drawing/2014/main" id="{E45EBA98-E1C9-4446-B237-99B8486E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C6B6E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C6B6E"/>
                </a:solidFill>
                <a:latin typeface="Arial"/>
                <a:ea typeface="Arial"/>
                <a:cs typeface="Arial"/>
              </a:rPr>
              <a:t>SHA256 provenance</a:t>
            </a:r>
          </a:p>
        </p:txBody>
      </p:sp>
      <p:sp>
        <p:nvSpPr>
          <p:cNvPr id="7" name="s4-source-hash">
            <a:extLst xmlns:a="http://schemas.openxmlformats.org/drawingml/2006/main">
              <a:ext uri="{FF2B5EF4-FFF2-40B4-BE49-F238E27FC236}">
                <a16:creationId xmlns:a16="http://schemas.microsoft.com/office/drawing/2014/main" id="{6C1376BD-05CA-4957-A352-608B02F5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908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B2E"/>
                </a:solidFill>
                <a:latin typeface="Arial"/>
                <a:ea typeface="Arial"/>
                <a:cs typeface="Arial"/>
              </a:rPr>
              <a:t>冻结原件</a:t>
            </a:r>
          </a:p>
          <a:p xmlns:a="http://schemas.openxmlformats.org/drawingml/2006/main">
            <a:pPr algn="l">
              <a:defRPr sz="1350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B2E"/>
                </a:solidFill>
                <a:latin typeface="Arial"/>
                <a:ea typeface="Arial"/>
                <a:cs typeface="Arial"/>
              </a:rPr>
              <a:t>5ABF5D7BB97EFAAE5E8361ABB4C773E1554B58116CBCA2213E75DCFF838285F0</a:t>
            </a:r>
          </a:p>
        </p:txBody>
      </p:sp>
      <p:sp>
        <p:nvSpPr>
          <p:cNvPr id="8" name="s4-fixed-hash">
            <a:extLst xmlns:a="http://schemas.openxmlformats.org/drawingml/2006/main">
              <a:ext uri="{FF2B5EF4-FFF2-40B4-BE49-F238E27FC236}">
                <a16:creationId xmlns:a16="http://schemas.microsoft.com/office/drawing/2014/main" id="{952711E9-BB1A-4512-891C-A20E973A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67A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67A78"/>
                </a:solidFill>
                <a:latin typeface="Arial"/>
                <a:ea typeface="Arial"/>
                <a:cs typeface="Arial"/>
              </a:rPr>
              <a:t>隔离修复件</a:t>
            </a:r>
          </a:p>
          <a:p xmlns:a="http://schemas.openxmlformats.org/drawingml/2006/main">
            <a:pPr algn="l">
              <a:defRPr sz="1350">
                <a:solidFill>
                  <a:srgbClr val="167A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67A78"/>
                </a:solidFill>
                <a:latin typeface="Arial"/>
                <a:ea typeface="Arial"/>
                <a:cs typeface="Arial"/>
              </a:rPr>
              <a:t>65CF134600A5881706A5D435E1A09B276ED92A21FA5ABE2E18AAF63AF1E3A929</a:t>
            </a:r>
          </a:p>
        </p:txBody>
      </p:sp>
      <p:sp>
        <p:nvSpPr>
          <p:cNvPr id="9" name="s4-note">
            <a:extLst xmlns:a="http://schemas.openxmlformats.org/drawingml/2006/main">
              <a:ext uri="{FF2B5EF4-FFF2-40B4-BE49-F238E27FC236}">
                <a16:creationId xmlns:a16="http://schemas.microsoft.com/office/drawing/2014/main" id="{06E7E80C-891B-440C-B44F-11BF4662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8745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87452"/>
                </a:solidFill>
                <a:latin typeface="Arial"/>
                <a:ea typeface="Arial"/>
                <a:cs typeface="Arial"/>
              </a:rPr>
              <a:t>原 CLI 和冻结训练天气运行前后 hash 均未改变。</a:t>
            </a:r>
          </a:p>
        </p:txBody>
      </p:sp>
    </p:spTree>
    <p:extLst>
      <p:ext uri="{BB962C8B-B14F-4D97-AF65-F5344CB8AC3E}">
        <p14:creationId xmlns:p14="http://schemas.microsoft.com/office/powerpoint/2010/main" val="16383773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06E569C5-C8AE-42E8-9D2B-310E74FE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02B2E"/>
                </a:solidFill>
                <a:latin typeface="Arial"/>
                <a:ea typeface="Arial"/>
                <a:cs typeface="Arial"/>
              </a:rPr>
              <a:t>唯一有效 seed 101 runtime smoke</a:t>
            </a:r>
          </a:p>
        </p:txBody>
      </p:sp>
      <p:sp>
        <p:nvSpPr>
          <p:cNvPr id="2" name="slide-5-index">
            <a:extLst xmlns:a="http://schemas.openxmlformats.org/drawingml/2006/main">
              <a:ext uri="{FF2B5EF4-FFF2-40B4-BE49-F238E27FC236}">
                <a16:creationId xmlns:a16="http://schemas.microsoft.com/office/drawing/2014/main" id="{CF3E9913-80B3-4623-8CEF-0C6A44B1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67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7A78"/>
                </a:solidFill>
                <a:latin typeface="Arial"/>
                <a:ea typeface="Arial"/>
                <a:cs typeface="Arial"/>
              </a:rPr>
              <a:t>YC WEATHER PIPELINE    /    003_06_05_01    /    05</a:t>
            </a:r>
          </a:p>
        </p:txBody>
      </p:sp>
      <p:sp>
        <p:nvSpPr>
          <p:cNvPr id="3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9B862A28-9A38-41C4-A1A8-6562EB28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C6B6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C6B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s5-status">
            <a:extLst xmlns:a="http://schemas.openxmlformats.org/drawingml/2006/main">
              <a:ext uri="{FF2B5EF4-FFF2-40B4-BE49-F238E27FC236}">
                <a16:creationId xmlns:a16="http://schemas.microsoft.com/office/drawing/2014/main" id="{7EB8A58E-8285-4A24-B952-2F409B12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5049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8745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7452"/>
                </a:solidFill>
                <a:latin typeface="Arial"/>
                <a:ea typeface="Arial"/>
                <a:cs typeface="Arial"/>
              </a:rPr>
              <a:t>PARSE_FIX_RUNTIME_PASS</a:t>
            </a:r>
          </a:p>
        </p:txBody>
      </p:sp>
      <p:sp>
        <p:nvSpPr>
          <p:cNvPr id="5" name="s5-steps">
            <a:extLst xmlns:a="http://schemas.openxmlformats.org/drawingml/2006/main">
              <a:ext uri="{FF2B5EF4-FFF2-40B4-BE49-F238E27FC236}">
                <a16:creationId xmlns:a16="http://schemas.microsoft.com/office/drawing/2014/main" id="{D824F55E-7428-49C4-A377-529E41A3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02B2E"/>
                </a:solidFill>
                <a:latin typeface="Arial"/>
                <a:ea typeface="Arial"/>
                <a:cs typeface="Arial"/>
              </a:rPr>
              <a:t>120 步</a:t>
            </a:r>
          </a:p>
        </p:txBody>
      </p:sp>
      <p:sp>
        <p:nvSpPr>
          <p:cNvPr id="6" name="s5-weather">
            <a:extLst xmlns:a="http://schemas.openxmlformats.org/drawingml/2006/main">
              <a:ext uri="{FF2B5EF4-FFF2-40B4-BE49-F238E27FC236}">
                <a16:creationId xmlns:a16="http://schemas.microsoft.com/office/drawing/2014/main" id="{E58C77D9-FF25-4AEF-AB57-88B65FFB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7A7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A78"/>
                </a:solidFill>
                <a:latin typeface="Arial"/>
                <a:ea typeface="Arial"/>
                <a:cs typeface="Arial"/>
              </a:rPr>
              <a:t>120 行天气状态</a:t>
            </a:r>
          </a:p>
        </p:txBody>
      </p:sp>
      <p:sp>
        <p:nvSpPr>
          <p:cNvPr id="7" name="s5-setup">
            <a:extLst xmlns:a="http://schemas.openxmlformats.org/drawingml/2006/main">
              <a:ext uri="{FF2B5EF4-FFF2-40B4-BE49-F238E27FC236}">
                <a16:creationId xmlns:a16="http://schemas.microsoft.com/office/drawing/2014/main" id="{8DCB610F-B275-420E-9F6E-EC2FAB83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019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B2E"/>
                </a:solidFill>
                <a:latin typeface="Arial"/>
                <a:ea typeface="Arial"/>
                <a:cs typeface="Arial"/>
              </a:rPr>
              <a:t>YC 单季   |   random_weather=True   |   WTHER=W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950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B2E"/>
                </a:solidFill>
                <a:latin typeface="Arial"/>
                <a:ea typeface="Arial"/>
                <a:cs typeface="Arial"/>
              </a:rPr>
              <a:t>WSTA=CNYC0801   |   PPO 未运行</a:t>
            </a:r>
          </a:p>
        </p:txBody>
      </p:sp>
      <p:sp>
        <p:nvSpPr>
          <p:cNvPr id="8" name="s5-date">
            <a:extLst xmlns:a="http://schemas.openxmlformats.org/drawingml/2006/main">
              <a:ext uri="{FF2B5EF4-FFF2-40B4-BE49-F238E27FC236}">
                <a16:creationId xmlns:a16="http://schemas.microsoft.com/office/drawing/2014/main" id="{506779C2-4864-4AD8-9113-D79F45B5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C6B6E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C6B6E"/>
                </a:solidFill>
                <a:latin typeface="Arial"/>
                <a:ea typeface="Arial"/>
                <a:cs typeface="Arial"/>
              </a:rPr>
              <a:t>天气状态窗口    2008-06-01 至 2008-09-28</a:t>
            </a:r>
          </a:p>
        </p:txBody>
      </p:sp>
      <p:sp>
        <p:nvSpPr>
          <p:cNvPr id="9" name="s5-qc">
            <a:extLst xmlns:a="http://schemas.openxmlformats.org/drawingml/2006/main">
              <a:ext uri="{FF2B5EF4-FFF2-40B4-BE49-F238E27FC236}">
                <a16:creationId xmlns:a16="http://schemas.microsoft.com/office/drawing/2014/main" id="{BB3FDF48-6BC4-415A-AE5D-58AB26DC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8745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87452"/>
                </a:solidFill>
                <a:latin typeface="Arial"/>
                <a:ea typeface="Arial"/>
                <a:cs typeface="Arial"/>
              </a:rPr>
              <a:t>天气 screening QC 通过；WGENIN 5010 未再出现。</a:t>
            </a:r>
          </a:p>
        </p:txBody>
      </p:sp>
    </p:spTree>
    <p:extLst>
      <p:ext uri="{BB962C8B-B14F-4D97-AF65-F5344CB8AC3E}">
        <p14:creationId xmlns:p14="http://schemas.microsoft.com/office/powerpoint/2010/main" val="1662986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E514E169-987B-4369-8AFB-60750ABD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02B2E"/>
                </a:solidFill>
                <a:latin typeface="Arial"/>
                <a:ea typeface="Arial"/>
                <a:cs typeface="Arial"/>
              </a:rPr>
              <a:t>结论与停止边界</a:t>
            </a:r>
          </a:p>
        </p:txBody>
      </p:sp>
      <p:sp>
        <p:nvSpPr>
          <p:cNvPr id="2" name="slide-6-index">
            <a:extLst xmlns:a="http://schemas.openxmlformats.org/drawingml/2006/main">
              <a:ext uri="{FF2B5EF4-FFF2-40B4-BE49-F238E27FC236}">
                <a16:creationId xmlns:a16="http://schemas.microsoft.com/office/drawing/2014/main" id="{2EFFDEA8-7D2C-4BB1-AA23-F9349092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67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7A78"/>
                </a:solidFill>
                <a:latin typeface="Arial"/>
                <a:ea typeface="Arial"/>
                <a:cs typeface="Arial"/>
              </a:rPr>
              <a:t>YC WEATHER PIPELINE    /    003_06_05_01    /    06</a:t>
            </a:r>
          </a:p>
        </p:txBody>
      </p:sp>
      <p:sp>
        <p:nvSpPr>
          <p:cNvPr id="3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64B4089E-EED6-40CC-A447-3FE0DB87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C6B6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C6B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6-conclusion">
            <a:extLst xmlns:a="http://schemas.openxmlformats.org/drawingml/2006/main">
              <a:ext uri="{FF2B5EF4-FFF2-40B4-BE49-F238E27FC236}">
                <a16:creationId xmlns:a16="http://schemas.microsoft.com/office/drawing/2014/main" id="{583B04BF-48AA-4E23-8DE6-5BC42716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1038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B2E"/>
                </a:solidFill>
                <a:latin typeface="Arial"/>
                <a:ea typeface="Arial"/>
                <a:cs typeface="Arial"/>
              </a:rPr>
              <a:t>格式根因已定位，单次 seed 101 smoke 越过 WGENIN 并进入模拟。</a:t>
            </a:r>
          </a:p>
        </p:txBody>
      </p:sp>
      <p:sp>
        <p:nvSpPr>
          <p:cNvPr id="5" name="s6-first-attempt">
            <a:extLst xmlns:a="http://schemas.openxmlformats.org/drawingml/2006/main">
              <a:ext uri="{FF2B5EF4-FFF2-40B4-BE49-F238E27FC236}">
                <a16:creationId xmlns:a16="http://schemas.microsoft.com/office/drawing/2014/main" id="{CE0734DD-9756-4504-80EF-D376F019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B64B3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B64B3D"/>
                </a:solidFill>
                <a:latin typeface="Arial"/>
                <a:ea typeface="Arial"/>
                <a:cs typeface="Arial"/>
              </a:rPr>
              <a:t>首次包装尝试在 MAKEFW 找不到 CNYC.CLI，未进入 WGENIN，已保留并标记 NOT_TESTED。</a:t>
            </a:r>
          </a:p>
        </p:txBody>
      </p:sp>
      <p:sp>
        <p:nvSpPr>
          <p:cNvPr id="6" name="s6-next">
            <a:extLst xmlns:a="http://schemas.openxmlformats.org/drawingml/2006/main">
              <a:ext uri="{FF2B5EF4-FFF2-40B4-BE49-F238E27FC236}">
                <a16:creationId xmlns:a16="http://schemas.microsoft.com/office/drawing/2014/main" id="{D540E252-3A73-4CF7-8D93-910B44E6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02B2E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B2E"/>
                </a:solidFill>
                <a:latin typeface="Arial"/>
                <a:ea typeface="Arial"/>
                <a:cs typeface="Arial"/>
              </a:rPr>
              <a:t>本任务停止于此。下一步恢复 003_06_05 seed pilot，再检查 101a / 101b 与 102–105。</a:t>
            </a:r>
          </a:p>
        </p:txBody>
      </p:sp>
      <p:sp>
        <p:nvSpPr>
          <p:cNvPr id="7" name="s6-warning">
            <a:extLst xmlns:a="http://schemas.openxmlformats.org/drawingml/2006/main">
              <a:ext uri="{FF2B5EF4-FFF2-40B4-BE49-F238E27FC236}">
                <a16:creationId xmlns:a16="http://schemas.microsoft.com/office/drawing/2014/main" id="{4917E835-39BA-4A85-A0C0-C4B5F683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C6B6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C6B6E"/>
                </a:solidFill>
                <a:latin typeface="Arial"/>
                <a:ea typeface="Arial"/>
                <a:cs typeface="Arial"/>
              </a:rPr>
              <a:t>FileX 经纬度与海拔 warning 仍存在，本轮未改动输入。</a:t>
            </a:r>
          </a:p>
        </p:txBody>
      </p:sp>
    </p:spTree>
    <p:extLst>
      <p:ext uri="{BB962C8B-B14F-4D97-AF65-F5344CB8AC3E}">
        <p14:creationId xmlns:p14="http://schemas.microsoft.com/office/powerpoint/2010/main" val="1176585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2026-09-25T02:33:22.1770000Z</dcterms:created>
  <dcterms:modified xsi:type="dcterms:W3CDTF">2026-09-25T02:33:22.1770000Z</dcterms:modified>
</coreProperties>
</file>