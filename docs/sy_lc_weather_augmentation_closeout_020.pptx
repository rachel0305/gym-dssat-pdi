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3"/>
                </a:solidFill>
                <a:latin typeface="Microsoft YaHei"/>
              </a:defRPr>
            </a:pPr>
            <a:r>
              <a:t>SYA / LCA 天气增强阶段性收尾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417320"/>
            <a:ext cx="108356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000">
                <a:solidFill>
                  <a:srgbClr val="25394B"/>
                </a:solidFill>
                <a:latin typeface="Microsoft YaHei"/>
              </a:defRPr>
            </a:pPr>
            <a:r>
              <a:t>当前实验对两站随机天气增强实行临时冻结。</a:t>
            </a:r>
          </a:p>
          <a:p>
            <a:pPr>
              <a:spcAft>
                <a:spcPts val="1900"/>
              </a:spcAft>
              <a:defRPr sz="2000">
                <a:solidFill>
                  <a:srgbClr val="25394B"/>
                </a:solidFill>
                <a:latin typeface="Microsoft YaHei"/>
              </a:defRPr>
            </a:pPr>
            <a:r>
              <a:t>historical-weather PPO 冻结结果继续用于本轮研究。</a:t>
            </a:r>
          </a:p>
          <a:p>
            <a:pPr>
              <a:spcAft>
                <a:spcPts val="1900"/>
              </a:spcAft>
              <a:defRPr sz="2000">
                <a:solidFill>
                  <a:srgbClr val="25394B"/>
                </a:solidFill>
                <a:latin typeface="Microsoft YaHei"/>
              </a:defRPr>
            </a:pPr>
            <a:r>
              <a:t>审查范围：来源、填补、CLI 参数和 WGEN 输入适宜性。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291072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E80"/>
                </a:solidFill>
                <a:latin typeface="Microsoft YaHei"/>
              </a:defRPr>
            </a:pPr>
            <a:r>
              <a:t>020 closeout · 2026-10-06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3"/>
                </a:solidFill>
                <a:latin typeface="Microsoft YaHei"/>
              </a:defRPr>
            </a:pPr>
            <a:r>
              <a:t>SYA：2005 年缺段削弱日际变率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417320"/>
            <a:ext cx="108356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000">
                <a:solidFill>
                  <a:srgbClr val="25394B"/>
                </a:solidFill>
                <a:latin typeface="Microsoft YaHei"/>
              </a:defRPr>
            </a:pPr>
            <a:r>
              <a:t>462 个非降水缺口中，424 个位于 2005 年。</a:t>
            </a:r>
          </a:p>
          <a:p>
            <a:pPr>
              <a:spcAft>
                <a:spcPts val="1900"/>
              </a:spcAft>
              <a:defRPr sz="2000">
                <a:solidFill>
                  <a:srgbClr val="25394B"/>
                </a:solidFill>
                <a:latin typeface="Microsoft YaHei"/>
              </a:defRPr>
            </a:pPr>
            <a:r>
              <a:t>训练期独立均值填补解决了验证期信息进入填补均值的问题。</a:t>
            </a:r>
          </a:p>
          <a:p>
            <a:pPr>
              <a:spcAft>
                <a:spcPts val="1900"/>
              </a:spcAft>
              <a:defRPr sz="2000">
                <a:solidFill>
                  <a:srgbClr val="25394B"/>
                </a:solidFill>
                <a:latin typeface="Microsoft YaHei"/>
              </a:defRPr>
            </a:pPr>
            <a:r>
              <a:t>2005 年 1–4 月 SRAD、TMAX、TMIN 月内标准差均为 0。</a:t>
            </a:r>
          </a:p>
          <a:p>
            <a:pPr>
              <a:spcAft>
                <a:spcPts val="1900"/>
              </a:spcAft>
              <a:defRPr sz="2000">
                <a:solidFill>
                  <a:srgbClr val="25394B"/>
                </a:solidFill>
                <a:latin typeface="Microsoft YaHei"/>
              </a:defRPr>
            </a:pPr>
            <a:r>
              <a:t>019 gate：BLOCKED_BY_WEATHER_STATISTICS。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291072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E80"/>
                </a:solidFill>
                <a:latin typeface="Microsoft YaHei"/>
              </a:defRPr>
            </a:pPr>
            <a:r>
              <a:t>依据：017 敏感性、018 CLI 审计、019 变率复审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3"/>
                </a:solidFill>
                <a:latin typeface="Microsoft YaHei"/>
              </a:defRPr>
            </a:pPr>
            <a:r>
              <a:t>LCA：1 月降水参数未稳定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417320"/>
            <a:ext cx="108356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000">
                <a:solidFill>
                  <a:srgbClr val="25394B"/>
                </a:solidFill>
                <a:latin typeface="Microsoft YaHei"/>
              </a:defRPr>
            </a:pPr>
            <a:r>
              <a:t>2005–2013 的 1 月仅有 4 个湿日。</a:t>
            </a:r>
          </a:p>
          <a:p>
            <a:pPr>
              <a:spcAft>
                <a:spcPts val="1900"/>
              </a:spcAft>
              <a:defRPr sz="2000">
                <a:solidFill>
                  <a:srgbClr val="25394B"/>
                </a:solidFill>
                <a:latin typeface="Microsoft YaHei"/>
              </a:defRPr>
            </a:pPr>
            <a:r>
              <a:t>2000–2013 增至 26 个，其中 14 个来自 2000 年。</a:t>
            </a:r>
          </a:p>
          <a:p>
            <a:pPr>
              <a:spcAft>
                <a:spcPts val="1900"/>
              </a:spcAft>
              <a:defRPr sz="2000">
                <a:solidFill>
                  <a:srgbClr val="25394B"/>
                </a:solidFill>
                <a:latin typeface="Microsoft YaHei"/>
              </a:defRPr>
            </a:pPr>
            <a:r>
              <a:t>候选窗口的 1 月 Gamma ALPHA 均达到 0.998 截断值。</a:t>
            </a:r>
          </a:p>
          <a:p>
            <a:pPr>
              <a:spcAft>
                <a:spcPts val="1900"/>
              </a:spcAft>
              <a:defRPr sz="2000">
                <a:solidFill>
                  <a:srgbClr val="25394B"/>
                </a:solidFill>
                <a:latin typeface="Microsoft YaHei"/>
              </a:defRPr>
            </a:pPr>
            <a:r>
              <a:t>当前 gate：BLOCKED_BY_JANUARY_GAMMA_SAMPLE。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291072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E80"/>
                </a:solidFill>
                <a:latin typeface="Microsoft YaHei"/>
              </a:defRPr>
            </a:pPr>
            <a:r>
              <a:t>依据：016 CLI 审计、长历史窗口审查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3"/>
                </a:solidFill>
                <a:latin typeface="Microsoft YaHei"/>
              </a:defRPr>
            </a:pPr>
            <a:r>
              <a:t>历史天气 PPO 结果继续保留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417320"/>
            <a:ext cx="108356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000">
                <a:solidFill>
                  <a:srgbClr val="25394B"/>
                </a:solidFill>
                <a:latin typeface="Microsoft YaHei"/>
              </a:defRPr>
            </a:pPr>
            <a:r>
              <a:t>本轮阻塞针对 WGEN 随机天气的参数拟合输入。</a:t>
            </a:r>
          </a:p>
          <a:p>
            <a:pPr>
              <a:spcAft>
                <a:spcPts val="1900"/>
              </a:spcAft>
              <a:defRPr sz="2000">
                <a:solidFill>
                  <a:srgbClr val="25394B"/>
                </a:solidFill>
                <a:latin typeface="Microsoft YaHei"/>
              </a:defRPr>
            </a:pPr>
            <a:r>
              <a:t>已有 historical-weather PPO 结果按原冻结实验口径保留。</a:t>
            </a:r>
          </a:p>
          <a:p>
            <a:pPr>
              <a:spcAft>
                <a:spcPts val="1900"/>
              </a:spcAft>
              <a:defRPr sz="2000">
                <a:solidFill>
                  <a:srgbClr val="25394B"/>
                </a:solidFill>
                <a:latin typeface="Microsoft YaHei"/>
              </a:defRPr>
            </a:pPr>
            <a:r>
              <a:t>不因 WGEN 阻塞重训，也不据此判定历史天气结果无效。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291072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E80"/>
                </a:solidFill>
                <a:latin typeface="Microsoft YaHei"/>
              </a:defRPr>
            </a:pPr>
            <a:r>
              <a:t>范围说明：本次未复算 PPO 或 DSSAT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3"/>
                </a:solidFill>
                <a:latin typeface="Microsoft YaHei"/>
              </a:defRPr>
            </a:pPr>
            <a:r>
              <a:t>两站本轮均临时退出 WGEN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417320"/>
            <a:ext cx="108356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000">
                <a:solidFill>
                  <a:srgbClr val="25394B"/>
                </a:solidFill>
                <a:latin typeface="Microsoft YaHei"/>
              </a:defRPr>
            </a:pPr>
            <a:r>
              <a:t>SYA：EXCLUDED_FROM_WGEN_FOR_CURRENT_EXPERIMENT。</a:t>
            </a:r>
          </a:p>
          <a:p>
            <a:pPr>
              <a:spcAft>
                <a:spcPts val="1900"/>
              </a:spcAft>
              <a:defRPr sz="2000">
                <a:solidFill>
                  <a:srgbClr val="25394B"/>
                </a:solidFill>
                <a:latin typeface="Microsoft YaHei"/>
              </a:defRPr>
            </a:pPr>
            <a:r>
              <a:t>LCA：EXCLUDED_FROM_WGEN_FOR_CURRENT_EXPERIMENT。</a:t>
            </a:r>
          </a:p>
          <a:p>
            <a:pPr>
              <a:spcAft>
                <a:spcPts val="1900"/>
              </a:spcAft>
              <a:defRPr sz="2000">
                <a:solidFill>
                  <a:srgbClr val="25394B"/>
                </a:solidFill>
                <a:latin typeface="Microsoft YaHei"/>
              </a:defRPr>
            </a:pPr>
            <a:r>
              <a:t>状态：TEMPORARILY_FROZEN_FOR_CURRENT_WEATHER_AUGMENTATION_EXPERIMENT。</a:t>
            </a:r>
          </a:p>
          <a:p>
            <a:pPr>
              <a:spcAft>
                <a:spcPts val="1900"/>
              </a:spcAft>
              <a:defRPr sz="2000">
                <a:solidFill>
                  <a:srgbClr val="25394B"/>
                </a:solidFill>
                <a:latin typeface="Microsoft YaHei"/>
              </a:defRPr>
            </a:pPr>
            <a:r>
              <a:t>未来获得更好数据或方法后可重新开启。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291072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E80"/>
                </a:solidFill>
                <a:latin typeface="Microsoft YaHei"/>
              </a:defRPr>
            </a:pPr>
            <a:r>
              <a:t>机器状态：results/sy_lc_weather_augmentation_closeout/freeze_status.json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3"/>
                </a:solidFill>
                <a:latin typeface="Microsoft YaHei"/>
              </a:defRPr>
            </a:pPr>
            <a:r>
              <a:t>Git 归档范围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417320"/>
            <a:ext cx="108356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000">
                <a:solidFill>
                  <a:srgbClr val="25394B"/>
                </a:solidFill>
                <a:latin typeface="Microsoft YaHei"/>
              </a:defRPr>
            </a:pPr>
            <a:r>
              <a:t>归档 015–019 报告、审查脚本、关键 CSV、gate/QC JSON 和候选 CLI。</a:t>
            </a:r>
          </a:p>
          <a:p>
            <a:pPr>
              <a:spcAft>
                <a:spcPts val="1900"/>
              </a:spcAft>
              <a:defRPr sz="2000">
                <a:solidFill>
                  <a:srgbClr val="25394B"/>
                </a:solidFill>
                <a:latin typeface="Microsoft YaHei"/>
              </a:defRPr>
            </a:pPr>
            <a:r>
              <a:t>保留原始 WTH 与既有 PPO 结果，不把模型文件加入本次提交。</a:t>
            </a:r>
          </a:p>
          <a:p>
            <a:pPr>
              <a:spcAft>
                <a:spcPts val="1900"/>
              </a:spcAft>
              <a:defRPr sz="2000">
                <a:solidFill>
                  <a:srgbClr val="25394B"/>
                </a:solidFill>
                <a:latin typeface="Microsoft YaHei"/>
              </a:defRPr>
            </a:pPr>
            <a:r>
              <a:t>逐文件 SHA256 与 Git 状态记录在 backup manifest。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291072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E80"/>
                </a:solidFill>
                <a:latin typeface="Microsoft YaHei"/>
              </a:defRPr>
            </a:pPr>
            <a:r>
              <a:t>清单：docs/sy_lc_weather_augmentation_backup_manifest.md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3"/>
                </a:solidFill>
                <a:latin typeface="Microsoft YaHei"/>
              </a:defRPr>
            </a:pPr>
            <a:r>
              <a:t>重新开启的条件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417320"/>
            <a:ext cx="108356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000">
                <a:solidFill>
                  <a:srgbClr val="25394B"/>
                </a:solidFill>
                <a:latin typeface="Microsoft YaHei"/>
              </a:defRPr>
            </a:pPr>
            <a:r>
              <a:t>SYA：可靠补测或独立重建 2005 年长缺段，并重新审查变率。</a:t>
            </a:r>
          </a:p>
          <a:p>
            <a:pPr>
              <a:spcAft>
                <a:spcPts val="1900"/>
              </a:spcAft>
              <a:defRPr sz="2000">
                <a:solidFill>
                  <a:srgbClr val="25394B"/>
                </a:solidFill>
                <a:latin typeface="Microsoft YaHei"/>
              </a:defRPr>
            </a:pPr>
            <a:r>
              <a:t>LCA：更长、连续且质量合格的降水记录，或重新验证冬季参数化。</a:t>
            </a:r>
          </a:p>
          <a:p>
            <a:pPr>
              <a:spcAft>
                <a:spcPts val="1900"/>
              </a:spcAft>
              <a:defRPr sz="2000">
                <a:solidFill>
                  <a:srgbClr val="25394B"/>
                </a:solidFill>
                <a:latin typeface="Microsoft YaHei"/>
              </a:defRPr>
            </a:pPr>
            <a:r>
              <a:t>若采用新的天气生成方法，需要独立完成方法和输出 QC。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291072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E80"/>
                </a:solidFill>
                <a:latin typeface="Microsoft YaHei"/>
              </a:defRPr>
            </a:pPr>
            <a:r>
              <a:t>本轮停止 WGEN、DSSAT、PPO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