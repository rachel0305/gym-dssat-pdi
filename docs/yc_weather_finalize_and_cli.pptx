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2120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1A7470"/>
                </a:solidFill>
                <a:latin typeface="Microsoft YaHei"/>
              </a:rPr>
              <a:t>决策摘要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500" b="1">
                <a:solidFill>
                  <a:srgbClr val="223237"/>
                </a:solidFill>
                <a:latin typeface="Microsoft YaHei"/>
              </a:rPr>
              <a:t>YC 训练天气定稿与 `.CLI` 准备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83680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>
                <a:solidFill>
                  <a:srgbClr val="657577"/>
                </a:solidFill>
                <a:latin typeface="Microsoft YaHei"/>
              </a:rPr>
              <a:t>YC TRAIN WEATHER  |  003_05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64008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657577"/>
                </a:solidFill>
                <a:latin typeface="Microsoft YaHei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6446520" cy="4462272"/>
          </a:xfrm>
          <a:prstGeom prst="rect">
            <a:avLst/>
          </a:prstGeom>
          <a:solidFill>
            <a:srgbClr val="FAEEE5"/>
          </a:solidFill>
          <a:ln>
            <a:solidFill>
              <a:srgbClr val="FA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55648"/>
            <a:ext cx="576072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1">
                <a:solidFill>
                  <a:srgbClr val="D36F43"/>
                </a:solidFill>
                <a:latin typeface="Microsoft YaHei"/>
              </a:rPr>
              <a:t>最终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139696"/>
            <a:ext cx="5715000" cy="5852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200" b="1">
                <a:solidFill>
                  <a:srgbClr val="223237"/>
                </a:solidFill>
                <a:latin typeface="Microsoft YaHei"/>
              </a:rPr>
              <a:t>BLOCKED_EXTERNAL_GAPFILL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26080"/>
            <a:ext cx="5596128" cy="74980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700" b="0">
                <a:solidFill>
                  <a:srgbClr val="223237"/>
                </a:solidFill>
                <a:latin typeface="Microsoft YaHei"/>
              </a:rPr>
              <a:t>NASA POWER 的温度与辐射 overlap 通过；降雨事件一致率未达到预设门槛。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" y="3950208"/>
            <a:ext cx="5413248" cy="13716"/>
          </a:xfrm>
          <a:prstGeom prst="rect">
            <a:avLst/>
          </a:prstGeom>
          <a:solidFill>
            <a:srgbClr val="E0CCBE"/>
          </a:solidFill>
          <a:ln>
            <a:solidFill>
              <a:srgbClr val="E0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2" y="4297680"/>
            <a:ext cx="82296" cy="82296"/>
          </a:xfrm>
          <a:prstGeom prst="ellipse">
            <a:avLst/>
          </a:prstGeom>
          <a:solidFill>
            <a:srgbClr val="D36F43"/>
          </a:solidFill>
          <a:ln>
            <a:solidFill>
              <a:srgbClr val="D3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224528"/>
            <a:ext cx="5230368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223237"/>
                </a:solidFill>
                <a:latin typeface="Microsoft YaHei"/>
              </a:rPr>
              <a:t>不生成 fitting candidate，不估算年/月气候统计。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910328"/>
            <a:ext cx="82296" cy="82296"/>
          </a:xfrm>
          <a:prstGeom prst="ellipse">
            <a:avLst/>
          </a:prstGeom>
          <a:solidFill>
            <a:srgbClr val="D36F43"/>
          </a:solidFill>
          <a:ln>
            <a:solidFill>
              <a:srgbClr val="D3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" y="4837176"/>
            <a:ext cx="5230368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223237"/>
                </a:solidFill>
                <a:latin typeface="Microsoft YaHei"/>
              </a:rPr>
              <a:t>不生成 `.CLI`，不运行 WGEN、DSSAT 或 PPO。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1517904"/>
            <a:ext cx="1993392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33488" y="1517904"/>
            <a:ext cx="64008" cy="1234440"/>
          </a:xfrm>
          <a:prstGeom prst="rect">
            <a:avLst/>
          </a:prstGeom>
          <a:solidFill>
            <a:srgbClr val="D36F43"/>
          </a:solidFill>
          <a:ln>
            <a:solidFill>
              <a:srgbClr val="D3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7" y="1636776"/>
            <a:ext cx="1673352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657577"/>
                </a:solidFill>
                <a:latin typeface="Microsoft YaHei"/>
              </a:rPr>
              <a:t>原始变量级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7" y="1911095"/>
            <a:ext cx="1673352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500" b="1">
                <a:solidFill>
                  <a:srgbClr val="D36F43"/>
                </a:solidFill>
                <a:latin typeface="Microsoft YaHei"/>
              </a:rPr>
              <a:t>370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7" y="2414015"/>
            <a:ext cx="1673352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657577"/>
                </a:solidFill>
                <a:latin typeface="Microsoft YaHei"/>
              </a:rPr>
              <a:t>仅限 2004–2013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28048" y="1517904"/>
            <a:ext cx="1993392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28048" y="1517904"/>
            <a:ext cx="64008" cy="1234440"/>
          </a:xfrm>
          <a:prstGeom prst="rect">
            <a:avLst/>
          </a:prstGeom>
          <a:solidFill>
            <a:srgbClr val="D36F43"/>
          </a:solidFill>
          <a:ln>
            <a:solidFill>
              <a:srgbClr val="D3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0928" y="1636776"/>
            <a:ext cx="1673352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657577"/>
                </a:solidFill>
                <a:latin typeface="Microsoft YaHei"/>
              </a:rPr>
              <a:t>降雨事件一致率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1911095"/>
            <a:ext cx="1673352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500" b="1">
                <a:solidFill>
                  <a:srgbClr val="D36F43"/>
                </a:solidFill>
                <a:latin typeface="Microsoft YaHei"/>
              </a:rPr>
              <a:t>72.0%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2414015"/>
            <a:ext cx="1673352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657577"/>
                </a:solidFill>
                <a:latin typeface="Microsoft YaHei"/>
              </a:rPr>
              <a:t>门槛 80.0%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3488" y="2962656"/>
            <a:ext cx="1993392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33488" y="2962656"/>
            <a:ext cx="64008" cy="1234440"/>
          </a:xfrm>
          <a:prstGeom prst="rect">
            <a:avLst/>
          </a:prstGeom>
          <a:solidFill>
            <a:srgbClr val="657577"/>
          </a:solidFill>
          <a:ln>
            <a:solidFill>
              <a:srgbClr val="65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7" y="3081528"/>
            <a:ext cx="1673352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657577"/>
                </a:solidFill>
                <a:latin typeface="Microsoft YaHei"/>
              </a:rPr>
              <a:t>接受填补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3355848"/>
            <a:ext cx="1673352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500" b="1">
                <a:solidFill>
                  <a:srgbClr val="657577"/>
                </a:solidFill>
                <a:latin typeface="Microsoft YaHe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7" y="3858768"/>
            <a:ext cx="1673352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657577"/>
                </a:solidFill>
                <a:latin typeface="Microsoft YaHei"/>
              </a:rPr>
              <a:t>candidate 未形成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28048" y="2962656"/>
            <a:ext cx="1993392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28048" y="2962656"/>
            <a:ext cx="64008" cy="1234440"/>
          </a:xfrm>
          <a:prstGeom prst="rect">
            <a:avLst/>
          </a:prstGeom>
          <a:solidFill>
            <a:srgbClr val="657577"/>
          </a:solidFill>
          <a:ln>
            <a:solidFill>
              <a:srgbClr val="65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0928" y="3081528"/>
            <a:ext cx="1673352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657577"/>
                </a:solidFill>
                <a:latin typeface="Microsoft YaHei"/>
              </a:rPr>
              <a:t>候选完整日数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8" y="3355848"/>
            <a:ext cx="1673352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500" b="1">
                <a:solidFill>
                  <a:srgbClr val="657577"/>
                </a:solidFill>
                <a:latin typeface="Microsoft YaHei"/>
              </a:rPr>
              <a:t>0 / 3,653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0928" y="3858768"/>
            <a:ext cx="1673352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657577"/>
                </a:solidFill>
                <a:latin typeface="Microsoft YaHei"/>
              </a:rPr>
              <a:t>QC 未运行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8352" y="4709160"/>
            <a:ext cx="4069080" cy="8412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223237"/>
                </a:solidFill>
                <a:latin typeface="Microsoft YaHei"/>
              </a:rPr>
              <a:t>停在数据质量 Gate 是预期行为：保留证据，不用猜值换取通过。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2120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1A7470"/>
                </a:solidFill>
                <a:latin typeface="Microsoft YaHei"/>
              </a:rPr>
              <a:t>决策原则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500" b="1">
                <a:solidFill>
                  <a:srgbClr val="223237"/>
                </a:solidFill>
                <a:latin typeface="Microsoft YaHei"/>
              </a:rPr>
              <a:t>旧阻塞放宽了什么，哪些仍然不能猜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83680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>
                <a:solidFill>
                  <a:srgbClr val="657577"/>
                </a:solidFill>
                <a:latin typeface="Microsoft YaHei"/>
              </a:rPr>
              <a:t>YC TRAIN WEATHER  |  003_05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64008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657577"/>
                </a:solidFill>
                <a:latin typeface="Microsoft YaHei"/>
              </a:rPr>
              <a:t>02 /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389888"/>
            <a:ext cx="48920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657577"/>
                </a:solidFill>
                <a:latin typeface="Microsoft YaHei"/>
              </a:rPr>
              <a:t>旧审计阻塞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6248" y="1389888"/>
            <a:ext cx="48920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1A7470"/>
                </a:solidFill>
                <a:latin typeface="Microsoft YaHei"/>
              </a:rPr>
              <a:t>本轮采用的准则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1810512"/>
            <a:ext cx="5120640" cy="3145536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810512"/>
            <a:ext cx="5120640" cy="3145536"/>
          </a:xfrm>
          <a:prstGeom prst="rect">
            <a:avLst/>
          </a:prstGeom>
          <a:solidFill>
            <a:srgbClr val="E3F1EE"/>
          </a:solidFill>
          <a:ln>
            <a:solidFill>
              <a:srgbClr val="E3F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194560"/>
            <a:ext cx="82296" cy="82296"/>
          </a:xfrm>
          <a:prstGeom prst="ellipse">
            <a:avLst/>
          </a:prstGeom>
          <a:solidFill>
            <a:srgbClr val="D36F43"/>
          </a:solidFill>
          <a:ln>
            <a:solidFill>
              <a:srgbClr val="D3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121408"/>
            <a:ext cx="4325112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223237"/>
                </a:solidFill>
                <a:latin typeface="Microsoft YaHei"/>
              </a:rPr>
              <a:t>温度列必须逐一证明对应传感器高度。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2962656"/>
            <a:ext cx="82296" cy="82296"/>
          </a:xfrm>
          <a:prstGeom prst="ellipse">
            <a:avLst/>
          </a:prstGeom>
          <a:solidFill>
            <a:srgbClr val="D36F43"/>
          </a:solidFill>
          <a:ln>
            <a:solidFill>
              <a:srgbClr val="D3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2889504"/>
            <a:ext cx="4325112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223237"/>
                </a:solidFill>
                <a:latin typeface="Microsoft YaHei"/>
              </a:rPr>
              <a:t>官方产品每个单元格都要有实测/插补标志。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730752"/>
            <a:ext cx="82296" cy="82296"/>
          </a:xfrm>
          <a:prstGeom prst="ellipse">
            <a:avLst/>
          </a:prstGeom>
          <a:solidFill>
            <a:srgbClr val="D36F43"/>
          </a:solidFill>
          <a:ln>
            <a:solidFill>
              <a:srgbClr val="D3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3657600"/>
            <a:ext cx="4325112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223237"/>
                </a:solidFill>
                <a:latin typeface="Microsoft YaHei"/>
              </a:rPr>
              <a:t>QC 产品中的 0 mm 雨量曾被视为未决。</a:t>
            </a:r>
          </a:p>
        </p:txBody>
      </p:sp>
      <p:sp>
        <p:nvSpPr>
          <p:cNvPr id="18" name="Oval 17"/>
          <p:cNvSpPr/>
          <p:nvPr/>
        </p:nvSpPr>
        <p:spPr>
          <a:xfrm>
            <a:off x="6693408" y="2194560"/>
            <a:ext cx="82296" cy="82296"/>
          </a:xfrm>
          <a:prstGeom prst="ellipse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121408"/>
            <a:ext cx="4315968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223237"/>
                </a:solidFill>
                <a:latin typeface="Microsoft YaHei"/>
              </a:rPr>
              <a:t>温度按重叠期一致性选“近地面”，不称为已确认 2 m。</a:t>
            </a:r>
          </a:p>
        </p:txBody>
      </p:sp>
      <p:sp>
        <p:nvSpPr>
          <p:cNvPr id="20" name="Oval 19"/>
          <p:cNvSpPr/>
          <p:nvPr/>
        </p:nvSpPr>
        <p:spPr>
          <a:xfrm>
            <a:off x="6693408" y="2962656"/>
            <a:ext cx="82296" cy="82296"/>
          </a:xfrm>
          <a:prstGeom prst="ellipse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889504"/>
            <a:ext cx="4315968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223237"/>
                </a:solidFill>
                <a:latin typeface="Microsoft YaHei"/>
              </a:rPr>
              <a:t>正式接受 2005–2013 官方 QC 日产品，并如实标注产品值。</a:t>
            </a:r>
          </a:p>
        </p:txBody>
      </p:sp>
      <p:sp>
        <p:nvSpPr>
          <p:cNvPr id="22" name="Oval 21"/>
          <p:cNvSpPr/>
          <p:nvPr/>
        </p:nvSpPr>
        <p:spPr>
          <a:xfrm>
            <a:off x="6693408" y="3730752"/>
            <a:ext cx="82296" cy="82296"/>
          </a:xfrm>
          <a:prstGeom prst="ellipse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3657600"/>
            <a:ext cx="4315968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223237"/>
                </a:solidFill>
                <a:latin typeface="Microsoft YaHei"/>
              </a:rPr>
              <a:t>官方发布的 0 mm 直接接受；只填真缺测/非法值。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" y="5285232"/>
            <a:ext cx="10844784" cy="749808"/>
          </a:xfrm>
          <a:prstGeom prst="rect">
            <a:avLst/>
          </a:prstGeom>
          <a:solidFill>
            <a:srgbClr val="F9F5E2"/>
          </a:solidFill>
          <a:ln>
            <a:solidFill>
              <a:srgbClr val="F9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468112"/>
            <a:ext cx="10241280" cy="3657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223237"/>
                </a:solidFill>
                <a:latin typeface="Microsoft YaHei"/>
              </a:rPr>
              <a:t>未放宽：训练期只到 2013；外部值只填 gap；所有来源和 QC 均保留。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2120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1A7470"/>
                </a:solidFill>
                <a:latin typeface="Microsoft YaHei"/>
              </a:rPr>
              <a:t>来源审计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500" b="1">
                <a:solidFill>
                  <a:srgbClr val="223237"/>
                </a:solidFill>
                <a:latin typeface="Microsoft YaHei"/>
              </a:rPr>
              <a:t>数据源层级与缺口规模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83680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>
                <a:solidFill>
                  <a:srgbClr val="657577"/>
                </a:solidFill>
                <a:latin typeface="Microsoft YaHei"/>
              </a:rPr>
              <a:t>YC TRAIN WEATHER  |  003_05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64008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657577"/>
                </a:solidFill>
                <a:latin typeface="Microsoft YaHei"/>
              </a:rPr>
              <a:t>03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444752"/>
            <a:ext cx="484632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434340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1A7470"/>
                </a:solidFill>
                <a:latin typeface="Microsoft YaHei"/>
              </a:rPr>
              <a:t>2004 · ChinaFLUX 30 min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67712"/>
            <a:ext cx="82296" cy="82296"/>
          </a:xfrm>
          <a:prstGeom prst="ellipse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94560"/>
            <a:ext cx="4041648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223237"/>
                </a:solidFill>
                <a:latin typeface="Microsoft YaHei"/>
              </a:rPr>
              <a:t>温度：近地面空气温度日极值；按重叠期一致性选择，不声称已确认 2 m。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999232"/>
            <a:ext cx="82296" cy="82296"/>
          </a:xfrm>
          <a:prstGeom prst="ellipse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926080"/>
            <a:ext cx="4041648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223237"/>
                </a:solidFill>
                <a:latin typeface="Microsoft YaHei"/>
              </a:rPr>
              <a:t>SRAD：48 个半小时辐射积分；RAIN：48 个半小时求和。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730752"/>
            <a:ext cx="82296" cy="82296"/>
          </a:xfrm>
          <a:prstGeom prst="ellipse">
            <a:avLst/>
          </a:prstGeom>
          <a:solidFill>
            <a:srgbClr val="D36F43"/>
          </a:solidFill>
          <a:ln>
            <a:solidFill>
              <a:srgbClr val="D3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657600"/>
            <a:ext cx="4041648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223237"/>
                </a:solidFill>
                <a:latin typeface="Microsoft YaHei"/>
              </a:rPr>
              <a:t>RAIN 仅 5 日不完整：2004-10-16 至 2004-10-20。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27448"/>
            <a:ext cx="4279392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1A7470"/>
                </a:solidFill>
                <a:latin typeface="Microsoft YaHei"/>
              </a:rPr>
              <a:t>2005–2013 · 官方 QC 日产品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5248656"/>
            <a:ext cx="82296" cy="82296"/>
          </a:xfrm>
          <a:prstGeom prst="ellipse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175504"/>
            <a:ext cx="4041648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223237"/>
                </a:solidFill>
                <a:latin typeface="Microsoft YaHei"/>
              </a:rPr>
              <a:t>TMAX / TMIN / RAIN / SRAD；官方 0 mm 保留。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833872" y="1481328"/>
          <a:ext cx="566928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143000"/>
                <a:gridCol w="3474720"/>
              </a:tblGrid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marL="73152" marR="73152" marT="32004" marB="32004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缺口项</a:t>
                      </a:r>
                    </a:p>
                  </a:txBody>
                  <a:tcPr marL="73152" marR="73152" marT="32004" marB="32004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按变量拆分</a:t>
                      </a:r>
                    </a:p>
                  </a:txBody>
                  <a:tcPr marL="73152" marR="73152" marT="32004" marB="32004" anchor="ctr">
                    <a:solidFill>
                      <a:srgbClr val="2232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2004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RAIN 5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2005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56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SRAD 40, TMAX 8, TMIN 8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2006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53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SRAD 19, TMAX 17, TMIN 17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2007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SRAD 1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2008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82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SRAD 30, TMAX 26, TMIN 26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2009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45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SRAD 17, TMAX 14, TMIN 14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2010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SRAD 3, TMAX 3, TMIN 3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2011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114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SRAD 38, TMAX 38, TMIN 38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2012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SRAD 1, TMAX 1, TMIN 1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2013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SRAD 2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888736" y="6007608"/>
            <a:ext cx="5559552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0">
                <a:solidFill>
                  <a:srgbClr val="657577"/>
                </a:solidFill>
                <a:latin typeface="Microsoft YaHei"/>
              </a:rPr>
              <a:t>合计 370 个 date-variable gaps；每条日期、原值与原因见 CSV。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2120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1A7470"/>
                </a:solidFill>
                <a:latin typeface="Microsoft YaHei"/>
              </a:rPr>
              <a:t>外部源验证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500" b="1">
                <a:solidFill>
                  <a:srgbClr val="223237"/>
                </a:solidFill>
                <a:latin typeface="Microsoft YaHei"/>
              </a:rPr>
              <a:t>NASA POWER overlap：三项通过，降雨未通过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83680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>
                <a:solidFill>
                  <a:srgbClr val="657577"/>
                </a:solidFill>
                <a:latin typeface="Microsoft YaHei"/>
              </a:rPr>
              <a:t>YC TRAIN WEATHER  |  003_05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64008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657577"/>
                </a:solidFill>
                <a:latin typeface="Microsoft YaHei"/>
              </a:rPr>
              <a:t>04 / 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17320"/>
          <a:ext cx="64922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143000"/>
                <a:gridCol w="1143000"/>
                <a:gridCol w="1325880"/>
                <a:gridCol w="1143000"/>
                <a:gridCol w="731520"/>
              </a:tblGrid>
              <a:tr h="5600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变量</a:t>
                      </a:r>
                    </a:p>
                  </a:txBody>
                  <a:tcPr marL="73152" marR="73152" marT="32004" marB="32004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配对日</a:t>
                      </a:r>
                    </a:p>
                  </a:txBody>
                  <a:tcPr marL="73152" marR="73152" marT="32004" marB="32004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校正 MAE</a:t>
                      </a:r>
                    </a:p>
                  </a:txBody>
                  <a:tcPr marL="73152" marR="73152" marT="32004" marB="32004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校正 RMSE</a:t>
                      </a:r>
                    </a:p>
                  </a:txBody>
                  <a:tcPr marL="73152" marR="73152" marT="32004" marB="32004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Pearson r</a:t>
                      </a:r>
                    </a:p>
                  </a:txBody>
                  <a:tcPr marL="73152" marR="73152" marT="32004" marB="32004" anchor="ctr">
                    <a:solidFill>
                      <a:srgbClr val="2232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 marL="73152" marR="73152" marT="32004" marB="32004" anchor="ctr">
                    <a:solidFill>
                      <a:srgbClr val="22323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TMAX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3180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1.72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2.32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0.981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TMIN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3180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1.63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2.12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0.981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73152" marR="73152" marT="32004" marB="32004" anchor="ctr">
                    <a:solidFill>
                      <a:srgbClr val="E3F1E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SRAD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3136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1.56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2.48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0.936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3237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73152" marR="73152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98079" y="1417320"/>
            <a:ext cx="4023360" cy="2240280"/>
          </a:xfrm>
          <a:prstGeom prst="rect">
            <a:avLst/>
          </a:prstGeom>
          <a:solidFill>
            <a:srgbClr val="FAEEE5"/>
          </a:solidFill>
          <a:ln>
            <a:solidFill>
              <a:srgbClr val="FA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8975" y="1682496"/>
            <a:ext cx="3364992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D36F43"/>
                </a:solidFill>
                <a:latin typeface="Microsoft YaHei"/>
              </a:rPr>
              <a:t>RAIN · Gate Fail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8975" y="2103120"/>
            <a:ext cx="3328416" cy="4297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900" b="1">
                <a:solidFill>
                  <a:srgbClr val="D36F43"/>
                </a:solidFill>
                <a:latin typeface="Microsoft YaHei"/>
              </a:rPr>
              <a:t>72.0%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8975" y="2651760"/>
            <a:ext cx="3291840" cy="7132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223237"/>
                </a:solidFill>
                <a:latin typeface="Microsoft YaHei"/>
              </a:rPr>
              <a:t>事件量 MAE 7.16 mm
月总量比中位数 1.13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950208"/>
            <a:ext cx="10863072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06240"/>
            <a:ext cx="10241280" cy="3657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800" b="1">
                <a:solidFill>
                  <a:srgbClr val="223237"/>
                </a:solidFill>
                <a:latin typeface="Microsoft YaHei"/>
              </a:rPr>
              <a:t>结论：外部降雨不够可靠，不能据此补 2004 的五个缺口日。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727448"/>
            <a:ext cx="10149840" cy="5029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657577"/>
                </a:solidFill>
                <a:latin typeface="Microsoft YaHei"/>
              </a:rPr>
              <a:t>事件一致率预设门槛 80%；NASA POWER 实测对照为 71.98%。年/月总量比虽接近 1，不能替代逐日事件可信度。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2120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1A7470"/>
                </a:solidFill>
                <a:latin typeface="Microsoft YaHei"/>
              </a:rPr>
              <a:t>候选与泄漏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500" b="1">
                <a:solidFill>
                  <a:srgbClr val="223237"/>
                </a:solidFill>
                <a:latin typeface="Microsoft YaHei"/>
              </a:rPr>
              <a:t>Candidate 未落盘；2014+ 保持隔离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83680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>
                <a:solidFill>
                  <a:srgbClr val="657577"/>
                </a:solidFill>
                <a:latin typeface="Microsoft YaHei"/>
              </a:rPr>
              <a:t>YC TRAIN WEATHER  |  003_05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64008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657577"/>
                </a:solidFill>
                <a:latin typeface="Microsoft YaHei"/>
              </a:rPr>
              <a:t>05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44752"/>
            <a:ext cx="2487168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44752"/>
            <a:ext cx="64008" cy="1234440"/>
          </a:xfrm>
          <a:prstGeom prst="rect">
            <a:avLst/>
          </a:prstGeom>
          <a:solidFill>
            <a:srgbClr val="D36F43"/>
          </a:solidFill>
          <a:ln>
            <a:solidFill>
              <a:srgbClr val="D3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63624"/>
            <a:ext cx="216712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657577"/>
                </a:solidFill>
                <a:latin typeface="Microsoft YaHei"/>
              </a:rPr>
              <a:t>候选天气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837944"/>
            <a:ext cx="2167128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500" b="1">
                <a:solidFill>
                  <a:srgbClr val="D36F43"/>
                </a:solidFill>
                <a:latin typeface="Microsoft YaHei"/>
              </a:rPr>
              <a:t>未生成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340864"/>
            <a:ext cx="2167128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657577"/>
                </a:solidFill>
                <a:latin typeface="Microsoft YaHei"/>
              </a:rPr>
              <a:t>外部 overlap Gate fail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1444752"/>
            <a:ext cx="2487168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444752"/>
            <a:ext cx="64008" cy="1234440"/>
          </a:xfrm>
          <a:prstGeom prst="rect">
            <a:avLst/>
          </a:prstGeom>
          <a:solidFill>
            <a:srgbClr val="D36F43"/>
          </a:solidFill>
          <a:ln>
            <a:solidFill>
              <a:srgbClr val="D3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563624"/>
            <a:ext cx="216712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657577"/>
                </a:solidFill>
                <a:latin typeface="Microsoft YaHei"/>
              </a:rPr>
              <a:t>Candidate QC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837944"/>
            <a:ext cx="2167128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500" b="1">
                <a:solidFill>
                  <a:srgbClr val="D36F43"/>
                </a:solidFill>
                <a:latin typeface="Microsoft YaHei"/>
              </a:rPr>
              <a:t>未运行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340864"/>
            <a:ext cx="2167128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657577"/>
                </a:solidFill>
                <a:latin typeface="Microsoft YaHei"/>
              </a:rPr>
              <a:t>不把 blocked 当作 pass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16752" y="1444752"/>
            <a:ext cx="2487168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16752" y="1444752"/>
            <a:ext cx="64008" cy="1234440"/>
          </a:xfrm>
          <a:prstGeom prst="rect">
            <a:avLst/>
          </a:prstGeom>
          <a:solidFill>
            <a:srgbClr val="657577"/>
          </a:solidFill>
          <a:ln>
            <a:solidFill>
              <a:srgbClr val="657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1563624"/>
            <a:ext cx="216712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657577"/>
                </a:solidFill>
                <a:latin typeface="Microsoft YaHei"/>
              </a:rPr>
              <a:t>2004 年雨量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1837944"/>
            <a:ext cx="2167128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500" b="1">
                <a:solidFill>
                  <a:srgbClr val="657577"/>
                </a:solidFill>
                <a:latin typeface="Microsoft YaHei"/>
              </a:rPr>
              <a:t>未定稿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340864"/>
            <a:ext cx="2167128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657577"/>
                </a:solidFill>
                <a:latin typeface="Microsoft YaHei"/>
              </a:rPr>
              <a:t>5 日缺口未获准填补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68512" y="1444752"/>
            <a:ext cx="2487168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68512" y="1444752"/>
            <a:ext cx="64008" cy="1234440"/>
          </a:xfrm>
          <a:prstGeom prst="rect">
            <a:avLst/>
          </a:prstGeom>
          <a:solidFill>
            <a:srgbClr val="517F63"/>
          </a:solidFill>
          <a:ln>
            <a:solidFill>
              <a:srgbClr val="517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51392" y="1563624"/>
            <a:ext cx="216712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657577"/>
                </a:solidFill>
                <a:latin typeface="Microsoft YaHei"/>
              </a:rPr>
              <a:t>2014+ 泄漏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1392" y="1837944"/>
            <a:ext cx="2167128" cy="43891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500" b="1">
                <a:solidFill>
                  <a:srgbClr val="517F63"/>
                </a:solidFill>
                <a:latin typeface="Microsoft YaHei"/>
              </a:rPr>
              <a:t>未发现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2340864"/>
            <a:ext cx="2167128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657577"/>
                </a:solidFill>
                <a:latin typeface="Microsoft YaHei"/>
              </a:rPr>
              <a:t>cell values 未读取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3090672"/>
            <a:ext cx="10442448" cy="2322576"/>
          </a:xfrm>
          <a:prstGeom prst="rect">
            <a:avLst/>
          </a:prstGeom>
          <a:solidFill>
            <a:srgbClr val="FFFFFF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3346704"/>
            <a:ext cx="978408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1A7470"/>
                </a:solidFill>
                <a:latin typeface="Microsoft YaHei"/>
              </a:rPr>
              <a:t>泄漏审计边界</a:t>
            </a:r>
          </a:p>
        </p:txBody>
      </p:sp>
      <p:sp>
        <p:nvSpPr>
          <p:cNvPr id="30" name="Oval 29"/>
          <p:cNvSpPr/>
          <p:nvPr/>
        </p:nvSpPr>
        <p:spPr>
          <a:xfrm>
            <a:off x="1005840" y="3913632"/>
            <a:ext cx="82296" cy="82296"/>
          </a:xfrm>
          <a:prstGeom prst="ellipse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3840480"/>
            <a:ext cx="9345167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223237"/>
                </a:solidFill>
                <a:latin typeface="Microsoft YaHei"/>
              </a:rPr>
              <a:t>ChinaFLUX 日值只读 2004–2010；官方气象值到 2013，2014 仅读年份标记并停止。</a:t>
            </a:r>
          </a:p>
        </p:txBody>
      </p:sp>
      <p:sp>
        <p:nvSpPr>
          <p:cNvPr id="32" name="Oval 31"/>
          <p:cNvSpPr/>
          <p:nvPr/>
        </p:nvSpPr>
        <p:spPr>
          <a:xfrm>
            <a:off x="1005840" y="4480560"/>
            <a:ext cx="82296" cy="82296"/>
          </a:xfrm>
          <a:prstGeom prst="ellipse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16152" y="4407408"/>
            <a:ext cx="9345167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223237"/>
                </a:solidFill>
                <a:latin typeface="Microsoft YaHei"/>
              </a:rPr>
              <a:t>NASA 请求截止 2013-12-31；偏差参数只用 2005–2013 重叠日。</a:t>
            </a:r>
          </a:p>
        </p:txBody>
      </p:sp>
      <p:sp>
        <p:nvSpPr>
          <p:cNvPr id="34" name="Oval 33"/>
          <p:cNvSpPr/>
          <p:nvPr/>
        </p:nvSpPr>
        <p:spPr>
          <a:xfrm>
            <a:off x="1005840" y="5047488"/>
            <a:ext cx="82296" cy="82296"/>
          </a:xfrm>
          <a:prstGeom prst="ellipse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16152" y="4974336"/>
            <a:ext cx="9345167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223237"/>
                </a:solidFill>
                <a:latin typeface="Microsoft YaHei"/>
              </a:rPr>
              <a:t>`assert max(source_weather_years_used_for_values_or_calibration) &lt;= 2013`。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742432"/>
            <a:ext cx="1042416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657577"/>
                </a:solidFill>
                <a:latin typeface="Microsoft YaHei"/>
              </a:rPr>
              <a:t>2005–2010 source totals 不一致仍如实列出；2005/2006 官方日值高于 ChinaFLUX 51.2 / 23.4 mm。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521208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1">
                <a:solidFill>
                  <a:srgbClr val="1A7470"/>
                </a:solidFill>
                <a:latin typeface="Microsoft YaHei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53035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500" b="1">
                <a:solidFill>
                  <a:srgbClr val="223237"/>
                </a:solidFill>
                <a:latin typeface="Microsoft YaHei"/>
              </a:rPr>
              <a:t>CLI Gate 顺延：先解决每日降雨缺口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10528"/>
            <a:ext cx="11045952" cy="10972"/>
          </a:xfrm>
          <a:prstGeom prst="rect">
            <a:avLst/>
          </a:prstGeom>
          <a:solidFill>
            <a:srgbClr val="DCE5E2"/>
          </a:solidFill>
          <a:ln>
            <a:solidFill>
              <a:srgbClr val="DC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6583680"/>
            <a:ext cx="7772400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1">
                <a:solidFill>
                  <a:srgbClr val="657577"/>
                </a:solidFill>
                <a:latin typeface="Microsoft YaHei"/>
              </a:rPr>
              <a:t>YC TRAIN WEATHER  |  003_05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65392"/>
            <a:ext cx="640080" cy="2194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657577"/>
                </a:solidFill>
                <a:latin typeface="Microsoft YaHei"/>
              </a:rPr>
              <a:t>06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63040"/>
            <a:ext cx="5065776" cy="4315968"/>
          </a:xfrm>
          <a:prstGeom prst="rect">
            <a:avLst/>
          </a:prstGeom>
          <a:solidFill>
            <a:srgbClr val="FAEEE5"/>
          </a:solidFill>
          <a:ln>
            <a:solidFill>
              <a:srgbClr val="FAE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438912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36F43"/>
                </a:solidFill>
                <a:latin typeface="Microsoft YaHei"/>
              </a:rPr>
              <a:t>本轮停止点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31136"/>
            <a:ext cx="4407408" cy="67665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900" b="1">
                <a:solidFill>
                  <a:srgbClr val="223237"/>
                </a:solidFill>
                <a:latin typeface="Microsoft YaHei"/>
              </a:rPr>
              <a:t>BLOCKED_EXTERNAL_GAPFILL</a:t>
            </a:r>
          </a:p>
        </p:txBody>
      </p:sp>
      <p:sp>
        <p:nvSpPr>
          <p:cNvPr id="11" name="Oval 10"/>
          <p:cNvSpPr/>
          <p:nvPr/>
        </p:nvSpPr>
        <p:spPr>
          <a:xfrm>
            <a:off x="1024128" y="3255264"/>
            <a:ext cx="82296" cy="82296"/>
          </a:xfrm>
          <a:prstGeom prst="ellipse">
            <a:avLst/>
          </a:prstGeom>
          <a:solidFill>
            <a:srgbClr val="D36F43"/>
          </a:solidFill>
          <a:ln>
            <a:solidFill>
              <a:srgbClr val="D3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182112"/>
            <a:ext cx="4069079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223237"/>
                </a:solidFill>
                <a:latin typeface="Microsoft YaHei"/>
              </a:rPr>
              <a:t>未生成候选 `.CLI` 输入文件。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4014215"/>
            <a:ext cx="82296" cy="82296"/>
          </a:xfrm>
          <a:prstGeom prst="ellipse">
            <a:avLst/>
          </a:prstGeom>
          <a:solidFill>
            <a:srgbClr val="D36F43"/>
          </a:solidFill>
          <a:ln>
            <a:solidFill>
              <a:srgbClr val="D3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941063"/>
            <a:ext cx="4069079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223237"/>
                </a:solidFill>
                <a:latin typeface="Microsoft YaHei"/>
              </a:rPr>
              <a:t>未伪造 WGEN 参数；未触碰生产天气文件。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" y="4773168"/>
            <a:ext cx="82296" cy="82296"/>
          </a:xfrm>
          <a:prstGeom prst="ellipse">
            <a:avLst/>
          </a:prstGeom>
          <a:solidFill>
            <a:srgbClr val="D36F43"/>
          </a:solidFill>
          <a:ln>
            <a:solidFill>
              <a:srgbClr val="D3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700016"/>
            <a:ext cx="4069079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223237"/>
                </a:solidFill>
                <a:latin typeface="Microsoft YaHei"/>
              </a:rPr>
              <a:t>WGEN pilot、DSSAT smoke、PPO 全部未启动。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664208"/>
            <a:ext cx="4828032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1A7470"/>
                </a:solidFill>
                <a:latin typeface="Microsoft YaHei"/>
              </a:rPr>
              <a:t>最小后续任务</a:t>
            </a:r>
          </a:p>
        </p:txBody>
      </p:sp>
      <p:sp>
        <p:nvSpPr>
          <p:cNvPr id="18" name="Oval 17"/>
          <p:cNvSpPr/>
          <p:nvPr/>
        </p:nvSpPr>
        <p:spPr>
          <a:xfrm>
            <a:off x="6345936" y="2212848"/>
            <a:ext cx="82296" cy="82296"/>
          </a:xfrm>
          <a:prstGeom prst="ellipse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139696"/>
            <a:ext cx="4489703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223237"/>
                </a:solidFill>
                <a:latin typeface="Microsoft YaHei"/>
              </a:rPr>
              <a:t>为 2004-10-16 至 20 找到可信逐日雨量，或引入更合适的公开源并做同样的 2005–2013 overlap。</a:t>
            </a:r>
          </a:p>
        </p:txBody>
      </p:sp>
      <p:sp>
        <p:nvSpPr>
          <p:cNvPr id="20" name="Oval 19"/>
          <p:cNvSpPr/>
          <p:nvPr/>
        </p:nvSpPr>
        <p:spPr>
          <a:xfrm>
            <a:off x="6345936" y="3410712"/>
            <a:ext cx="82296" cy="82296"/>
          </a:xfrm>
          <a:prstGeom prst="ellipse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3337560"/>
            <a:ext cx="4489703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223237"/>
                </a:solidFill>
                <a:latin typeface="Microsoft YaHei"/>
              </a:rPr>
              <a:t>外部降雨 Gate 通过后再构建 3,653 日 candidate 并跑完整 QC。</a:t>
            </a:r>
          </a:p>
        </p:txBody>
      </p:sp>
      <p:sp>
        <p:nvSpPr>
          <p:cNvPr id="22" name="Oval 21"/>
          <p:cNvSpPr/>
          <p:nvPr/>
        </p:nvSpPr>
        <p:spPr>
          <a:xfrm>
            <a:off x="6345936" y="4306824"/>
            <a:ext cx="82296" cy="82296"/>
          </a:xfrm>
          <a:prstGeom prst="ellipse">
            <a:avLst/>
          </a:prstGeom>
          <a:solidFill>
            <a:srgbClr val="1A7470"/>
          </a:solidFill>
          <a:ln>
            <a:solidFill>
              <a:srgbClr val="1A74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4233672"/>
            <a:ext cx="4489703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223237"/>
                </a:solidFill>
                <a:latin typeface="Microsoft YaHei"/>
              </a:rPr>
              <a:t>候选通过后使用 WeatherMan 官方 `Generate &gt; Calculate Parameters` GUI 流程；不生成随机天气。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21808"/>
            <a:ext cx="4700016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657577"/>
                </a:solidFill>
                <a:latin typeface="Microsoft YaHei"/>
              </a:rPr>
              <a:t>WeatherMan 参考：DSSAT User's Guide Vol. 3。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YC 2004-2013 天气定稿与 CLI 准备</dc:title>
  <dc:subject>003_05 overlap validation and weather candidate gate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